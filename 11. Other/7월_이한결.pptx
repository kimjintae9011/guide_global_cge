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1" r:id="rId5"/>
  </p:sldMasterIdLst>
  <p:notesMasterIdLst>
    <p:notesMasterId r:id="rId15"/>
  </p:notesMasterIdLst>
  <p:handoutMasterIdLst>
    <p:handoutMasterId r:id="rId16"/>
  </p:handoutMasterIdLst>
  <p:sldIdLst>
    <p:sldId id="3781" r:id="rId6"/>
    <p:sldId id="3771" r:id="rId7"/>
    <p:sldId id="3789" r:id="rId8"/>
    <p:sldId id="3792" r:id="rId9"/>
    <p:sldId id="3782" r:id="rId10"/>
    <p:sldId id="3783" r:id="rId11"/>
    <p:sldId id="3787" r:id="rId12"/>
    <p:sldId id="3788" r:id="rId13"/>
    <p:sldId id="3780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="" xmlns:p15="http://schemas.microsoft.com/office/powerpoint/2012/main" xmlns:go="http://customooxmlschemas.google.com/" roundtripDataSignature="AMtx7mhNA0fD7cqUszQJtVzHpjliEsXVTA==" r:id="rId178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INTAE KIM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AFAF"/>
    <a:srgbClr val="E8F5FA"/>
    <a:srgbClr val="E45D5B"/>
    <a:srgbClr val="DBE9F5"/>
    <a:srgbClr val="FCE6FE"/>
    <a:srgbClr val="1E4649"/>
    <a:srgbClr val="385D8A"/>
    <a:srgbClr val="F8FDFF"/>
    <a:srgbClr val="D6EDF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003" autoAdjust="0"/>
    <p:restoredTop sz="94371" autoAdjust="0"/>
  </p:normalViewPr>
  <p:slideViewPr>
    <p:cSldViewPr snapToGrid="0" showGuides="1">
      <p:cViewPr varScale="1">
        <p:scale>
          <a:sx n="73" d="100"/>
          <a:sy n="73" d="100"/>
        </p:scale>
        <p:origin x="224" y="10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8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179" Type="http://schemas.openxmlformats.org/officeDocument/2006/relationships/commentAuthors" Target="commentAuthors.xml"/><Relationship Id="rId18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178" Type="http://customschemas.google.com/relationships/presentationmetadata" Target="metadata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81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180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hangyeol/Desktop/&#4363;&#4455;&#4523;&#4352;&#4462;&#4368;&#4469;&#4535;%20&#4352;&#4458;&#4523;&#4357;&#4455;&#4523;%20&#4364;&#4449;&#4520;&#4363;&#4453;&#4536;/7&#4363;&#4463;&#4527;&#4363;&#4463;&#4527;&#4357;&#4456;&#4370;&#4460;&#4364;&#4449;&#4357;&#4461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hangyeol/Desktop/&#4363;&#4455;&#4523;&#4352;&#4462;&#4368;&#4469;&#4535;%20&#4352;&#4458;&#4523;&#4357;&#4455;&#4523;%20&#4364;&#4449;&#4520;&#4363;&#4453;&#4536;/7&#4363;&#4463;&#4527;&#4363;&#4463;&#4527;&#4357;&#4456;&#4370;&#4460;&#4364;&#4449;&#4357;&#4461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hangyeol/Desktop/&#4363;&#4455;&#4523;&#4352;&#4462;&#4368;&#4469;&#4535;%20&#4352;&#4458;&#4523;&#4357;&#4455;&#4523;%20&#4364;&#4449;&#4520;&#4363;&#4453;&#4536;/7&#4363;&#4463;&#4527;&#4363;&#4463;&#4527;&#4357;&#4456;&#4370;&#4460;&#4364;&#4449;&#4357;&#4461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hangyeol/Desktop/&#4363;&#4455;&#4523;&#4352;&#4462;&#4368;&#4469;&#4535;%20&#4352;&#4458;&#4523;&#4357;&#4455;&#4523;%20&#4364;&#4449;&#4520;&#4363;&#4453;&#4536;/7&#4363;&#4463;&#4527;&#4363;&#4463;&#4527;&#4357;&#4456;&#4370;&#4460;&#4364;&#4449;&#4357;&#4461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hangyeol/Desktop/&#4363;&#4455;&#4523;&#4352;&#4462;&#4368;&#4469;&#4535;%20&#4352;&#4458;&#4523;&#4357;&#4455;&#4523;%20&#4364;&#4449;&#4520;&#4363;&#4453;&#4536;/7&#4363;&#4463;&#4527;&#4363;&#4463;&#4527;&#4357;&#4456;&#4370;&#4460;&#4364;&#4449;&#4357;&#4461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hangyeol/Desktop/&#4363;&#4455;&#4523;&#4352;&#4462;&#4368;&#4469;&#4535;%20&#4352;&#4458;&#4523;&#4357;&#4455;&#4523;%20&#4364;&#4449;&#4520;&#4363;&#4453;&#4536;/7&#4363;&#4463;&#4527;&#4363;&#4463;&#4527;&#4357;&#4456;&#4370;&#4460;&#4364;&#4449;&#4357;&#4461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'KOREA '!$G$27:$G$28</c:f>
              <c:strCache>
                <c:ptCount val="2"/>
                <c:pt idx="0">
                  <c:v>BAU</c:v>
                </c:pt>
                <c:pt idx="1">
                  <c:v>2019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'KOREA '!$F$29:$F$31</c:f>
              <c:strCache>
                <c:ptCount val="3"/>
                <c:pt idx="0">
                  <c:v>01_AGRICULT</c:v>
                </c:pt>
                <c:pt idx="1">
                  <c:v>02 other</c:v>
                </c:pt>
                <c:pt idx="2">
                  <c:v>03_Service</c:v>
                </c:pt>
              </c:strCache>
            </c:strRef>
          </c:cat>
          <c:val>
            <c:numRef>
              <c:f>'KOREA '!$G$29:$G$31</c:f>
              <c:numCache>
                <c:formatCode>General</c:formatCode>
                <c:ptCount val="3"/>
                <c:pt idx="0">
                  <c:v>0.48718648211110938</c:v>
                </c:pt>
                <c:pt idx="1">
                  <c:v>0.74845933547834376</c:v>
                </c:pt>
                <c:pt idx="2">
                  <c:v>0.44597262983314245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B3-9E44-81CA-6E843D9972A8}"/>
            </c:ext>
          </c:extLst>
        </c:ser>
        <c:ser>
          <c:idx val="1"/>
          <c:order val="1"/>
          <c:tx>
            <c:strRef>
              <c:f>'KOREA '!$H$27:$H$28</c:f>
              <c:strCache>
                <c:ptCount val="2"/>
                <c:pt idx="0">
                  <c:v>BAU</c:v>
                </c:pt>
                <c:pt idx="1">
                  <c:v>2050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'KOREA '!$F$29:$F$31</c:f>
              <c:strCache>
                <c:ptCount val="3"/>
                <c:pt idx="0">
                  <c:v>01_AGRICULT</c:v>
                </c:pt>
                <c:pt idx="1">
                  <c:v>02 other</c:v>
                </c:pt>
                <c:pt idx="2">
                  <c:v>03_Service</c:v>
                </c:pt>
              </c:strCache>
            </c:strRef>
          </c:cat>
          <c:val>
            <c:numRef>
              <c:f>'KOREA '!$H$29:$H$31</c:f>
              <c:numCache>
                <c:formatCode>General</c:formatCode>
                <c:ptCount val="3"/>
                <c:pt idx="0">
                  <c:v>0.33635976895685271</c:v>
                </c:pt>
                <c:pt idx="1">
                  <c:v>0.76753222315374869</c:v>
                </c:pt>
                <c:pt idx="2">
                  <c:v>0.47974968108873717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B3-9E44-81CA-6E843D9972A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644604687"/>
        <c:axId val="527505407"/>
      </c:barChart>
      <c:catAx>
        <c:axId val="6446046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/>
                  <a:t>산업분류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7505407"/>
        <c:crosses val="autoZero"/>
        <c:auto val="1"/>
        <c:lblAlgn val="ctr"/>
        <c:lblOffset val="100"/>
        <c:noMultiLvlLbl val="0"/>
      </c:catAx>
      <c:valAx>
        <c:axId val="527505407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 dirty="0"/>
                  <a:t>중간투입비중</a:t>
                </a:r>
                <a:endParaRPr lang="ko-KR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crossAx val="6446046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2111111111111107E-2"/>
          <c:y val="4.1843548261006697E-2"/>
          <c:w val="0.88733333333333331"/>
          <c:h val="0.712084638385779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CHINA!$G$27:$G$28</c:f>
              <c:strCache>
                <c:ptCount val="2"/>
                <c:pt idx="0">
                  <c:v>BAU</c:v>
                </c:pt>
                <c:pt idx="1">
                  <c:v>2019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CHINA!$F$29:$F$31</c:f>
              <c:strCache>
                <c:ptCount val="3"/>
                <c:pt idx="0">
                  <c:v>01_AGRICULT</c:v>
                </c:pt>
                <c:pt idx="1">
                  <c:v>02 other</c:v>
                </c:pt>
                <c:pt idx="2">
                  <c:v>03_Service</c:v>
                </c:pt>
              </c:strCache>
            </c:strRef>
          </c:cat>
          <c:val>
            <c:numRef>
              <c:f>CHINA!$G$29:$G$31</c:f>
              <c:numCache>
                <c:formatCode>General</c:formatCode>
                <c:ptCount val="3"/>
                <c:pt idx="0">
                  <c:v>0.37881927710230112</c:v>
                </c:pt>
                <c:pt idx="1">
                  <c:v>0.79231958646731271</c:v>
                </c:pt>
                <c:pt idx="2">
                  <c:v>0.55306301312718253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5B-374A-8AF4-AF072F48E497}"/>
            </c:ext>
          </c:extLst>
        </c:ser>
        <c:ser>
          <c:idx val="1"/>
          <c:order val="1"/>
          <c:tx>
            <c:strRef>
              <c:f>CHINA!$H$27:$H$28</c:f>
              <c:strCache>
                <c:ptCount val="2"/>
                <c:pt idx="0">
                  <c:v>BAU</c:v>
                </c:pt>
                <c:pt idx="1">
                  <c:v>2050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CHINA!$F$29:$F$31</c:f>
              <c:strCache>
                <c:ptCount val="3"/>
                <c:pt idx="0">
                  <c:v>01_AGRICULT</c:v>
                </c:pt>
                <c:pt idx="1">
                  <c:v>02 other</c:v>
                </c:pt>
                <c:pt idx="2">
                  <c:v>03_Service</c:v>
                </c:pt>
              </c:strCache>
            </c:strRef>
          </c:cat>
          <c:val>
            <c:numRef>
              <c:f>CHINA!$H$29:$H$31</c:f>
              <c:numCache>
                <c:formatCode>General</c:formatCode>
                <c:ptCount val="3"/>
                <c:pt idx="0">
                  <c:v>0.33318139095039867</c:v>
                </c:pt>
                <c:pt idx="1">
                  <c:v>0.81043617534041135</c:v>
                </c:pt>
                <c:pt idx="2">
                  <c:v>0.60125326036180815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5B-374A-8AF4-AF072F48E49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905392639"/>
        <c:axId val="1905394351"/>
      </c:barChart>
      <c:catAx>
        <c:axId val="19053926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 dirty="0"/>
                  <a:t>산업분류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05394351"/>
        <c:crosses val="autoZero"/>
        <c:auto val="1"/>
        <c:lblAlgn val="ctr"/>
        <c:lblOffset val="100"/>
        <c:noMultiLvlLbl val="0"/>
      </c:catAx>
      <c:valAx>
        <c:axId val="1905394351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 dirty="0"/>
                  <a:t>중간투입비중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crossAx val="19053926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JAPAN!$G$27:$G$28</c:f>
              <c:strCache>
                <c:ptCount val="2"/>
                <c:pt idx="0">
                  <c:v>BAU</c:v>
                </c:pt>
                <c:pt idx="1">
                  <c:v>2019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JAPAN!$F$29:$F$31</c:f>
              <c:strCache>
                <c:ptCount val="3"/>
                <c:pt idx="0">
                  <c:v>01_AGRICULT</c:v>
                </c:pt>
                <c:pt idx="1">
                  <c:v>02 other</c:v>
                </c:pt>
                <c:pt idx="2">
                  <c:v>03_Service</c:v>
                </c:pt>
              </c:strCache>
            </c:strRef>
          </c:cat>
          <c:val>
            <c:numRef>
              <c:f>JAPAN!$G$29:$G$31</c:f>
              <c:numCache>
                <c:formatCode>General</c:formatCode>
                <c:ptCount val="3"/>
                <c:pt idx="0">
                  <c:v>0.55271332873555457</c:v>
                </c:pt>
                <c:pt idx="1">
                  <c:v>0.72862230154044005</c:v>
                </c:pt>
                <c:pt idx="2">
                  <c:v>0.36813715899518495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9C-B44E-ABB4-2346A15588D7}"/>
            </c:ext>
          </c:extLst>
        </c:ser>
        <c:ser>
          <c:idx val="1"/>
          <c:order val="1"/>
          <c:tx>
            <c:strRef>
              <c:f>JAPAN!$H$27:$H$28</c:f>
              <c:strCache>
                <c:ptCount val="2"/>
                <c:pt idx="0">
                  <c:v>BAU</c:v>
                </c:pt>
                <c:pt idx="1">
                  <c:v>2050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JAPAN!$F$29:$F$31</c:f>
              <c:strCache>
                <c:ptCount val="3"/>
                <c:pt idx="0">
                  <c:v>01_AGRICULT</c:v>
                </c:pt>
                <c:pt idx="1">
                  <c:v>02 other</c:v>
                </c:pt>
                <c:pt idx="2">
                  <c:v>03_Service</c:v>
                </c:pt>
              </c:strCache>
            </c:strRef>
          </c:cat>
          <c:val>
            <c:numRef>
              <c:f>JAPAN!$H$29:$H$31</c:f>
              <c:numCache>
                <c:formatCode>General</c:formatCode>
                <c:ptCount val="3"/>
                <c:pt idx="0">
                  <c:v>0.50298314242788855</c:v>
                </c:pt>
                <c:pt idx="1">
                  <c:v>0.71472965967324664</c:v>
                </c:pt>
                <c:pt idx="2">
                  <c:v>0.37554283016607737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9C-B44E-ABB4-2346A15588D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371352303"/>
        <c:axId val="1371519407"/>
      </c:barChart>
      <c:catAx>
        <c:axId val="137135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71519407"/>
        <c:crosses val="autoZero"/>
        <c:auto val="1"/>
        <c:lblAlgn val="ctr"/>
        <c:lblOffset val="100"/>
        <c:noMultiLvlLbl val="0"/>
      </c:catAx>
      <c:valAx>
        <c:axId val="137151940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713523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RUSSIA!$G$27:$G$28</c:f>
              <c:strCache>
                <c:ptCount val="2"/>
                <c:pt idx="0">
                  <c:v>BAU</c:v>
                </c:pt>
                <c:pt idx="1">
                  <c:v>2019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RUSSIA!$F$29:$F$31</c:f>
              <c:strCache>
                <c:ptCount val="3"/>
                <c:pt idx="0">
                  <c:v>01_AGRICULT</c:v>
                </c:pt>
                <c:pt idx="1">
                  <c:v>02 other</c:v>
                </c:pt>
                <c:pt idx="2">
                  <c:v>03_Service</c:v>
                </c:pt>
              </c:strCache>
            </c:strRef>
          </c:cat>
          <c:val>
            <c:numRef>
              <c:f>RUSSIA!$G$29:$G$31</c:f>
              <c:numCache>
                <c:formatCode>General</c:formatCode>
                <c:ptCount val="3"/>
                <c:pt idx="0">
                  <c:v>0.50887008217855745</c:v>
                </c:pt>
                <c:pt idx="1">
                  <c:v>0.5205200354549282</c:v>
                </c:pt>
                <c:pt idx="2">
                  <c:v>0.33355760930490075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98-7845-9B69-22E5BA881259}"/>
            </c:ext>
          </c:extLst>
        </c:ser>
        <c:ser>
          <c:idx val="1"/>
          <c:order val="1"/>
          <c:tx>
            <c:strRef>
              <c:f>RUSSIA!$H$27:$H$28</c:f>
              <c:strCache>
                <c:ptCount val="2"/>
                <c:pt idx="0">
                  <c:v>BAU</c:v>
                </c:pt>
                <c:pt idx="1">
                  <c:v>2050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RUSSIA!$F$29:$F$31</c:f>
              <c:strCache>
                <c:ptCount val="3"/>
                <c:pt idx="0">
                  <c:v>01_AGRICULT</c:v>
                </c:pt>
                <c:pt idx="1">
                  <c:v>02 other</c:v>
                </c:pt>
                <c:pt idx="2">
                  <c:v>03_Service</c:v>
                </c:pt>
              </c:strCache>
            </c:strRef>
          </c:cat>
          <c:val>
            <c:numRef>
              <c:f>RUSSIA!$H$29:$H$31</c:f>
              <c:numCache>
                <c:formatCode>General</c:formatCode>
                <c:ptCount val="3"/>
                <c:pt idx="0">
                  <c:v>0.47779056817102739</c:v>
                </c:pt>
                <c:pt idx="1">
                  <c:v>0.52590527185896818</c:v>
                </c:pt>
                <c:pt idx="2">
                  <c:v>0.35969448467033349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98-7845-9B69-22E5BA88125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458415264"/>
        <c:axId val="458416992"/>
      </c:barChart>
      <c:catAx>
        <c:axId val="4584152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58416992"/>
        <c:crosses val="autoZero"/>
        <c:auto val="1"/>
        <c:lblAlgn val="ctr"/>
        <c:lblOffset val="100"/>
        <c:noMultiLvlLbl val="0"/>
      </c:catAx>
      <c:valAx>
        <c:axId val="45841699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58415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MONGOLIA!$G$27:$G$28</c:f>
              <c:strCache>
                <c:ptCount val="2"/>
                <c:pt idx="0">
                  <c:v>BAU</c:v>
                </c:pt>
                <c:pt idx="1">
                  <c:v>2019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MONGOLIA!$F$29:$F$31</c:f>
              <c:strCache>
                <c:ptCount val="3"/>
                <c:pt idx="0">
                  <c:v>01_AGRICULT</c:v>
                </c:pt>
                <c:pt idx="1">
                  <c:v>02 other</c:v>
                </c:pt>
                <c:pt idx="2">
                  <c:v>03_Service</c:v>
                </c:pt>
              </c:strCache>
            </c:strRef>
          </c:cat>
          <c:val>
            <c:numRef>
              <c:f>MONGOLIA!$G$29:$G$31</c:f>
              <c:numCache>
                <c:formatCode>General</c:formatCode>
                <c:ptCount val="3"/>
                <c:pt idx="0">
                  <c:v>0.31547713549387135</c:v>
                </c:pt>
                <c:pt idx="1">
                  <c:v>0.91999093797780895</c:v>
                </c:pt>
                <c:pt idx="2">
                  <c:v>0.54492337927180534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67-5946-B094-BE01F3738E6F}"/>
            </c:ext>
          </c:extLst>
        </c:ser>
        <c:ser>
          <c:idx val="1"/>
          <c:order val="1"/>
          <c:tx>
            <c:strRef>
              <c:f>MONGOLIA!$H$27:$H$28</c:f>
              <c:strCache>
                <c:ptCount val="2"/>
                <c:pt idx="0">
                  <c:v>BAU</c:v>
                </c:pt>
                <c:pt idx="1">
                  <c:v>2050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MONGOLIA!$F$29:$F$31</c:f>
              <c:strCache>
                <c:ptCount val="3"/>
                <c:pt idx="0">
                  <c:v>01_AGRICULT</c:v>
                </c:pt>
                <c:pt idx="1">
                  <c:v>02 other</c:v>
                </c:pt>
                <c:pt idx="2">
                  <c:v>03_Service</c:v>
                </c:pt>
              </c:strCache>
            </c:strRef>
          </c:cat>
          <c:val>
            <c:numRef>
              <c:f>MONGOLIA!$H$29:$H$31</c:f>
              <c:numCache>
                <c:formatCode>General</c:formatCode>
                <c:ptCount val="3"/>
                <c:pt idx="0">
                  <c:v>0.21111514302764312</c:v>
                </c:pt>
                <c:pt idx="1">
                  <c:v>0.92457750971188291</c:v>
                </c:pt>
                <c:pt idx="2">
                  <c:v>0.66787752120519239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67-5946-B094-BE01F3738E6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445330143"/>
        <c:axId val="1445882543"/>
      </c:barChart>
      <c:catAx>
        <c:axId val="144533014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45882543"/>
        <c:crosses val="autoZero"/>
        <c:auto val="1"/>
        <c:lblAlgn val="ctr"/>
        <c:lblOffset val="100"/>
        <c:noMultiLvlLbl val="0"/>
      </c:catAx>
      <c:valAx>
        <c:axId val="144588254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453301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'NORTH KOREA'!$G$27:$G$28</c:f>
              <c:strCache>
                <c:ptCount val="2"/>
                <c:pt idx="0">
                  <c:v>BAU</c:v>
                </c:pt>
                <c:pt idx="1">
                  <c:v>2019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'NORTH KOREA'!$F$29:$F$31</c:f>
              <c:strCache>
                <c:ptCount val="3"/>
                <c:pt idx="0">
                  <c:v>01_AGRICULT</c:v>
                </c:pt>
                <c:pt idx="1">
                  <c:v>02 other</c:v>
                </c:pt>
                <c:pt idx="2">
                  <c:v>03_Service</c:v>
                </c:pt>
              </c:strCache>
            </c:strRef>
          </c:cat>
          <c:val>
            <c:numRef>
              <c:f>'NORTH KOREA'!$G$29:$G$31</c:f>
              <c:numCache>
                <c:formatCode>General</c:formatCode>
                <c:ptCount val="3"/>
                <c:pt idx="0">
                  <c:v>0.14728514515950131</c:v>
                </c:pt>
                <c:pt idx="1">
                  <c:v>0.99546497344647877</c:v>
                </c:pt>
                <c:pt idx="2">
                  <c:v>0.56317189339593809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DB-C740-8925-D76F924A61CC}"/>
            </c:ext>
          </c:extLst>
        </c:ser>
        <c:ser>
          <c:idx val="1"/>
          <c:order val="1"/>
          <c:tx>
            <c:strRef>
              <c:f>'NORTH KOREA'!$H$27:$H$28</c:f>
              <c:strCache>
                <c:ptCount val="2"/>
                <c:pt idx="0">
                  <c:v>BAU</c:v>
                </c:pt>
                <c:pt idx="1">
                  <c:v>2050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'NORTH KOREA'!$F$29:$F$31</c:f>
              <c:strCache>
                <c:ptCount val="3"/>
                <c:pt idx="0">
                  <c:v>01_AGRICULT</c:v>
                </c:pt>
                <c:pt idx="1">
                  <c:v>02 other</c:v>
                </c:pt>
                <c:pt idx="2">
                  <c:v>03_Service</c:v>
                </c:pt>
              </c:strCache>
            </c:strRef>
          </c:cat>
          <c:val>
            <c:numRef>
              <c:f>'NORTH KOREA'!$H$29:$H$31</c:f>
              <c:numCache>
                <c:formatCode>General</c:formatCode>
                <c:ptCount val="3"/>
                <c:pt idx="0">
                  <c:v>0.12035016511310248</c:v>
                </c:pt>
                <c:pt idx="1">
                  <c:v>0.99464976114939663</c:v>
                </c:pt>
                <c:pt idx="2">
                  <c:v>0.5378120687682918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DB-C740-8925-D76F924A61C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396628639"/>
        <c:axId val="1395845391"/>
      </c:barChart>
      <c:catAx>
        <c:axId val="13966286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95845391"/>
        <c:crosses val="autoZero"/>
        <c:auto val="1"/>
        <c:lblAlgn val="ctr"/>
        <c:lblOffset val="100"/>
        <c:noMultiLvlLbl val="0"/>
      </c:catAx>
      <c:valAx>
        <c:axId val="139584539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966286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8A5589C-7FE6-46B2-B41A-1DB2DFDF58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82F4BB-4F5B-4789-A545-D50268CAC6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B3D99-BD19-4860-B122-7A3464E5579B}" type="datetimeFigureOut">
              <a:rPr lang="ko-KR" altLang="en-US" smtClean="0"/>
              <a:t>2025. 7. 26.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F5FCA5-8196-439C-960E-AFB3B7759B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200B7B-F18B-46F2-9F6E-CE315BE8DD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C7181D-6B6E-4188-B3F0-7D20B550C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0965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E72406-DC73-4677-AAF9-8F682C9A831A}" type="datetimeFigureOut">
              <a:rPr lang="ko-KR" altLang="en-US" smtClean="0"/>
              <a:t>2025. 7. 26.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E6E0A0-4D6C-478B-831C-44A69CCC47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42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6E0A0-4D6C-478B-831C-44A69CCC47F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931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6E0A0-4D6C-478B-831C-44A69CCC47F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657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관명 없는 레이아웃 (국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1784"/>
          </a:xfrm>
          <a:prstGeom prst="rect">
            <a:avLst/>
          </a:prstGeom>
          <a:gradFill flip="none" rotWithShape="1">
            <a:gsLst>
              <a:gs pos="16000">
                <a:srgbClr val="193282"/>
              </a:gs>
              <a:gs pos="100000">
                <a:srgbClr val="00C0D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6" name="모서리가 둥근 직사각형 5"/>
          <p:cNvSpPr/>
          <p:nvPr userDrawn="1"/>
        </p:nvSpPr>
        <p:spPr>
          <a:xfrm>
            <a:off x="11723078" y="6606279"/>
            <a:ext cx="342087" cy="171024"/>
          </a:xfrm>
          <a:prstGeom prst="roundRect">
            <a:avLst>
              <a:gd name="adj" fmla="val 15728"/>
            </a:avLst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7" name="직사각형 6"/>
          <p:cNvSpPr/>
          <p:nvPr userDrawn="1"/>
        </p:nvSpPr>
        <p:spPr>
          <a:xfrm>
            <a:off x="0" y="349441"/>
            <a:ext cx="46329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0" name="TextBox 9"/>
          <p:cNvSpPr txBox="1"/>
          <p:nvPr userDrawn="1"/>
        </p:nvSpPr>
        <p:spPr>
          <a:xfrm>
            <a:off x="420549" y="252993"/>
            <a:ext cx="37561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글로벌</a:t>
            </a:r>
            <a:r>
              <a:rPr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동북아</a:t>
            </a:r>
            <a:r>
              <a:rPr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기후변화</a:t>
            </a:r>
            <a:r>
              <a:rPr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대기오염 원인물질 통합관리 모델링 시스템 개발</a:t>
            </a:r>
          </a:p>
        </p:txBody>
      </p: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11537344" y="6570208"/>
            <a:ext cx="710544" cy="24316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9E6E609A-B78F-41B4-AD79-1EA184FB106E}" type="slidenum">
              <a:rPr lang="ko-KR" altLang="en-US" sz="1000" b="1" spc="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pPr algn="ctr">
                <a:defRPr/>
              </a:pPr>
              <a:t>‹#›</a:t>
            </a:fld>
            <a:endParaRPr lang="ko-KR" altLang="en-US" sz="900" b="1" spc="0" baseline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825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서울대학교-경희대학교 (국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1784"/>
          </a:xfrm>
          <a:prstGeom prst="rect">
            <a:avLst/>
          </a:prstGeom>
          <a:gradFill flip="none" rotWithShape="1">
            <a:gsLst>
              <a:gs pos="16000">
                <a:srgbClr val="193282"/>
              </a:gs>
              <a:gs pos="100000">
                <a:srgbClr val="00C0D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6" name="모서리가 둥근 직사각형 5"/>
          <p:cNvSpPr/>
          <p:nvPr userDrawn="1"/>
        </p:nvSpPr>
        <p:spPr>
          <a:xfrm>
            <a:off x="11723078" y="6606279"/>
            <a:ext cx="342087" cy="171024"/>
          </a:xfrm>
          <a:prstGeom prst="roundRect">
            <a:avLst>
              <a:gd name="adj" fmla="val 15728"/>
            </a:avLst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7" name="직사각형 6"/>
          <p:cNvSpPr/>
          <p:nvPr userDrawn="1"/>
        </p:nvSpPr>
        <p:spPr>
          <a:xfrm>
            <a:off x="0" y="349441"/>
            <a:ext cx="46329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0" name="TextBox 9"/>
          <p:cNvSpPr txBox="1"/>
          <p:nvPr userDrawn="1"/>
        </p:nvSpPr>
        <p:spPr>
          <a:xfrm>
            <a:off x="420549" y="252993"/>
            <a:ext cx="37561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글로벌</a:t>
            </a:r>
            <a:r>
              <a:rPr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동북아</a:t>
            </a:r>
            <a:r>
              <a:rPr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기후변화</a:t>
            </a:r>
            <a:r>
              <a:rPr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대기오염 원인물질 통합관리 모델링 시스템 개발</a:t>
            </a:r>
          </a:p>
        </p:txBody>
      </p: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11537344" y="6570208"/>
            <a:ext cx="710544" cy="24316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9E6E609A-B78F-41B4-AD79-1EA184FB106E}" type="slidenum">
              <a:rPr lang="ko-KR" altLang="en-US" sz="1000" b="1" spc="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pPr algn="ctr">
                <a:defRPr/>
              </a:pPr>
              <a:t>‹#›</a:t>
            </a:fld>
            <a:endParaRPr lang="ko-KR" altLang="en-US" sz="900" b="1" spc="0" baseline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ED79192D-6169-EF5C-CE03-C0F8CC45397E}"/>
              </a:ext>
            </a:extLst>
          </p:cNvPr>
          <p:cNvPicPr preferRelativeResize="0"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8580" y="113903"/>
            <a:ext cx="5184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그림 16" descr="텍스트이(가) 표시된 사진&#10;&#10;자동 생성된 설명">
            <a:extLst>
              <a:ext uri="{FF2B5EF4-FFF2-40B4-BE49-F238E27FC236}">
                <a16:creationId xmlns:a16="http://schemas.microsoft.com/office/drawing/2014/main" id="{C1E0800A-E80D-444E-F6B0-241D1D860FE5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3"/>
          <a:srcRect l="31181" t="29052" r="32236" b="33289"/>
          <a:stretch/>
        </p:blipFill>
        <p:spPr>
          <a:xfrm>
            <a:off x="11295015" y="124165"/>
            <a:ext cx="7416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677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4831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관명 없는 레이아웃 (영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1784"/>
          </a:xfrm>
          <a:prstGeom prst="rect">
            <a:avLst/>
          </a:prstGeom>
          <a:gradFill flip="none" rotWithShape="1">
            <a:gsLst>
              <a:gs pos="16000">
                <a:srgbClr val="193282"/>
              </a:gs>
              <a:gs pos="100000">
                <a:srgbClr val="00C0D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6" name="모서리가 둥근 직사각형 5"/>
          <p:cNvSpPr/>
          <p:nvPr userDrawn="1"/>
        </p:nvSpPr>
        <p:spPr>
          <a:xfrm>
            <a:off x="11723078" y="6606279"/>
            <a:ext cx="342087" cy="171024"/>
          </a:xfrm>
          <a:prstGeom prst="roundRect">
            <a:avLst>
              <a:gd name="adj" fmla="val 15728"/>
            </a:avLst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7" name="직사각형 6"/>
          <p:cNvSpPr/>
          <p:nvPr userDrawn="1"/>
        </p:nvSpPr>
        <p:spPr>
          <a:xfrm>
            <a:off x="0" y="349441"/>
            <a:ext cx="46329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0" name="TextBox 9"/>
          <p:cNvSpPr txBox="1"/>
          <p:nvPr userDrawn="1"/>
        </p:nvSpPr>
        <p:spPr>
          <a:xfrm>
            <a:off x="420550" y="252993"/>
            <a:ext cx="67239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3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Development of Global Integrated Assessment Modeling Systems for Climate-Air pollutants Management Focused on Northeast Asia</a:t>
            </a:r>
          </a:p>
        </p:txBody>
      </p: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11537344" y="6570208"/>
            <a:ext cx="710544" cy="24316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9E6E609A-B78F-41B4-AD79-1EA184FB106E}" type="slidenum">
              <a:rPr lang="ko-KR" altLang="en-US" sz="1000" b="1" spc="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pPr algn="ctr">
                <a:defRPr/>
              </a:pPr>
              <a:t>‹#›</a:t>
            </a:fld>
            <a:endParaRPr lang="ko-KR" altLang="en-US" sz="900" b="1" spc="0" baseline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226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서울대학교-경희대학교 (영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1784"/>
          </a:xfrm>
          <a:prstGeom prst="rect">
            <a:avLst/>
          </a:prstGeom>
          <a:gradFill flip="none" rotWithShape="1">
            <a:gsLst>
              <a:gs pos="16000">
                <a:srgbClr val="193282"/>
              </a:gs>
              <a:gs pos="100000">
                <a:srgbClr val="00C0D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6" name="모서리가 둥근 직사각형 5"/>
          <p:cNvSpPr/>
          <p:nvPr userDrawn="1"/>
        </p:nvSpPr>
        <p:spPr>
          <a:xfrm>
            <a:off x="11723078" y="6606279"/>
            <a:ext cx="342087" cy="171024"/>
          </a:xfrm>
          <a:prstGeom prst="roundRect">
            <a:avLst>
              <a:gd name="adj" fmla="val 15728"/>
            </a:avLst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7" name="직사각형 6"/>
          <p:cNvSpPr/>
          <p:nvPr userDrawn="1"/>
        </p:nvSpPr>
        <p:spPr>
          <a:xfrm>
            <a:off x="0" y="349441"/>
            <a:ext cx="46329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11537344" y="6570208"/>
            <a:ext cx="710544" cy="24316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9E6E609A-B78F-41B4-AD79-1EA184FB106E}" type="slidenum">
              <a:rPr lang="ko-KR" altLang="en-US" sz="1000" b="1" spc="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pPr algn="ctr">
                <a:defRPr/>
              </a:pPr>
              <a:t>‹#›</a:t>
            </a:fld>
            <a:endParaRPr lang="ko-KR" altLang="en-US" sz="900" b="1" spc="0" baseline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9ACA41-8780-3CCD-7837-4AD0B8DDD6FC}"/>
              </a:ext>
            </a:extLst>
          </p:cNvPr>
          <p:cNvSpPr txBox="1"/>
          <p:nvPr userDrawn="1"/>
        </p:nvSpPr>
        <p:spPr>
          <a:xfrm>
            <a:off x="420550" y="252993"/>
            <a:ext cx="67239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3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Development of Global Integrated Assessment Modeling Systems for Climate-Air pollutants Management Focused on Northeast Asia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17FA241B-9DAB-9048-1FEB-64B809174475}"/>
              </a:ext>
            </a:extLst>
          </p:cNvPr>
          <p:cNvPicPr preferRelativeResize="0"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8580" y="113903"/>
            <a:ext cx="5184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AA12F19C-525E-D79A-3C57-9545A2AF1229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3"/>
          <a:srcRect l="31181" t="29052" r="32236" b="33289"/>
          <a:stretch/>
        </p:blipFill>
        <p:spPr>
          <a:xfrm>
            <a:off x="11295015" y="124165"/>
            <a:ext cx="7416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91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8368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1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1268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5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02F164-7362-259C-0BC7-9F0158B969AF}"/>
              </a:ext>
            </a:extLst>
          </p:cNvPr>
          <p:cNvSpPr txBox="1"/>
          <p:nvPr/>
        </p:nvSpPr>
        <p:spPr>
          <a:xfrm>
            <a:off x="5270293" y="3244334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이한결 연구원</a:t>
            </a:r>
          </a:p>
        </p:txBody>
      </p:sp>
    </p:spTree>
    <p:extLst>
      <p:ext uri="{BB962C8B-B14F-4D97-AF65-F5344CB8AC3E}">
        <p14:creationId xmlns:p14="http://schemas.microsoft.com/office/powerpoint/2010/main" val="3316819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B680956F-9091-4DA5-BF81-80BA3437F908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307C8B5-4060-4135-AE5D-02C4DF49E01A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0481547-1A2B-4354-A575-8E21CB9D35CC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6F21D57-C3A6-4ED8-A617-153349474AED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8F28E8E-36C5-464A-8D1B-946EFF9AD50B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B055F994-D7EF-433D-B179-0E26FE68B408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E81B453-3FBD-4A69-983F-600B900B64E3}"/>
              </a:ext>
            </a:extLst>
          </p:cNvPr>
          <p:cNvGrpSpPr/>
          <p:nvPr/>
        </p:nvGrpSpPr>
        <p:grpSpPr>
          <a:xfrm>
            <a:off x="407373" y="1102090"/>
            <a:ext cx="9888962" cy="400110"/>
            <a:chOff x="456760" y="946438"/>
            <a:chExt cx="9888962" cy="40011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18168AB-0E41-4DC8-A862-60072E142495}"/>
                </a:ext>
              </a:extLst>
            </p:cNvPr>
            <p:cNvSpPr/>
            <p:nvPr/>
          </p:nvSpPr>
          <p:spPr>
            <a:xfrm>
              <a:off x="611559" y="946438"/>
              <a:ext cx="9734163" cy="400110"/>
            </a:xfrm>
            <a:prstGeom prst="rect">
              <a:avLst/>
            </a:prstGeom>
          </p:spPr>
          <p:txBody>
            <a:bodyPr wrap="square" anchor="ctr" anchorCtr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000" b="1" kern="0" spc="-1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연구 진행방향</a:t>
              </a:r>
              <a:endParaRPr kumimoji="0" lang="ko-KR" altLang="en-US" sz="1400" b="1" i="0" u="none" strike="noStrike" kern="0" cap="none" spc="-15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1F497D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27">
              <a:extLst>
                <a:ext uri="{FF2B5EF4-FFF2-40B4-BE49-F238E27FC236}">
                  <a16:creationId xmlns:a16="http://schemas.microsoft.com/office/drawing/2014/main" id="{27924238-A541-49B8-918C-61E19D7AE3D8}"/>
                </a:ext>
              </a:extLst>
            </p:cNvPr>
            <p:cNvSpPr/>
            <p:nvPr/>
          </p:nvSpPr>
          <p:spPr>
            <a:xfrm>
              <a:off x="456760" y="1024183"/>
              <a:ext cx="80901" cy="313200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6" name="내용 개체 틀 2">
            <a:extLst>
              <a:ext uri="{FF2B5EF4-FFF2-40B4-BE49-F238E27FC236}">
                <a16:creationId xmlns:a16="http://schemas.microsoft.com/office/drawing/2014/main" id="{1010A98C-74BB-4677-AB4A-2EEDB7ABBE8F}"/>
              </a:ext>
            </a:extLst>
          </p:cNvPr>
          <p:cNvSpPr txBox="1">
            <a:spLocks/>
          </p:cNvSpPr>
          <p:nvPr/>
        </p:nvSpPr>
        <p:spPr bwMode="auto">
          <a:xfrm>
            <a:off x="407373" y="1631956"/>
            <a:ext cx="11555900" cy="790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457200" indent="-4572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1800" b="1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4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213" indent="-176213" defTabSz="457200">
              <a:lnSpc>
                <a:spcPct val="150000"/>
              </a:lnSpc>
              <a:defRPr/>
            </a:pPr>
            <a:r>
              <a:rPr lang="en-US" altLang="ko-KR" sz="1500" kern="0" spc="-150" dirty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Britz&amp;Roson</a:t>
            </a:r>
            <a:r>
              <a:rPr lang="en-US" altLang="ko-KR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(2019, G-RDEM) </a:t>
            </a:r>
            <a:r>
              <a:rPr lang="ko-KR" altLang="en-US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문헌을 참고하여 내적 정합성 검증 지속 진행</a:t>
            </a:r>
            <a:r>
              <a:rPr lang="en-US" altLang="ko-KR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6213" indent="-176213" defTabSz="457200">
              <a:lnSpc>
                <a:spcPct val="150000"/>
              </a:lnSpc>
              <a:defRPr/>
            </a:pPr>
            <a:r>
              <a:rPr lang="ko-KR" altLang="en-US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소비분류체계</a:t>
            </a:r>
            <a:r>
              <a:rPr lang="en-US" altLang="ko-KR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국가무역수지구조에 대한 문헌 검토</a:t>
            </a:r>
            <a:r>
              <a:rPr lang="en-US" altLang="ko-KR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IO</a:t>
            </a:r>
            <a:r>
              <a:rPr lang="ko-KR" altLang="en-US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구조 변화</a:t>
            </a:r>
            <a:r>
              <a:rPr lang="en-US" altLang="ko-KR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중간투입비중</a:t>
            </a:r>
            <a:r>
              <a:rPr lang="en-US" altLang="ko-KR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분석</a:t>
            </a:r>
            <a:endParaRPr lang="en-US" altLang="ko-KR" sz="1500" kern="0" spc="-15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AC46BF0-CACE-1288-171F-988A22BE4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223549"/>
              </p:ext>
            </p:extLst>
          </p:nvPr>
        </p:nvGraphicFramePr>
        <p:xfrm>
          <a:off x="312764" y="2820956"/>
          <a:ext cx="11745118" cy="3309255"/>
        </p:xfrm>
        <a:graphic>
          <a:graphicData uri="http://schemas.openxmlformats.org/drawingml/2006/table">
            <a:tbl>
              <a:tblPr/>
              <a:tblGrid>
                <a:gridCol w="2626083">
                  <a:extLst>
                    <a:ext uri="{9D8B030D-6E8A-4147-A177-3AD203B41FA5}">
                      <a16:colId xmlns:a16="http://schemas.microsoft.com/office/drawing/2014/main" val="1706116315"/>
                    </a:ext>
                  </a:extLst>
                </a:gridCol>
                <a:gridCol w="1475112">
                  <a:extLst>
                    <a:ext uri="{9D8B030D-6E8A-4147-A177-3AD203B41FA5}">
                      <a16:colId xmlns:a16="http://schemas.microsoft.com/office/drawing/2014/main" val="3287463926"/>
                    </a:ext>
                  </a:extLst>
                </a:gridCol>
                <a:gridCol w="2173184">
                  <a:extLst>
                    <a:ext uri="{9D8B030D-6E8A-4147-A177-3AD203B41FA5}">
                      <a16:colId xmlns:a16="http://schemas.microsoft.com/office/drawing/2014/main" val="1069079506"/>
                    </a:ext>
                  </a:extLst>
                </a:gridCol>
                <a:gridCol w="5470739">
                  <a:extLst>
                    <a:ext uri="{9D8B030D-6E8A-4147-A177-3AD203B41FA5}">
                      <a16:colId xmlns:a16="http://schemas.microsoft.com/office/drawing/2014/main" val="1195805325"/>
                    </a:ext>
                  </a:extLst>
                </a:gridCol>
              </a:tblGrid>
              <a:tr h="323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문헌 </a:t>
                      </a:r>
                      <a:r>
                        <a:rPr lang="en-US" altLang="ko-KR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/ </a:t>
                      </a:r>
                      <a:r>
                        <a:rPr lang="ko-KR" altLang="en-US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모델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검증 유형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주요 검증 항목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AQ Linkage validation </a:t>
                      </a:r>
                      <a:r>
                        <a:rPr lang="ko-KR" altLang="en-US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적용 예시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732768"/>
                  </a:ext>
                </a:extLst>
              </a:tr>
              <a:tr h="874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① 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국가 온실가스 인벤토리 보고서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내적 정합성 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</a:t>
                      </a:r>
                      <a:r>
                        <a:rPr lang="en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QA/QC)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활동자료</a:t>
                      </a: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·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배출계수 검증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단위</a:t>
                      </a: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·</a:t>
                      </a:r>
                      <a:r>
                        <a:rPr lang="ko-KR" altLang="en-US" sz="1200" b="1" i="0" dirty="0" err="1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산정식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오류 점검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내부</a:t>
                      </a: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/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외부 전문가 검토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Emissions </a:t>
                      </a:r>
                      <a:r>
                        <a:rPr lang="ko-KR" alt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변수와 실제 배출통계 비교</a:t>
                      </a:r>
                      <a:endParaRPr lang="en-US" altLang="ko-KR" sz="14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QC </a:t>
                      </a:r>
                      <a:r>
                        <a:rPr lang="ko-KR" alt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체크리스트 작성</a:t>
                      </a:r>
                      <a:endParaRPr lang="en-US" altLang="ko-KR" sz="14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(EX) </a:t>
                      </a:r>
                      <a:r>
                        <a:rPr lang="en" altLang="ko-KR" sz="1200" dirty="0"/>
                        <a:t>CO2 (</a:t>
                      </a:r>
                      <a:r>
                        <a:rPr lang="ko-KR" altLang="en-US" sz="1200" dirty="0"/>
                        <a:t>전체 및 부문별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와 국가 인벤토리 수치</a:t>
                      </a:r>
                      <a:r>
                        <a:rPr lang="en-US" altLang="ko-KR" sz="1200" dirty="0"/>
                        <a:t>(2019–2020) </a:t>
                      </a:r>
                      <a:r>
                        <a:rPr lang="ko-KR" altLang="en-US" sz="1200" dirty="0"/>
                        <a:t>직접 비교</a:t>
                      </a:r>
                      <a:endParaRPr lang="en-US" altLang="ko-KR" sz="12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dirty="0"/>
                        <a:t>단위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환산 후 오차율 계산</a:t>
                      </a:r>
                      <a:endParaRPr lang="en-US" altLang="ko-KR" sz="12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" altLang="ko-KR" sz="1200" dirty="0"/>
                        <a:t>GDP </a:t>
                      </a:r>
                      <a:r>
                        <a:rPr lang="ko-KR" altLang="en-US" sz="1200" dirty="0"/>
                        <a:t>대비 배출량</a:t>
                      </a:r>
                      <a:r>
                        <a:rPr lang="en-US" altLang="ko-KR" sz="1200" dirty="0"/>
                        <a:t>(</a:t>
                      </a:r>
                      <a:r>
                        <a:rPr lang="en" altLang="ko-KR" sz="1200" dirty="0"/>
                        <a:t>GHG intensity) </a:t>
                      </a:r>
                      <a:r>
                        <a:rPr lang="ko-KR" altLang="en-US" sz="1200" dirty="0"/>
                        <a:t>계산</a:t>
                      </a:r>
                      <a:endParaRPr lang="en-US" altLang="ko-KR" sz="12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dirty="0"/>
                        <a:t>계산식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단위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부호</a:t>
                      </a:r>
                      <a:r>
                        <a:rPr lang="en-US" altLang="ko-KR" sz="1200" dirty="0"/>
                        <a:t>(±) </a:t>
                      </a:r>
                      <a:r>
                        <a:rPr lang="ko-KR" altLang="en-US" sz="1200" dirty="0"/>
                        <a:t>오류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914227"/>
                  </a:ext>
                </a:extLst>
              </a:tr>
              <a:tr h="874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1" i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② Britz &amp; Roson (2019, G-RDEM)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내적 정합성 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구조 기반</a:t>
                      </a: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산업구조 변화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소비패턴 변화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저축률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I-O 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구조 변화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Value added</a:t>
                      </a:r>
                      <a:r>
                        <a:rPr lang="en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alt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비중 시계열 분석</a:t>
                      </a:r>
                      <a:endParaRPr lang="en-US" altLang="ko-KR" sz="14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" altLang="ko-KR" sz="1200" b="1" dirty="0"/>
                        <a:t>(EX) </a:t>
                      </a:r>
                      <a:r>
                        <a:rPr lang="en" altLang="ko-KR" sz="1200" dirty="0"/>
                        <a:t>Agriculture, Industry, Services → GDP </a:t>
                      </a:r>
                      <a:r>
                        <a:rPr lang="ko-KR" altLang="en-US" sz="1200" dirty="0"/>
                        <a:t>대비 비중 시계열화 </a:t>
                      </a:r>
                      <a:r>
                        <a:rPr lang="en-US" altLang="ko-KR" sz="1200" dirty="0"/>
                        <a:t>(2019~2050)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dirty="0"/>
                        <a:t>소비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저축 구조 변화 여부 점검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소득 증가 → 서비스 소비 비중↑</a:t>
                      </a:r>
                      <a:r>
                        <a:rPr lang="en-US" altLang="ko-KR" sz="120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178397"/>
                  </a:ext>
                </a:extLst>
              </a:tr>
              <a:tr h="878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③ Dixon &amp; Rimmer (2009)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외적 정합성 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실측 비교</a:t>
                      </a: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순수 예측 </a:t>
                      </a:r>
                      <a:r>
                        <a:rPr lang="en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vs. 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통계 비교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AE / M 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지표 계산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변수별 오차 추적 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" altLang="ko-KR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GDP, Population, VA </a:t>
                      </a:r>
                      <a:r>
                        <a:rPr lang="ko-KR" alt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등 주요 변수에 대해 </a:t>
                      </a:r>
                      <a:r>
                        <a:rPr lang="en-US" altLang="ko-KR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2019–2020 </a:t>
                      </a:r>
                      <a:r>
                        <a:rPr lang="ko-KR" alt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실제 통계와 오차율</a:t>
                      </a:r>
                      <a:r>
                        <a:rPr lang="en-US" altLang="ko-KR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(%) </a:t>
                      </a:r>
                      <a:r>
                        <a:rPr lang="ko-KR" alt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계산</a:t>
                      </a:r>
                      <a:endParaRPr lang="en-US" altLang="ko-KR" sz="14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(EX) 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과거 추세 </a:t>
                      </a:r>
                      <a:r>
                        <a:rPr lang="ko-KR" altLang="en-US" sz="1200" b="0" i="0" dirty="0" err="1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외삽</a:t>
                      </a:r>
                      <a:r>
                        <a:rPr lang="en-US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(2010~2018 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평균</a:t>
                      </a:r>
                      <a:r>
                        <a:rPr lang="en-US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)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과 모델 예측치 비교 → </a:t>
                      </a:r>
                      <a:r>
                        <a:rPr lang="en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M 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계산</a:t>
                      </a:r>
                      <a:endParaRPr lang="en-US" altLang="ko-KR" sz="1200" b="0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외생 변수</a:t>
                      </a:r>
                      <a:r>
                        <a:rPr lang="en-US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예</a:t>
                      </a:r>
                      <a:r>
                        <a:rPr lang="en-US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: 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인구</a:t>
                      </a:r>
                      <a:r>
                        <a:rPr lang="en-US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, </a:t>
                      </a:r>
                      <a:r>
                        <a:rPr lang="en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TFP)</a:t>
                      </a:r>
                      <a:r>
                        <a:rPr lang="ko-KR" altLang="en-US" sz="1200" b="0" i="0" dirty="0" err="1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를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altLang="en-US" sz="1200" b="0" i="0" dirty="0" err="1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실제값으로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교체하여 결과 민감도 확인</a:t>
                      </a:r>
                      <a:endParaRPr lang="en-US" altLang="ko-KR" sz="1200" b="0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459511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B311ACE6-D3D1-EF96-24A2-2A69B89856B3}"/>
              </a:ext>
            </a:extLst>
          </p:cNvPr>
          <p:cNvSpPr/>
          <p:nvPr/>
        </p:nvSpPr>
        <p:spPr>
          <a:xfrm>
            <a:off x="296782" y="4349579"/>
            <a:ext cx="11777082" cy="876466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A670585-0AED-8A4C-585F-EEDCC836EC9A}"/>
              </a:ext>
            </a:extLst>
          </p:cNvPr>
          <p:cNvSpPr/>
          <p:nvPr/>
        </p:nvSpPr>
        <p:spPr>
          <a:xfrm>
            <a:off x="4425844" y="5036044"/>
            <a:ext cx="2174982" cy="115614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35102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9DFB6-0DBB-3D88-22CB-C2869A978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6B1AD170-506D-FBFD-86FF-F5C8CC738EA4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4E7EC1-3434-A732-8CD9-A5D0310416EF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93504EC-9856-7E1C-215F-2B6F1AE2A586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DEA762D-E4D3-02A7-463F-73EC6D5BB969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D1B0EE0-A2DA-6B0C-25F7-71AC9B10BE74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831D944E-408A-61F1-5715-B8B82D15503C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27">
            <a:extLst>
              <a:ext uri="{FF2B5EF4-FFF2-40B4-BE49-F238E27FC236}">
                <a16:creationId xmlns:a16="http://schemas.microsoft.com/office/drawing/2014/main" id="{D68D0355-6BD5-A2BF-26E2-149B093FC0C4}"/>
              </a:ext>
            </a:extLst>
          </p:cNvPr>
          <p:cNvSpPr/>
          <p:nvPr/>
        </p:nvSpPr>
        <p:spPr>
          <a:xfrm>
            <a:off x="414000" y="2123132"/>
            <a:ext cx="77131" cy="299279"/>
          </a:xfrm>
          <a:custGeom>
            <a:avLst/>
            <a:gdLst/>
            <a:ahLst/>
            <a:cxnLst/>
            <a:rect l="l" t="t" r="r" b="b"/>
            <a:pathLst>
              <a:path w="927337" h="1334252">
                <a:moveTo>
                  <a:pt x="0" y="0"/>
                </a:moveTo>
                <a:lnTo>
                  <a:pt x="927337" y="0"/>
                </a:lnTo>
                <a:lnTo>
                  <a:pt x="269673" y="1334252"/>
                </a:lnTo>
                <a:lnTo>
                  <a:pt x="0" y="1334252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01B39B-5471-3FC4-B6FC-B0B7900C7FBE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>
              <a:defRPr/>
            </a:pP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a typeface="맑은 고딕" panose="020B0503020000020004" pitchFamily="50" charset="-127"/>
              </a:rPr>
              <a:t>내적 정합성 검증</a:t>
            </a: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a typeface="맑은 고딕" panose="020B0503020000020004" pitchFamily="50" charset="-127"/>
              </a:rPr>
              <a:t>_(1)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a typeface="맑은 고딕" panose="020B0503020000020004" pitchFamily="50" charset="-127"/>
              </a:rPr>
              <a:t> 소비구조 분류</a:t>
            </a:r>
            <a:endParaRPr lang="ko-KR" altLang="en-US" sz="1400" b="1" kern="0" spc="-15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a typeface="맑은 고딕" panose="020B0503020000020004" pitchFamily="50" charset="-127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C31C644A-52B7-B30E-3DC5-D103E782DEC2}"/>
              </a:ext>
            </a:extLst>
          </p:cNvPr>
          <p:cNvSpPr/>
          <p:nvPr/>
        </p:nvSpPr>
        <p:spPr>
          <a:xfrm>
            <a:off x="9928638" y="996910"/>
            <a:ext cx="1995055" cy="43938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/>
              <a:t>내적 정합성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DD1AF-F140-4ACF-5C73-625F2EE9499A}"/>
              </a:ext>
            </a:extLst>
          </p:cNvPr>
          <p:cNvSpPr txBox="1"/>
          <p:nvPr/>
        </p:nvSpPr>
        <p:spPr>
          <a:xfrm>
            <a:off x="2364282" y="6343565"/>
            <a:ext cx="7463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연구 내 내적정합성 검증 과정에서</a:t>
            </a:r>
            <a:r>
              <a:rPr kumimoji="1" lang="en-US" altLang="ko-KR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 </a:t>
            </a:r>
            <a:r>
              <a:rPr kumimoji="1" lang="ko-KR" altLang="en-US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어떠한 소비 분류를 사용하는 것이 소비구조 파악에 더 적합한지</a:t>
            </a:r>
            <a:r>
              <a:rPr kumimoji="1" lang="en-US" altLang="ko-KR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?</a:t>
            </a:r>
            <a:endParaRPr kumimoji="1" lang="ko-KR" altLang="en-US" sz="1400" b="1" i="1" dirty="0">
              <a:solidFill>
                <a:srgbClr val="C00000"/>
              </a:solidFill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6196FB9-8D08-5764-12A3-714BA2AAE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706161"/>
              </p:ext>
            </p:extLst>
          </p:nvPr>
        </p:nvGraphicFramePr>
        <p:xfrm>
          <a:off x="414000" y="1877975"/>
          <a:ext cx="5319032" cy="43593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1313">
                  <a:extLst>
                    <a:ext uri="{9D8B030D-6E8A-4147-A177-3AD203B41FA5}">
                      <a16:colId xmlns:a16="http://schemas.microsoft.com/office/drawing/2014/main" val="492049453"/>
                    </a:ext>
                  </a:extLst>
                </a:gridCol>
                <a:gridCol w="1614212">
                  <a:extLst>
                    <a:ext uri="{9D8B030D-6E8A-4147-A177-3AD203B41FA5}">
                      <a16:colId xmlns:a16="http://schemas.microsoft.com/office/drawing/2014/main" val="4267241300"/>
                    </a:ext>
                  </a:extLst>
                </a:gridCol>
                <a:gridCol w="1303507">
                  <a:extLst>
                    <a:ext uri="{9D8B030D-6E8A-4147-A177-3AD203B41FA5}">
                      <a16:colId xmlns:a16="http://schemas.microsoft.com/office/drawing/2014/main" val="15630272"/>
                    </a:ext>
                  </a:extLst>
                </a:gridCol>
              </a:tblGrid>
              <a:tr h="164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대분류</a:t>
                      </a:r>
                      <a:endParaRPr lang="ko-KR" altLang="en-US" sz="1000" b="1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1503" marB="2629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통합 </a:t>
                      </a:r>
                      <a:r>
                        <a:rPr lang="en-US" altLang="ko-KR" sz="1000" b="1" dirty="0">
                          <a:effectLst/>
                        </a:rPr>
                        <a:t>13</a:t>
                      </a:r>
                      <a:r>
                        <a:rPr lang="ko-KR" altLang="en-US" sz="1000" b="1" dirty="0">
                          <a:effectLst/>
                        </a:rPr>
                        <a:t>개 부문</a:t>
                      </a:r>
                      <a:endParaRPr lang="ko-KR" altLang="en-US" sz="1000" b="1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1503" marB="2629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통합 </a:t>
                      </a:r>
                      <a:r>
                        <a:rPr lang="en-US" altLang="ko-KR" sz="1000" b="1" dirty="0">
                          <a:effectLst/>
                        </a:rPr>
                        <a:t>6</a:t>
                      </a:r>
                      <a:r>
                        <a:rPr lang="ko-KR" altLang="en-US" sz="1000" b="1" dirty="0">
                          <a:effectLst/>
                        </a:rPr>
                        <a:t>개 부문</a:t>
                      </a:r>
                      <a:endParaRPr lang="ko-KR" altLang="en-US" sz="1000" b="1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1503" marB="2629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97155"/>
                  </a:ext>
                </a:extLst>
              </a:tr>
              <a:tr h="1399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농림수산품</a:t>
                      </a:r>
                      <a:endParaRPr lang="ko-KR" altLang="en-US" sz="10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1503" marB="262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농림수산품</a:t>
                      </a:r>
                      <a:endParaRPr lang="ko-KR" altLang="en-US" sz="10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2629" marB="262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농림수산품</a:t>
                      </a:r>
                      <a:endParaRPr lang="ko-KR" altLang="en-US" sz="10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2629" marB="2629" anchor="ctr"/>
                </a:tc>
                <a:extLst>
                  <a:ext uri="{0D108BD9-81ED-4DB2-BD59-A6C34878D82A}">
                    <a16:rowId xmlns:a16="http://schemas.microsoft.com/office/drawing/2014/main" val="39908724"/>
                  </a:ext>
                </a:extLst>
              </a:tr>
              <a:tr h="1399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>
                          <a:effectLst/>
                        </a:rPr>
                        <a:t>광산품</a:t>
                      </a:r>
                      <a:endParaRPr lang="ko-KR" altLang="en-US" sz="10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1503" marB="262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>
                          <a:effectLst/>
                        </a:rPr>
                        <a:t>광산품</a:t>
                      </a:r>
                      <a:endParaRPr lang="ko-KR" altLang="en-US" sz="10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2629" marB="262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>
                          <a:effectLst/>
                        </a:rPr>
                        <a:t>광산품</a:t>
                      </a:r>
                      <a:endParaRPr lang="ko-KR" altLang="en-US" sz="10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2629" marB="2629" anchor="ctr"/>
                </a:tc>
                <a:extLst>
                  <a:ext uri="{0D108BD9-81ED-4DB2-BD59-A6C34878D82A}">
                    <a16:rowId xmlns:a16="http://schemas.microsoft.com/office/drawing/2014/main" val="2852403927"/>
                  </a:ext>
                </a:extLst>
              </a:tr>
              <a:tr h="2742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>
                          <a:effectLst/>
                        </a:rPr>
                        <a:t>음식료품</a:t>
                      </a:r>
                      <a:r>
                        <a:rPr lang="en-US" altLang="ko-KR" sz="1000">
                          <a:effectLst/>
                        </a:rPr>
                        <a:t>, </a:t>
                      </a:r>
                      <a:r>
                        <a:rPr lang="ko-KR" altLang="en-US" sz="1000">
                          <a:effectLst/>
                        </a:rPr>
                        <a:t>섬유 및 가죽제품</a:t>
                      </a:r>
                      <a:r>
                        <a:rPr lang="en-US" altLang="ko-KR" sz="1000">
                          <a:effectLst/>
                        </a:rPr>
                        <a:t>,</a:t>
                      </a:r>
                      <a:br>
                        <a:rPr lang="en-US" altLang="ko-KR" sz="1000">
                          <a:effectLst/>
                        </a:rPr>
                      </a:br>
                      <a:r>
                        <a:rPr lang="ko-KR" altLang="en-US" sz="1000">
                          <a:effectLst/>
                        </a:rPr>
                        <a:t>목재 및 종이</a:t>
                      </a:r>
                      <a:r>
                        <a:rPr lang="en-US" altLang="ko-KR" sz="1000">
                          <a:effectLst/>
                        </a:rPr>
                        <a:t>, </a:t>
                      </a:r>
                      <a:r>
                        <a:rPr lang="ko-KR" altLang="en-US" sz="1000">
                          <a:effectLst/>
                        </a:rPr>
                        <a:t>인쇄</a:t>
                      </a:r>
                      <a:r>
                        <a:rPr lang="en-US" altLang="ko-KR" sz="1000">
                          <a:effectLst/>
                        </a:rPr>
                        <a:t>, </a:t>
                      </a:r>
                      <a:r>
                        <a:rPr lang="ko-KR" altLang="en-US" sz="1000">
                          <a:effectLst/>
                        </a:rPr>
                        <a:t>기타 제조업 제품</a:t>
                      </a:r>
                      <a:endParaRPr lang="ko-KR" altLang="en-US" sz="10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1503" marB="262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>
                          <a:effectLst/>
                        </a:rPr>
                        <a:t>소비재제품</a:t>
                      </a:r>
                      <a:endParaRPr lang="ko-KR" altLang="en-US" sz="10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2629" marB="2629" anchor="ctr"/>
                </a:tc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공산품</a:t>
                      </a:r>
                      <a:endParaRPr lang="ko-KR" altLang="en-US" sz="10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2629" marB="2629" anchor="ctr"/>
                </a:tc>
                <a:extLst>
                  <a:ext uri="{0D108BD9-81ED-4DB2-BD59-A6C34878D82A}">
                    <a16:rowId xmlns:a16="http://schemas.microsoft.com/office/drawing/2014/main" val="3356194224"/>
                  </a:ext>
                </a:extLst>
              </a:tr>
              <a:tr h="4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석탄 및 석유제품</a:t>
                      </a:r>
                      <a:r>
                        <a:rPr lang="en-US" altLang="ko-KR" sz="1000" dirty="0">
                          <a:effectLst/>
                        </a:rPr>
                        <a:t>, </a:t>
                      </a:r>
                      <a:r>
                        <a:rPr lang="ko-KR" altLang="en-US" sz="1000" dirty="0">
                          <a:effectLst/>
                        </a:rPr>
                        <a:t>화학제품</a:t>
                      </a:r>
                      <a:r>
                        <a:rPr lang="en-US" altLang="ko-KR" sz="1000" dirty="0">
                          <a:effectLst/>
                        </a:rPr>
                        <a:t>,</a:t>
                      </a:r>
                      <a:br>
                        <a:rPr lang="en-US" altLang="ko-KR" sz="1000" dirty="0">
                          <a:effectLst/>
                        </a:rPr>
                      </a:br>
                      <a:r>
                        <a:rPr lang="ko-KR" altLang="en-US" sz="1000" dirty="0">
                          <a:effectLst/>
                        </a:rPr>
                        <a:t>비금속광물제품</a:t>
                      </a:r>
                      <a:r>
                        <a:rPr lang="en-US" altLang="ko-KR" sz="1000" dirty="0">
                          <a:effectLst/>
                        </a:rPr>
                        <a:t>, 1</a:t>
                      </a:r>
                      <a:r>
                        <a:rPr lang="ko-KR" altLang="en-US" sz="1000" dirty="0">
                          <a:effectLst/>
                        </a:rPr>
                        <a:t>차 금속제품</a:t>
                      </a:r>
                      <a:r>
                        <a:rPr lang="en-US" altLang="ko-KR" sz="1000" dirty="0">
                          <a:effectLst/>
                        </a:rPr>
                        <a:t>, </a:t>
                      </a:r>
                      <a:r>
                        <a:rPr lang="ko-KR" altLang="en-US" sz="1000" dirty="0">
                          <a:effectLst/>
                        </a:rPr>
                        <a:t>금속가공제품</a:t>
                      </a:r>
                      <a:endParaRPr lang="ko-KR" altLang="en-US" sz="10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1503" marB="262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>
                          <a:effectLst/>
                        </a:rPr>
                        <a:t>기초소재제품</a:t>
                      </a:r>
                      <a:endParaRPr lang="ko-KR" altLang="en-US" sz="10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2629" marB="2629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2002673"/>
                  </a:ext>
                </a:extLst>
              </a:tr>
              <a:tr h="2742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공산품컴퓨터</a:t>
                      </a:r>
                      <a:r>
                        <a:rPr lang="en-US" altLang="ko-KR" sz="1000" dirty="0">
                          <a:effectLst/>
                        </a:rPr>
                        <a:t>, </a:t>
                      </a:r>
                      <a:r>
                        <a:rPr lang="ko-KR" altLang="en-US" sz="1000" dirty="0">
                          <a:effectLst/>
                        </a:rPr>
                        <a:t>전자 및 광학기기</a:t>
                      </a:r>
                      <a:r>
                        <a:rPr lang="en-US" altLang="ko-KR" sz="1000" dirty="0">
                          <a:effectLst/>
                        </a:rPr>
                        <a:t>, </a:t>
                      </a: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전기장비</a:t>
                      </a:r>
                      <a:r>
                        <a:rPr lang="en-US" altLang="ko-KR" sz="1000" dirty="0">
                          <a:effectLst/>
                        </a:rPr>
                        <a:t>, </a:t>
                      </a:r>
                      <a:r>
                        <a:rPr lang="ko-KR" altLang="en-US" sz="1000" dirty="0">
                          <a:effectLst/>
                        </a:rPr>
                        <a:t>기계 및 장비</a:t>
                      </a:r>
                      <a:r>
                        <a:rPr lang="en-US" altLang="ko-KR" sz="1000" dirty="0">
                          <a:effectLst/>
                        </a:rPr>
                        <a:t>, </a:t>
                      </a:r>
                      <a:r>
                        <a:rPr lang="ko-KR" altLang="en-US" sz="1000" dirty="0">
                          <a:effectLst/>
                        </a:rPr>
                        <a:t>운송장비</a:t>
                      </a:r>
                      <a:endParaRPr lang="ko-KR" altLang="en-US" sz="10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1503" marB="262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>
                          <a:effectLst/>
                        </a:rPr>
                        <a:t>조립가공제품</a:t>
                      </a:r>
                      <a:endParaRPr lang="ko-KR" altLang="en-US" sz="10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2629" marB="2629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098453"/>
                  </a:ext>
                </a:extLst>
              </a:tr>
              <a:tr h="2752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>
                          <a:effectLst/>
                        </a:rPr>
                        <a:t>공산품제조임가공 및 산업용 장비 수리</a:t>
                      </a:r>
                      <a:endParaRPr lang="ko-KR" altLang="en-US" sz="10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1503" marB="262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>
                          <a:effectLst/>
                        </a:rPr>
                        <a:t>제조임가공 및 산업용 장비 수리</a:t>
                      </a:r>
                      <a:endParaRPr lang="ko-KR" altLang="en-US" sz="10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2629" marB="2629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7688442"/>
                  </a:ext>
                </a:extLst>
              </a:tr>
              <a:tr h="2752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>
                          <a:effectLst/>
                        </a:rPr>
                        <a:t>공산품전력</a:t>
                      </a:r>
                      <a:r>
                        <a:rPr lang="en-US" altLang="ko-KR" sz="1000">
                          <a:effectLst/>
                        </a:rPr>
                        <a:t>, </a:t>
                      </a:r>
                      <a:r>
                        <a:rPr lang="ko-KR" altLang="en-US" sz="1000">
                          <a:effectLst/>
                        </a:rPr>
                        <a:t>가스 및 증기</a:t>
                      </a:r>
                      <a:r>
                        <a:rPr lang="en-US" altLang="ko-KR" sz="1000">
                          <a:effectLst/>
                        </a:rPr>
                        <a:t>,</a:t>
                      </a:r>
                      <a:br>
                        <a:rPr lang="en-US" altLang="ko-KR" sz="1000">
                          <a:effectLst/>
                        </a:rPr>
                      </a:br>
                      <a:r>
                        <a:rPr lang="ko-KR" altLang="en-US" sz="1000">
                          <a:effectLst/>
                        </a:rPr>
                        <a:t>수도</a:t>
                      </a:r>
                      <a:r>
                        <a:rPr lang="en-US" altLang="ko-KR" sz="1000">
                          <a:effectLst/>
                        </a:rPr>
                        <a:t>, </a:t>
                      </a:r>
                      <a:r>
                        <a:rPr lang="ko-KR" altLang="en-US" sz="1000">
                          <a:effectLst/>
                        </a:rPr>
                        <a:t>폐기물처리 및 재활용서비스</a:t>
                      </a:r>
                      <a:endParaRPr lang="ko-KR" altLang="en-US" sz="10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1503" marB="262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>
                          <a:effectLst/>
                        </a:rPr>
                        <a:t>전력</a:t>
                      </a:r>
                      <a:r>
                        <a:rPr lang="en-US" altLang="ko-KR" sz="1000">
                          <a:effectLst/>
                        </a:rPr>
                        <a:t>, </a:t>
                      </a:r>
                      <a:r>
                        <a:rPr lang="ko-KR" altLang="en-US" sz="1000">
                          <a:effectLst/>
                        </a:rPr>
                        <a:t>가스</a:t>
                      </a:r>
                      <a:r>
                        <a:rPr lang="en-US" altLang="ko-KR" sz="1000">
                          <a:effectLst/>
                        </a:rPr>
                        <a:t>, </a:t>
                      </a:r>
                      <a:r>
                        <a:rPr lang="ko-KR" altLang="en-US" sz="1000">
                          <a:effectLst/>
                        </a:rPr>
                        <a:t>수도 및 폐기물</a:t>
                      </a:r>
                      <a:endParaRPr lang="ko-KR" altLang="en-US" sz="10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2629" marB="262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>
                          <a:effectLst/>
                        </a:rPr>
                        <a:t>전력</a:t>
                      </a:r>
                      <a:r>
                        <a:rPr lang="en-US" altLang="ko-KR" sz="1000">
                          <a:effectLst/>
                        </a:rPr>
                        <a:t>, </a:t>
                      </a:r>
                      <a:r>
                        <a:rPr lang="ko-KR" altLang="en-US" sz="1000">
                          <a:effectLst/>
                        </a:rPr>
                        <a:t>가스</a:t>
                      </a:r>
                      <a:r>
                        <a:rPr lang="en-US" altLang="ko-KR" sz="1000">
                          <a:effectLst/>
                        </a:rPr>
                        <a:t>, </a:t>
                      </a:r>
                      <a:r>
                        <a:rPr lang="ko-KR" altLang="en-US" sz="1000">
                          <a:effectLst/>
                        </a:rPr>
                        <a:t>수도 및 폐기물</a:t>
                      </a:r>
                      <a:endParaRPr lang="ko-KR" altLang="en-US" sz="10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2629" marB="2629" anchor="ctr"/>
                </a:tc>
                <a:extLst>
                  <a:ext uri="{0D108BD9-81ED-4DB2-BD59-A6C34878D82A}">
                    <a16:rowId xmlns:a16="http://schemas.microsoft.com/office/drawing/2014/main" val="3210314479"/>
                  </a:ext>
                </a:extLst>
              </a:tr>
              <a:tr h="1399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>
                          <a:effectLst/>
                        </a:rPr>
                        <a:t>건설</a:t>
                      </a:r>
                      <a:endParaRPr lang="ko-KR" altLang="en-US" sz="10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1503" marB="262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>
                          <a:effectLst/>
                        </a:rPr>
                        <a:t>건설</a:t>
                      </a:r>
                      <a:endParaRPr lang="ko-KR" altLang="en-US" sz="10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2629" marB="262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>
                          <a:effectLst/>
                        </a:rPr>
                        <a:t>건설</a:t>
                      </a:r>
                      <a:endParaRPr lang="ko-KR" altLang="en-US" sz="10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2629" marB="2629" anchor="ctr"/>
                </a:tc>
                <a:extLst>
                  <a:ext uri="{0D108BD9-81ED-4DB2-BD59-A6C34878D82A}">
                    <a16:rowId xmlns:a16="http://schemas.microsoft.com/office/drawing/2014/main" val="3192264687"/>
                  </a:ext>
                </a:extLst>
              </a:tr>
              <a:tr h="1543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>
                          <a:effectLst/>
                        </a:rPr>
                        <a:t>도소매 및 상품중개서비스</a:t>
                      </a:r>
                      <a:r>
                        <a:rPr lang="en-US" altLang="ko-KR" sz="1000">
                          <a:effectLst/>
                        </a:rPr>
                        <a:t>, </a:t>
                      </a:r>
                      <a:r>
                        <a:rPr lang="ko-KR" altLang="en-US" sz="1000">
                          <a:effectLst/>
                        </a:rPr>
                        <a:t>운송서비스</a:t>
                      </a:r>
                      <a:endParaRPr lang="ko-KR" altLang="en-US" sz="10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1503" marB="262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도소매 및 운송</a:t>
                      </a:r>
                      <a:endParaRPr lang="ko-KR" altLang="en-US" sz="10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2629" marB="2629" anchor="ctr"/>
                </a:tc>
                <a:tc rowSpan="5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>
                          <a:effectLst/>
                        </a:rPr>
                        <a:t>서비스</a:t>
                      </a:r>
                      <a:endParaRPr lang="ko-KR" altLang="en-US" sz="10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2629" marB="2629" anchor="ctr"/>
                </a:tc>
                <a:extLst>
                  <a:ext uri="{0D108BD9-81ED-4DB2-BD59-A6C34878D82A}">
                    <a16:rowId xmlns:a16="http://schemas.microsoft.com/office/drawing/2014/main" val="2050222661"/>
                  </a:ext>
                </a:extLst>
              </a:tr>
              <a:tr h="5449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>
                          <a:effectLst/>
                        </a:rPr>
                        <a:t>정보통신 및 방송 서비스</a:t>
                      </a:r>
                      <a:r>
                        <a:rPr lang="en-US" altLang="ko-KR" sz="1000">
                          <a:effectLst/>
                        </a:rPr>
                        <a:t>, </a:t>
                      </a:r>
                      <a:br>
                        <a:rPr lang="en-US" altLang="ko-KR" sz="1000">
                          <a:effectLst/>
                        </a:rPr>
                      </a:br>
                      <a:r>
                        <a:rPr lang="ko-KR" altLang="en-US" sz="1000">
                          <a:effectLst/>
                        </a:rPr>
                        <a:t>금융 및 보험서비스</a:t>
                      </a:r>
                      <a:r>
                        <a:rPr lang="en-US" altLang="ko-KR" sz="1000">
                          <a:effectLst/>
                        </a:rPr>
                        <a:t>, </a:t>
                      </a:r>
                      <a:r>
                        <a:rPr lang="ko-KR" altLang="en-US" sz="1000">
                          <a:effectLst/>
                        </a:rPr>
                        <a:t>부동산서비스</a:t>
                      </a:r>
                      <a:r>
                        <a:rPr lang="en-US" altLang="ko-KR" sz="1000">
                          <a:effectLst/>
                        </a:rPr>
                        <a:t>,</a:t>
                      </a:r>
                      <a:br>
                        <a:rPr lang="en-US" altLang="ko-KR" sz="1000">
                          <a:effectLst/>
                        </a:rPr>
                      </a:br>
                      <a:r>
                        <a:rPr lang="ko-KR" altLang="en-US" sz="1000">
                          <a:effectLst/>
                        </a:rPr>
                        <a:t>전문</a:t>
                      </a:r>
                      <a:r>
                        <a:rPr lang="en-US" altLang="ko-KR" sz="1000">
                          <a:effectLst/>
                        </a:rPr>
                        <a:t>, </a:t>
                      </a:r>
                      <a:r>
                        <a:rPr lang="ko-KR" altLang="en-US" sz="1000">
                          <a:effectLst/>
                        </a:rPr>
                        <a:t>과학 및 기술 서비스</a:t>
                      </a:r>
                      <a:r>
                        <a:rPr lang="en-US" altLang="ko-KR" sz="1000">
                          <a:effectLst/>
                        </a:rPr>
                        <a:t>, </a:t>
                      </a:r>
                      <a:r>
                        <a:rPr lang="ko-KR" altLang="en-US" sz="1000">
                          <a:effectLst/>
                        </a:rPr>
                        <a:t>사업지원서비스 </a:t>
                      </a:r>
                      <a:endParaRPr lang="ko-KR" altLang="en-US" sz="10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1503" marB="262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>
                          <a:effectLst/>
                        </a:rPr>
                        <a:t>생산자서비스</a:t>
                      </a:r>
                      <a:endParaRPr lang="ko-KR" altLang="en-US" sz="10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2629" marB="2629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937195"/>
                  </a:ext>
                </a:extLst>
              </a:tr>
              <a:tr h="4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>
                          <a:effectLst/>
                        </a:rPr>
                        <a:t>서비스공공행정</a:t>
                      </a:r>
                      <a:r>
                        <a:rPr lang="en-US" altLang="ko-KR" sz="1000">
                          <a:effectLst/>
                        </a:rPr>
                        <a:t>, </a:t>
                      </a:r>
                      <a:r>
                        <a:rPr lang="ko-KR" altLang="en-US" sz="1000">
                          <a:effectLst/>
                        </a:rPr>
                        <a:t>국방 및 사회보장</a:t>
                      </a:r>
                      <a:r>
                        <a:rPr lang="en-US" altLang="ko-KR" sz="1000">
                          <a:effectLst/>
                        </a:rPr>
                        <a:t>, </a:t>
                      </a:r>
                      <a:r>
                        <a:rPr lang="ko-KR" altLang="en-US" sz="1000">
                          <a:effectLst/>
                        </a:rPr>
                        <a:t>교육서비스</a:t>
                      </a:r>
                      <a:r>
                        <a:rPr lang="en-US" altLang="ko-KR" sz="1000">
                          <a:effectLst/>
                        </a:rPr>
                        <a:t>, </a:t>
                      </a:r>
                      <a:br>
                        <a:rPr lang="en-US" altLang="ko-KR" sz="1000">
                          <a:effectLst/>
                        </a:rPr>
                      </a:br>
                      <a:r>
                        <a:rPr lang="ko-KR" altLang="en-US" sz="1000">
                          <a:effectLst/>
                        </a:rPr>
                        <a:t>보건 및 사회복지 서비스</a:t>
                      </a:r>
                      <a:endParaRPr lang="ko-KR" altLang="en-US" sz="10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1503" marB="262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>
                          <a:effectLst/>
                        </a:rPr>
                        <a:t>사회서비스</a:t>
                      </a:r>
                      <a:endParaRPr lang="ko-KR" altLang="en-US" sz="10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2629" marB="2629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859374"/>
                  </a:ext>
                </a:extLst>
              </a:tr>
              <a:tr h="409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서비스음식점 및 숙박서비스</a:t>
                      </a:r>
                      <a:r>
                        <a:rPr lang="en-US" altLang="ko-KR" sz="1000" dirty="0">
                          <a:effectLst/>
                        </a:rPr>
                        <a:t>, </a:t>
                      </a:r>
                      <a:br>
                        <a:rPr lang="en-US" altLang="ko-KR" sz="1000" dirty="0">
                          <a:effectLst/>
                        </a:rPr>
                      </a:br>
                      <a:r>
                        <a:rPr lang="ko-KR" altLang="en-US" sz="1000" dirty="0">
                          <a:effectLst/>
                        </a:rPr>
                        <a:t>예술</a:t>
                      </a:r>
                      <a:r>
                        <a:rPr lang="en-US" altLang="ko-KR" sz="1000" dirty="0">
                          <a:effectLst/>
                        </a:rPr>
                        <a:t>, </a:t>
                      </a:r>
                      <a:r>
                        <a:rPr lang="ko-KR" altLang="en-US" sz="1000" dirty="0">
                          <a:effectLst/>
                        </a:rPr>
                        <a:t>스포츠 및 여가 관련 서비스</a:t>
                      </a:r>
                      <a:r>
                        <a:rPr lang="en-US" altLang="ko-KR" sz="1000" dirty="0">
                          <a:effectLst/>
                        </a:rPr>
                        <a:t>, </a:t>
                      </a:r>
                      <a:r>
                        <a:rPr lang="ko-KR" altLang="en-US" sz="1000" dirty="0">
                          <a:effectLst/>
                        </a:rPr>
                        <a:t>기타 서비스</a:t>
                      </a:r>
                      <a:endParaRPr lang="ko-KR" altLang="en-US" sz="10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1503" marB="262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소비자서비스</a:t>
                      </a:r>
                      <a:endParaRPr lang="ko-KR" altLang="en-US" sz="10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2629" marB="2629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75080"/>
                  </a:ext>
                </a:extLst>
              </a:tr>
              <a:tr h="1399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>
                          <a:effectLst/>
                        </a:rPr>
                        <a:t>서비스기타</a:t>
                      </a:r>
                      <a:endParaRPr lang="ko-KR" altLang="en-US" sz="10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1503" marB="262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기타</a:t>
                      </a:r>
                      <a:endParaRPr lang="ko-KR" altLang="en-US" sz="10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2629" marB="2629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294218"/>
                  </a:ext>
                </a:extLst>
              </a:tr>
              <a:tr h="1513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서비스</a:t>
                      </a:r>
                      <a:endParaRPr lang="ko-KR" altLang="en-US" sz="10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629" marR="1503" marT="2629" marB="2629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/>
                    </a:p>
                  </a:txBody>
                  <a:tcPr marL="18030" marR="18030" marT="9015" marB="9015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/>
                    </a:p>
                  </a:txBody>
                  <a:tcPr marL="18030" marR="18030" marT="9015" marB="9015"/>
                </a:tc>
                <a:extLst>
                  <a:ext uri="{0D108BD9-81ED-4DB2-BD59-A6C34878D82A}">
                    <a16:rowId xmlns:a16="http://schemas.microsoft.com/office/drawing/2014/main" val="2061126075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B1FB19C-228B-5E15-93E4-9C1E001C8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044793"/>
              </p:ext>
            </p:extLst>
          </p:nvPr>
        </p:nvGraphicFramePr>
        <p:xfrm>
          <a:off x="6036804" y="1877975"/>
          <a:ext cx="5741196" cy="3784459"/>
        </p:xfrm>
        <a:graphic>
          <a:graphicData uri="http://schemas.openxmlformats.org/drawingml/2006/table">
            <a:tbl>
              <a:tblPr/>
              <a:tblGrid>
                <a:gridCol w="536337">
                  <a:extLst>
                    <a:ext uri="{9D8B030D-6E8A-4147-A177-3AD203B41FA5}">
                      <a16:colId xmlns:a16="http://schemas.microsoft.com/office/drawing/2014/main" val="1304547872"/>
                    </a:ext>
                  </a:extLst>
                </a:gridCol>
                <a:gridCol w="2170176">
                  <a:extLst>
                    <a:ext uri="{9D8B030D-6E8A-4147-A177-3AD203B41FA5}">
                      <a16:colId xmlns:a16="http://schemas.microsoft.com/office/drawing/2014/main" val="2864799959"/>
                    </a:ext>
                  </a:extLst>
                </a:gridCol>
                <a:gridCol w="3034683">
                  <a:extLst>
                    <a:ext uri="{9D8B030D-6E8A-4147-A177-3AD203B41FA5}">
                      <a16:colId xmlns:a16="http://schemas.microsoft.com/office/drawing/2014/main" val="2845610527"/>
                    </a:ext>
                  </a:extLst>
                </a:gridCol>
              </a:tblGrid>
              <a:tr h="155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>
                          <a:latin typeface="+mn-lt"/>
                        </a:rPr>
                        <a:t>코드</a:t>
                      </a:r>
                      <a:endParaRPr lang="ko-KR" altLang="en-US" sz="1000">
                        <a:latin typeface="+mn-lt"/>
                      </a:endParaRP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>
                          <a:latin typeface="+mn-lt"/>
                        </a:rPr>
                        <a:t>분류명 </a:t>
                      </a:r>
                      <a:r>
                        <a:rPr lang="en-US" altLang="ko-KR" sz="1000" b="1">
                          <a:latin typeface="+mn-lt"/>
                        </a:rPr>
                        <a:t>(</a:t>
                      </a:r>
                      <a:r>
                        <a:rPr lang="ko-KR" altLang="en-US" sz="1000" b="1">
                          <a:latin typeface="+mn-lt"/>
                        </a:rPr>
                        <a:t>한글</a:t>
                      </a:r>
                      <a:r>
                        <a:rPr lang="en-US" altLang="ko-KR" sz="1000" b="1">
                          <a:latin typeface="+mn-lt"/>
                        </a:rPr>
                        <a:t>)</a:t>
                      </a:r>
                      <a:endParaRPr lang="ko-KR" altLang="en-US" sz="1000">
                        <a:latin typeface="+mn-lt"/>
                      </a:endParaRP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>
                          <a:latin typeface="+mn-lt"/>
                        </a:rPr>
                        <a:t>주요 소비 항목</a:t>
                      </a:r>
                      <a:endParaRPr lang="ko-KR" altLang="en-US" sz="1000" dirty="0">
                        <a:latin typeface="+mn-lt"/>
                      </a:endParaRP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95814"/>
                  </a:ext>
                </a:extLst>
              </a:tr>
              <a:tr h="26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latin typeface="+mn-lt"/>
                        </a:rPr>
                        <a:t>01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+mn-lt"/>
                        </a:rPr>
                        <a:t>식료품 및 비알코올 음료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+mn-lt"/>
                        </a:rPr>
                        <a:t>쌀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육류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채소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과일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커피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생수 등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211013"/>
                  </a:ext>
                </a:extLst>
              </a:tr>
              <a:tr h="26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latin typeface="+mn-lt"/>
                        </a:rPr>
                        <a:t>02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+mn-lt"/>
                        </a:rPr>
                        <a:t>알코올 음료 및 담배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+mn-lt"/>
                        </a:rPr>
                        <a:t>맥주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소주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담배 등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15062"/>
                  </a:ext>
                </a:extLst>
              </a:tr>
              <a:tr h="26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latin typeface="+mn-lt"/>
                        </a:rPr>
                        <a:t>03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+mn-lt"/>
                        </a:rPr>
                        <a:t>의류 및 신발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+mn-lt"/>
                        </a:rPr>
                        <a:t>셔츠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바지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코트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운동화 등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372029"/>
                  </a:ext>
                </a:extLst>
              </a:tr>
              <a:tr h="273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latin typeface="+mn-lt"/>
                        </a:rPr>
                        <a:t>04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+mn-lt"/>
                        </a:rPr>
                        <a:t>주거</a:t>
                      </a:r>
                      <a:r>
                        <a:rPr lang="en-US" altLang="ko-KR" sz="1000">
                          <a:latin typeface="+mn-lt"/>
                        </a:rPr>
                        <a:t>, </a:t>
                      </a:r>
                      <a:r>
                        <a:rPr lang="ko-KR" altLang="en-US" sz="1000">
                          <a:latin typeface="+mn-lt"/>
                        </a:rPr>
                        <a:t>수도</a:t>
                      </a:r>
                      <a:r>
                        <a:rPr lang="en-US" altLang="ko-KR" sz="1000">
                          <a:latin typeface="+mn-lt"/>
                        </a:rPr>
                        <a:t>, </a:t>
                      </a:r>
                      <a:r>
                        <a:rPr lang="ko-KR" altLang="en-US" sz="1000">
                          <a:latin typeface="+mn-lt"/>
                        </a:rPr>
                        <a:t>전기</a:t>
                      </a:r>
                      <a:r>
                        <a:rPr lang="en-US" altLang="ko-KR" sz="1000">
                          <a:latin typeface="+mn-lt"/>
                        </a:rPr>
                        <a:t>, </a:t>
                      </a:r>
                      <a:r>
                        <a:rPr lang="ko-KR" altLang="en-US" sz="1000">
                          <a:latin typeface="+mn-lt"/>
                        </a:rPr>
                        <a:t>가스 및 기타 연료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+mn-lt"/>
                        </a:rPr>
                        <a:t>임대료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전기요금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수도요금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연료비 등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9271283"/>
                  </a:ext>
                </a:extLst>
              </a:tr>
              <a:tr h="384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latin typeface="+mn-lt"/>
                        </a:rPr>
                        <a:t>05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+mn-lt"/>
                        </a:rPr>
                        <a:t>가정용품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가사 장비 및 일상 가사서비스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+mn-lt"/>
                        </a:rPr>
                        <a:t>가구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가전제품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청소도구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세제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수리서비스 등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57100"/>
                  </a:ext>
                </a:extLst>
              </a:tr>
              <a:tr h="26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latin typeface="+mn-lt"/>
                        </a:rPr>
                        <a:t>06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+mn-lt"/>
                        </a:rPr>
                        <a:t>보건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+mn-lt"/>
                        </a:rPr>
                        <a:t>병원 진료비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의약품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의료기기 등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213572"/>
                  </a:ext>
                </a:extLst>
              </a:tr>
              <a:tr h="384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latin typeface="+mn-lt"/>
                        </a:rPr>
                        <a:t>07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+mn-lt"/>
                        </a:rPr>
                        <a:t>교통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+mn-lt"/>
                        </a:rPr>
                        <a:t>대중교통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자동차 구입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유지비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 err="1">
                          <a:latin typeface="+mn-lt"/>
                        </a:rPr>
                        <a:t>주유비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차량 보험 등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329222"/>
                  </a:ext>
                </a:extLst>
              </a:tr>
              <a:tr h="273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latin typeface="+mn-lt"/>
                        </a:rPr>
                        <a:t>08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+mn-lt"/>
                        </a:rPr>
                        <a:t>통신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+mn-lt"/>
                        </a:rPr>
                        <a:t>휴대전화 요금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인터넷 요금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우편 서비스 등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720686"/>
                  </a:ext>
                </a:extLst>
              </a:tr>
              <a:tr h="273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latin typeface="+mn-lt"/>
                        </a:rPr>
                        <a:t>09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+mn-lt"/>
                        </a:rPr>
                        <a:t>오락 및 문화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+mn-lt"/>
                        </a:rPr>
                        <a:t>영화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책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스포츠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문화행사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악기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장난감 등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473099"/>
                  </a:ext>
                </a:extLst>
              </a:tr>
              <a:tr h="26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latin typeface="+mn-lt"/>
                        </a:rPr>
                        <a:t>10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+mn-lt"/>
                        </a:rPr>
                        <a:t>교육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+mn-lt"/>
                        </a:rPr>
                        <a:t>학원비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수업료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교과서 등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316701"/>
                  </a:ext>
                </a:extLst>
              </a:tr>
              <a:tr h="26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latin typeface="+mn-lt"/>
                        </a:rPr>
                        <a:t>11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+mn-lt"/>
                        </a:rPr>
                        <a:t>음식점 및 숙박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+mn-lt"/>
                        </a:rPr>
                        <a:t>외식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배달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카페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호텔 숙박 등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285909"/>
                  </a:ext>
                </a:extLst>
              </a:tr>
              <a:tr h="384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latin typeface="+mn-lt"/>
                        </a:rPr>
                        <a:t>12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+mn-lt"/>
                        </a:rPr>
                        <a:t>기타 상품 및 서비스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+mn-lt"/>
                        </a:rPr>
                        <a:t>이발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미용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보험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장례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애완동물 용품</a:t>
                      </a:r>
                      <a:r>
                        <a:rPr lang="en-US" altLang="ko-KR" sz="1000" dirty="0"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latin typeface="+mn-lt"/>
                        </a:rPr>
                        <a:t>개인위생 등</a:t>
                      </a:r>
                    </a:p>
                  </a:txBody>
                  <a:tcPr marL="44859" marR="44859" marT="22430" marB="224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24661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34B33931-B813-9DB6-C3F8-027D3C190A35}"/>
              </a:ext>
            </a:extLst>
          </p:cNvPr>
          <p:cNvSpPr txBox="1"/>
          <p:nvPr/>
        </p:nvSpPr>
        <p:spPr>
          <a:xfrm>
            <a:off x="1596989" y="1513855"/>
            <a:ext cx="29530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100" b="1" dirty="0"/>
              <a:t>한국은행</a:t>
            </a:r>
            <a:r>
              <a:rPr kumimoji="1" lang="en-US" altLang="ko-KR" sz="1100" b="1" dirty="0"/>
              <a:t>, </a:t>
            </a:r>
            <a:r>
              <a:rPr kumimoji="1" lang="ko-KR" altLang="en-US" sz="1100" b="1" dirty="0"/>
              <a:t>지역산업연관표 내 최종소비 분류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725EE2-12B7-E33C-6700-1C246C34DF19}"/>
              </a:ext>
            </a:extLst>
          </p:cNvPr>
          <p:cNvSpPr txBox="1"/>
          <p:nvPr/>
        </p:nvSpPr>
        <p:spPr>
          <a:xfrm>
            <a:off x="7629648" y="1513855"/>
            <a:ext cx="25555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b="1" dirty="0"/>
              <a:t>COICOP(</a:t>
            </a:r>
            <a:r>
              <a:rPr lang="ko-KR" altLang="en-US" sz="1100" b="1" dirty="0"/>
              <a:t>목적별 개별 소비 지출 분류</a:t>
            </a:r>
            <a:r>
              <a:rPr lang="en-US" altLang="ko-KR" sz="1100" b="1" dirty="0"/>
              <a:t>)</a:t>
            </a:r>
            <a:endParaRPr kumimoji="1" lang="ko-KR" altLang="en-US" sz="1100" b="1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7CB3699-3571-7867-5C8C-346374D5245C}"/>
              </a:ext>
            </a:extLst>
          </p:cNvPr>
          <p:cNvSpPr/>
          <p:nvPr/>
        </p:nvSpPr>
        <p:spPr>
          <a:xfrm>
            <a:off x="60998" y="1581835"/>
            <a:ext cx="1140115" cy="72275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100" dirty="0"/>
              <a:t>소비 형태별 분류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1467FAF-08D1-781A-A7A3-C885ADC7D7C5}"/>
              </a:ext>
            </a:extLst>
          </p:cNvPr>
          <p:cNvSpPr/>
          <p:nvPr/>
        </p:nvSpPr>
        <p:spPr>
          <a:xfrm>
            <a:off x="5562662" y="1577684"/>
            <a:ext cx="1140115" cy="72275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100" dirty="0"/>
              <a:t>소비 목적별 분류</a:t>
            </a:r>
          </a:p>
        </p:txBody>
      </p:sp>
    </p:spTree>
    <p:extLst>
      <p:ext uri="{BB962C8B-B14F-4D97-AF65-F5344CB8AC3E}">
        <p14:creationId xmlns:p14="http://schemas.microsoft.com/office/powerpoint/2010/main" val="4049197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D4CD1-2C3D-8A66-037B-450123735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1D82CF9B-CA98-4743-62B9-2A37451F5C5E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9A5D1F4-A9F6-0176-271C-F53E69ABC661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5A585A8-7735-FAE7-F834-3C2C0017DA1B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913DB91-E20C-53FF-A382-9CB1191016CC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E526DA7-2E5C-E646-37A0-B310187BD604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D30C0BF8-7F3D-CA38-A4D4-0D8710CAC015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27">
            <a:extLst>
              <a:ext uri="{FF2B5EF4-FFF2-40B4-BE49-F238E27FC236}">
                <a16:creationId xmlns:a16="http://schemas.microsoft.com/office/drawing/2014/main" id="{816283CC-C608-10EF-FE8D-CAC928760995}"/>
              </a:ext>
            </a:extLst>
          </p:cNvPr>
          <p:cNvSpPr/>
          <p:nvPr/>
        </p:nvSpPr>
        <p:spPr>
          <a:xfrm>
            <a:off x="414000" y="2123132"/>
            <a:ext cx="77131" cy="299279"/>
          </a:xfrm>
          <a:custGeom>
            <a:avLst/>
            <a:gdLst/>
            <a:ahLst/>
            <a:cxnLst/>
            <a:rect l="l" t="t" r="r" b="b"/>
            <a:pathLst>
              <a:path w="927337" h="1334252">
                <a:moveTo>
                  <a:pt x="0" y="0"/>
                </a:moveTo>
                <a:lnTo>
                  <a:pt x="927337" y="0"/>
                </a:lnTo>
                <a:lnTo>
                  <a:pt x="269673" y="1334252"/>
                </a:lnTo>
                <a:lnTo>
                  <a:pt x="0" y="1334252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B3CA4A9-CCDF-113B-C271-BD58EF9BFDAC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>
              <a:defRPr/>
            </a:pP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a typeface="맑은 고딕" panose="020B0503020000020004" pitchFamily="50" charset="-127"/>
              </a:rPr>
              <a:t>내적 정합성 검증</a:t>
            </a: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a typeface="맑은 고딕" panose="020B0503020000020004" pitchFamily="50" charset="-127"/>
              </a:rPr>
              <a:t>_(2)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a typeface="맑은 고딕" panose="020B0503020000020004" pitchFamily="50" charset="-127"/>
              </a:rPr>
              <a:t> 문헌 내 </a:t>
            </a: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a typeface="맑은 고딕" panose="020B0503020000020004" pitchFamily="50" charset="-127"/>
              </a:rPr>
              <a:t>current account balance</a:t>
            </a:r>
            <a:endParaRPr lang="ko-KR" altLang="en-US" sz="1400" b="1" kern="0" spc="-15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a typeface="맑은 고딕" panose="020B0503020000020004" pitchFamily="50" charset="-127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2F0191F5-594D-7586-1FAE-734D2062C4F4}"/>
              </a:ext>
            </a:extLst>
          </p:cNvPr>
          <p:cNvSpPr/>
          <p:nvPr/>
        </p:nvSpPr>
        <p:spPr>
          <a:xfrm>
            <a:off x="9928638" y="996910"/>
            <a:ext cx="1995055" cy="43938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/>
              <a:t>내적 정합성 검증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42E736-16B2-17EC-1BDE-C8BB70EDA7B5}"/>
              </a:ext>
            </a:extLst>
          </p:cNvPr>
          <p:cNvSpPr txBox="1"/>
          <p:nvPr/>
        </p:nvSpPr>
        <p:spPr>
          <a:xfrm>
            <a:off x="4531316" y="1811239"/>
            <a:ext cx="69413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400" b="1" dirty="0"/>
              <a:t>Current Account Balance (CAB)</a:t>
            </a:r>
            <a:r>
              <a:rPr lang="en" altLang="ko-KR" sz="1400" dirty="0"/>
              <a:t>: </a:t>
            </a:r>
            <a:r>
              <a:rPr lang="ko-KR" altLang="en-US" sz="1400" dirty="0"/>
              <a:t>각 지역의 무역수지를 실질 변수로 표현한 것으로</a:t>
            </a:r>
            <a:r>
              <a:rPr lang="en-US" altLang="ko-KR" sz="1400" dirty="0"/>
              <a:t>, </a:t>
            </a:r>
            <a:r>
              <a:rPr lang="ko-KR" altLang="en-US" sz="1400" dirty="0"/>
              <a:t>지역 간 무역흑자와 무역적자의 합은 </a:t>
            </a:r>
            <a:r>
              <a:rPr lang="ko-KR" altLang="en-US" sz="1400" b="1" dirty="0"/>
              <a:t>세계 전체에서 </a:t>
            </a:r>
            <a:r>
              <a:rPr lang="en-US" altLang="ko-KR" sz="1400" b="1" dirty="0"/>
              <a:t>0</a:t>
            </a:r>
            <a:r>
              <a:rPr lang="ko-KR" altLang="en-US" sz="1400" dirty="0"/>
              <a:t>이 되어야 함 </a:t>
            </a:r>
            <a:r>
              <a:rPr lang="en-US" altLang="ko-KR" sz="1400" dirty="0"/>
              <a:t>(</a:t>
            </a:r>
            <a:r>
              <a:rPr lang="ko-KR" altLang="en-US" sz="1400" dirty="0"/>
              <a:t>균형 조건</a:t>
            </a:r>
            <a:r>
              <a:rPr lang="en-US" altLang="ko-KR" sz="1400" dirty="0"/>
              <a:t>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42CF1F-D2F4-FC64-2715-770A4AF49E1E}"/>
              </a:ext>
            </a:extLst>
          </p:cNvPr>
          <p:cNvSpPr txBox="1"/>
          <p:nvPr/>
        </p:nvSpPr>
        <p:spPr>
          <a:xfrm>
            <a:off x="4565363" y="2568516"/>
            <a:ext cx="681943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400" b="1" dirty="0"/>
              <a:t>외생 경로 설정 문제점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각 지역의 </a:t>
            </a:r>
            <a:r>
              <a:rPr lang="en" altLang="ko-KR" sz="1400" b="1" dirty="0"/>
              <a:t>GDP </a:t>
            </a:r>
            <a:r>
              <a:rPr lang="ko-KR" altLang="en-US" sz="1400" b="1" dirty="0"/>
              <a:t>성장률</a:t>
            </a:r>
            <a:r>
              <a:rPr lang="en-US" altLang="ko-KR" sz="1400" b="1" dirty="0"/>
              <a:t>(</a:t>
            </a:r>
            <a:r>
              <a:rPr lang="en" altLang="ko-KR" sz="1400" b="1" dirty="0" err="1"/>
              <a:t>exogroz,t</a:t>
            </a:r>
            <a:r>
              <a:rPr lang="en" altLang="ko-KR" sz="1400" b="1" dirty="0"/>
              <a:t>)</a:t>
            </a:r>
            <a:r>
              <a:rPr lang="ko-KR" altLang="en-US" sz="1400" b="1" dirty="0"/>
              <a:t>을 기준으로 무역수지를 단순히 </a:t>
            </a:r>
            <a:r>
              <a:rPr lang="ko-KR" altLang="en-US" sz="1400" b="1" dirty="0" err="1"/>
              <a:t>외삽할</a:t>
            </a:r>
            <a:r>
              <a:rPr lang="ko-KR" altLang="en-US" sz="1400" b="1" dirty="0"/>
              <a:t> 경우</a:t>
            </a:r>
            <a:r>
              <a:rPr lang="ko-KR" altLang="en-US" sz="1400" dirty="0"/>
              <a:t> </a:t>
            </a:r>
            <a:r>
              <a:rPr lang="ko-KR" altLang="en-US" sz="1400" b="1" dirty="0"/>
              <a:t>세계 총합 ≠ </a:t>
            </a:r>
            <a:r>
              <a:rPr lang="en-US" altLang="ko-KR" sz="1400" b="1" dirty="0"/>
              <a:t>0,</a:t>
            </a:r>
            <a:r>
              <a:rPr lang="ko-KR" altLang="en-US" sz="1400" dirty="0"/>
              <a:t> 기준 지역</a:t>
            </a:r>
            <a:r>
              <a:rPr lang="en-US" altLang="ko-KR" sz="1400" dirty="0"/>
              <a:t>(</a:t>
            </a:r>
            <a:r>
              <a:rPr lang="en" altLang="ko-KR" sz="1400" dirty="0"/>
              <a:t>reference region)</a:t>
            </a:r>
            <a:r>
              <a:rPr lang="ko-KR" altLang="en-US" sz="1400" dirty="0" err="1"/>
              <a:t>에</a:t>
            </a:r>
            <a:r>
              <a:rPr lang="ko-KR" altLang="en-US" sz="1400" dirty="0"/>
              <a:t> 따라 </a:t>
            </a:r>
            <a:r>
              <a:rPr lang="ko-KR" altLang="en-US" sz="1400" b="1" dirty="0"/>
              <a:t>모형 해가 달라지는 </a:t>
            </a:r>
            <a:r>
              <a:rPr lang="ko-KR" altLang="en-US" sz="1400" b="1" dirty="0" err="1"/>
              <a:t>비일관성</a:t>
            </a:r>
            <a:r>
              <a:rPr lang="ko-KR" altLang="en-US" sz="1400" dirty="0"/>
              <a:t> 발생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44D8D80-5CED-DA2A-79A8-D65788C3F2EE}"/>
                  </a:ext>
                </a:extLst>
              </p:cNvPr>
              <p:cNvSpPr txBox="1"/>
              <p:nvPr/>
            </p:nvSpPr>
            <p:spPr>
              <a:xfrm>
                <a:off x="4565364" y="3802246"/>
                <a:ext cx="6907307" cy="222952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" altLang="ko-KR" sz="1400" b="1" dirty="0"/>
                  <a:t>PEP-w-t</a:t>
                </a:r>
                <a:r>
                  <a:rPr lang="ko-KR" altLang="en-US" sz="1400" b="1" dirty="0"/>
                  <a:t>의 조정 방식</a:t>
                </a:r>
                <a:endParaRPr lang="en-US" altLang="ko-KR" sz="1400" b="1" dirty="0"/>
              </a:p>
              <a:p>
                <a:pPr marL="285750" indent="-285750" algn="ctr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b="1" dirty="0"/>
                  <a:t>기준연도</a:t>
                </a:r>
                <a:r>
                  <a:rPr lang="en-US" altLang="ko-KR" sz="1400" b="1" dirty="0"/>
                  <a:t>: 2007</a:t>
                </a:r>
                <a:endParaRPr lang="ko-KR" altLang="en-US" sz="1400" b="1" dirty="0"/>
              </a:p>
              <a:p>
                <a:pPr marL="285750" indent="-285750" algn="ctr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각 지역의 </a:t>
                </a:r>
                <a:r>
                  <a:rPr lang="en" altLang="ko-KR" sz="1400" dirty="0"/>
                  <a:t>CAB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무역수지</a:t>
                </a:r>
                <a:r>
                  <a:rPr lang="en-US" altLang="ko-KR" sz="1400" dirty="0"/>
                  <a:t>)</a:t>
                </a:r>
                <a:r>
                  <a:rPr lang="ko-KR" altLang="en-US" sz="1400" dirty="0" err="1"/>
                  <a:t>를</a:t>
                </a:r>
                <a:r>
                  <a:rPr lang="ko-KR" altLang="en-US" sz="1400" dirty="0"/>
                  <a:t> </a:t>
                </a:r>
                <a:r>
                  <a:rPr lang="en" altLang="ko-KR" sz="1400" dirty="0"/>
                  <a:t>GDP </a:t>
                </a:r>
                <a:r>
                  <a:rPr lang="ko-KR" altLang="en-US" sz="1400" dirty="0"/>
                  <a:t>성장률에 따라 </a:t>
                </a:r>
                <a:r>
                  <a:rPr lang="ko-KR" altLang="en-US" sz="1400" dirty="0" err="1"/>
                  <a:t>외삽</a:t>
                </a:r>
                <a:endParaRPr lang="ko-KR" altLang="en-US" sz="1400" dirty="0"/>
              </a:p>
              <a:p>
                <a:pPr marL="285750" indent="-285750" algn="ctr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무역흑자</a:t>
                </a:r>
                <a:r>
                  <a:rPr lang="en-US" altLang="ko-KR" sz="1400" dirty="0"/>
                  <a:t>(</a:t>
                </a:r>
                <a:r>
                  <a:rPr lang="en" altLang="ko-KR" sz="1400" dirty="0"/>
                  <a:t>SUR)·</a:t>
                </a:r>
                <a:r>
                  <a:rPr lang="ko-KR" altLang="en-US" sz="1400" dirty="0"/>
                  <a:t>무역적자</a:t>
                </a:r>
                <a:r>
                  <a:rPr lang="en-US" altLang="ko-KR" sz="1400" dirty="0"/>
                  <a:t>(</a:t>
                </a:r>
                <a:r>
                  <a:rPr lang="en" altLang="ko-KR" sz="1400" dirty="0"/>
                  <a:t>DEF) </a:t>
                </a:r>
                <a:r>
                  <a:rPr lang="ko-KR" altLang="en-US" sz="1400" dirty="0"/>
                  <a:t>지역으로 구분</a:t>
                </a:r>
              </a:p>
              <a:p>
                <a:pPr marL="285750" indent="-285750" algn="ctr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세계 총합 불균형</a:t>
                </a:r>
                <a:r>
                  <a:rPr lang="en-US" altLang="ko-KR" sz="1400" dirty="0"/>
                  <a:t>(</a:t>
                </a:r>
                <a:r>
                  <a:rPr lang="en" altLang="ko-KR" sz="1400" dirty="0"/>
                  <a:t>Balt) </a:t>
                </a:r>
                <a:r>
                  <a:rPr lang="ko-KR" altLang="en-US" sz="1400" dirty="0"/>
                  <a:t>계산</a:t>
                </a:r>
              </a:p>
              <a:p>
                <a:pPr marL="285750" indent="-285750" algn="ctr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각 지역 </a:t>
                </a:r>
                <a:r>
                  <a:rPr lang="en" altLang="ko-KR" sz="1400" dirty="0"/>
                  <a:t>CAB </a:t>
                </a:r>
                <a:r>
                  <a:rPr lang="ko-KR" altLang="en-US" sz="1400" dirty="0"/>
                  <a:t>성장률을 </a:t>
                </a:r>
                <a:r>
                  <a:rPr lang="ko-KR" altLang="en-US" sz="1400" b="1" dirty="0"/>
                  <a:t>비례적으로 조정</a:t>
                </a:r>
                <a:r>
                  <a:rPr lang="ko-KR" altLang="en-US" sz="1400" dirty="0"/>
                  <a:t>해 총합 </a:t>
                </a:r>
                <a:r>
                  <a:rPr lang="en-US" altLang="ko-KR" sz="1400" dirty="0"/>
                  <a:t>0 </a:t>
                </a:r>
                <a:r>
                  <a:rPr lang="ko-KR" altLang="en-US" sz="1400" dirty="0"/>
                  <a:t>유지</a:t>
                </a:r>
              </a:p>
              <a:p>
                <a:pPr marL="285750" indent="-285750" algn="ctr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최종 외생경로</a:t>
                </a:r>
                <a:r>
                  <a:rPr lang="en-US" altLang="ko-KR" sz="1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𝐶𝐴𝐵𝑋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𝐶𝐴𝐵𝑋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,2007</m:t>
                        </m:r>
                      </m:sub>
                    </m:sSub>
                    <m:r>
                      <a:rPr lang="en-US" altLang="ko-KR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𝑐𝑎𝑏𝑖𝑥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" altLang="ko-KR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44D8D80-5CED-DA2A-79A8-D65788C3F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364" y="3802246"/>
                <a:ext cx="6907307" cy="2229521"/>
              </a:xfrm>
              <a:prstGeom prst="rect">
                <a:avLst/>
              </a:prstGeom>
              <a:blipFill>
                <a:blip r:embed="rId2"/>
                <a:stretch>
                  <a:fillRect t="-568" b="-17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그림 18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52C44C-9D6D-A229-20A7-29178AB80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00" y="1749550"/>
            <a:ext cx="3383616" cy="4468369"/>
          </a:xfrm>
          <a:prstGeom prst="rect">
            <a:avLst/>
          </a:prstGeom>
        </p:spPr>
      </p:pic>
      <p:sp>
        <p:nvSpPr>
          <p:cNvPr id="21" name="그래픽 1">
            <a:extLst>
              <a:ext uri="{FF2B5EF4-FFF2-40B4-BE49-F238E27FC236}">
                <a16:creationId xmlns:a16="http://schemas.microsoft.com/office/drawing/2014/main" id="{9BBE0ABD-C925-E75A-1B22-CF0572174661}"/>
              </a:ext>
            </a:extLst>
          </p:cNvPr>
          <p:cNvSpPr/>
          <p:nvPr/>
        </p:nvSpPr>
        <p:spPr>
          <a:xfrm rot="5400000">
            <a:off x="2335678" y="3601509"/>
            <a:ext cx="3429000" cy="771525"/>
          </a:xfrm>
          <a:custGeom>
            <a:avLst/>
            <a:gdLst>
              <a:gd name="connsiteX0" fmla="*/ 3429000 w 3429000"/>
              <a:gd name="connsiteY0" fmla="*/ 771525 h 771525"/>
              <a:gd name="connsiteX1" fmla="*/ 2057400 w 3429000"/>
              <a:gd name="connsiteY1" fmla="*/ 257175 h 771525"/>
              <a:gd name="connsiteX2" fmla="*/ 2400300 w 3429000"/>
              <a:gd name="connsiteY2" fmla="*/ 257175 h 771525"/>
              <a:gd name="connsiteX3" fmla="*/ 1714500 w 3429000"/>
              <a:gd name="connsiteY3" fmla="*/ 0 h 771525"/>
              <a:gd name="connsiteX4" fmla="*/ 1028700 w 3429000"/>
              <a:gd name="connsiteY4" fmla="*/ 257175 h 771525"/>
              <a:gd name="connsiteX5" fmla="*/ 1371600 w 3429000"/>
              <a:gd name="connsiteY5" fmla="*/ 257175 h 771525"/>
              <a:gd name="connsiteX6" fmla="*/ 0 w 3429000"/>
              <a:gd name="connsiteY6" fmla="*/ 771525 h 77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29000" h="771525">
                <a:moveTo>
                  <a:pt x="3429000" y="771525"/>
                </a:moveTo>
                <a:cubicBezTo>
                  <a:pt x="2314575" y="600075"/>
                  <a:pt x="2057400" y="257175"/>
                  <a:pt x="2057400" y="257175"/>
                </a:cubicBezTo>
                <a:lnTo>
                  <a:pt x="2400300" y="257175"/>
                </a:lnTo>
                <a:lnTo>
                  <a:pt x="1714500" y="0"/>
                </a:lnTo>
                <a:lnTo>
                  <a:pt x="1028700" y="257175"/>
                </a:lnTo>
                <a:lnTo>
                  <a:pt x="1371600" y="257175"/>
                </a:lnTo>
                <a:cubicBezTo>
                  <a:pt x="1371600" y="257175"/>
                  <a:pt x="1114425" y="600075"/>
                  <a:pt x="0" y="771525"/>
                </a:cubicBezTo>
              </a:path>
            </a:pathLst>
          </a:custGeom>
          <a:gradFill flip="none" rotWithShape="1">
            <a:gsLst>
              <a:gs pos="3000">
                <a:schemeClr val="accent2">
                  <a:lumMod val="0"/>
                  <a:lumOff val="100000"/>
                </a:schemeClr>
              </a:gs>
              <a:gs pos="96000">
                <a:schemeClr val="bg1">
                  <a:lumMod val="65000"/>
                </a:schemeClr>
              </a:gs>
              <a:gs pos="69000">
                <a:srgbClr val="AFAFAF"/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5291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0C762-A1B2-8D46-AB24-374A69799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D89970C2-8549-CC0C-F0A6-6250FD23D7E5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C384CC7-E64C-C95E-456B-6078A7FE0FA0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F8319A7-FCFF-3508-7D20-BB4A21784940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1428BB1-AE5D-A350-5A4C-AA82C1773E33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C8A441F-9C90-29D6-EC02-4ADEEE9E03A1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79D2F772-45C3-CB94-3A2B-1C07619D2467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90F9F0E-0C64-FB8E-87AC-903455EB88EA}"/>
              </a:ext>
            </a:extLst>
          </p:cNvPr>
          <p:cNvGrpSpPr/>
          <p:nvPr/>
        </p:nvGrpSpPr>
        <p:grpSpPr>
          <a:xfrm>
            <a:off x="362396" y="1576526"/>
            <a:ext cx="11612900" cy="1735173"/>
            <a:chOff x="456760" y="756477"/>
            <a:chExt cx="12180538" cy="2145948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B8624F9-92E3-D42E-510D-B54D192D72D8}"/>
                </a:ext>
              </a:extLst>
            </p:cNvPr>
            <p:cNvSpPr/>
            <p:nvPr/>
          </p:nvSpPr>
          <p:spPr>
            <a:xfrm>
              <a:off x="456760" y="756477"/>
              <a:ext cx="12180538" cy="2145948"/>
            </a:xfrm>
            <a:prstGeom prst="rect">
              <a:avLst/>
            </a:prstGeom>
          </p:spPr>
          <p:txBody>
            <a:bodyPr wrap="square" anchor="ctr" anchorCtr="0">
              <a:spAutoFit/>
            </a:bodyPr>
            <a:lstStyle/>
            <a:p>
              <a:pPr marR="0" lvl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" altLang="ko-KR" sz="1400" b="1" i="1" kern="0" spc="-1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Britz &amp; </a:t>
              </a:r>
              <a:r>
                <a:rPr lang="en" altLang="ko-KR" sz="1400" b="1" i="1" kern="0" spc="-150" dirty="0" err="1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Roson</a:t>
              </a:r>
              <a:r>
                <a:rPr lang="en" altLang="ko-KR" sz="1400" b="1" i="1" kern="0" spc="-1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 (2019), “G-RDEM: A GTAP-Based Recursive Dynamic CGE Model for Long-Term Baseline Generation and Analysis”</a:t>
              </a:r>
              <a:endParaRPr lang="en-US" altLang="ko-KR" sz="14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ko-KR" sz="1400" b="1" kern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latin typeface="Malgun Gothic" panose="020B0503020000020004" pitchFamily="34" charset="-127"/>
                  <a:ea typeface="Malgun Gothic" panose="020B0503020000020004" pitchFamily="34" charset="-127"/>
                </a:rPr>
                <a:t>1. IO </a:t>
              </a:r>
              <a:r>
                <a:rPr lang="ko-KR" altLang="en-US" sz="1400" b="1" kern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latin typeface="Malgun Gothic" panose="020B0503020000020004" pitchFamily="34" charset="-127"/>
                  <a:ea typeface="Malgun Gothic" panose="020B0503020000020004" pitchFamily="34" charset="-127"/>
                </a:rPr>
                <a:t>구조 변화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ko-KR" sz="1400" kern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latin typeface="Malgun Gothic" panose="020B0503020000020004" pitchFamily="34" charset="-127"/>
                  <a:ea typeface="Malgun Gothic" panose="020B0503020000020004" pitchFamily="34" charset="-127"/>
                </a:rPr>
                <a:t>- </a:t>
              </a:r>
              <a:r>
                <a:rPr lang="ko-KR" altLang="en-US" sz="1400" kern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latin typeface="Malgun Gothic" panose="020B0503020000020004" pitchFamily="34" charset="-127"/>
                  <a:ea typeface="Malgun Gothic" panose="020B0503020000020004" pitchFamily="34" charset="-127"/>
                </a:rPr>
                <a:t>산업구조 전환에 따라 생산 투입 구조</a:t>
              </a:r>
              <a:r>
                <a:rPr lang="en-US" altLang="ko-KR" sz="1400" kern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latin typeface="Malgun Gothic" panose="020B0503020000020004" pitchFamily="34" charset="-127"/>
                  <a:ea typeface="Malgun Gothic" panose="020B0503020000020004" pitchFamily="34" charset="-127"/>
                </a:rPr>
                <a:t>(Input-Output structure)</a:t>
              </a:r>
              <a:r>
                <a:rPr lang="ko-KR" altLang="en-US" sz="1400" kern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latin typeface="Malgun Gothic" panose="020B0503020000020004" pitchFamily="34" charset="-127"/>
                  <a:ea typeface="Malgun Gothic" panose="020B0503020000020004" pitchFamily="34" charset="-127"/>
                </a:rPr>
                <a:t>도 함께 변화해야 내적 정합성 확보 가능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ko-KR" sz="1400" kern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latin typeface="Malgun Gothic" panose="020B0503020000020004" pitchFamily="34" charset="-127"/>
                  <a:ea typeface="Malgun Gothic" panose="020B0503020000020004" pitchFamily="34" charset="-127"/>
                </a:rPr>
                <a:t>- </a:t>
              </a:r>
              <a:r>
                <a:rPr lang="ko-KR" altLang="en-US" sz="1400" kern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latin typeface="Malgun Gothic" panose="020B0503020000020004" pitchFamily="34" charset="-127"/>
                  <a:ea typeface="Malgun Gothic" panose="020B0503020000020004" pitchFamily="34" charset="-127"/>
                </a:rPr>
                <a:t>고소득화에 따라 원재료 중심에서 서비스</a:t>
              </a:r>
              <a:r>
                <a:rPr lang="en-US" altLang="ko-KR" sz="1400" kern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latin typeface="Malgun Gothic" panose="020B0503020000020004" pitchFamily="34" charset="-127"/>
                  <a:ea typeface="Malgun Gothic" panose="020B0503020000020004" pitchFamily="34" charset="-127"/>
                </a:rPr>
                <a:t>·</a:t>
              </a:r>
              <a:r>
                <a:rPr lang="ko-KR" altLang="en-US" sz="1400" kern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latin typeface="Malgun Gothic" panose="020B0503020000020004" pitchFamily="34" charset="-127"/>
                  <a:ea typeface="Malgun Gothic" panose="020B0503020000020004" pitchFamily="34" charset="-127"/>
                </a:rPr>
                <a:t>기계</a:t>
              </a:r>
              <a:r>
                <a:rPr lang="en-US" altLang="ko-KR" sz="1400" kern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latin typeface="Malgun Gothic" panose="020B0503020000020004" pitchFamily="34" charset="-127"/>
                  <a:ea typeface="Malgun Gothic" panose="020B0503020000020004" pitchFamily="34" charset="-127"/>
                </a:rPr>
                <a:t>·</a:t>
              </a:r>
              <a:r>
                <a:rPr lang="ko-KR" altLang="en-US" sz="1400" kern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latin typeface="Malgun Gothic" panose="020B0503020000020004" pitchFamily="34" charset="-127"/>
                  <a:ea typeface="Malgun Gothic" panose="020B0503020000020004" pitchFamily="34" charset="-127"/>
                </a:rPr>
                <a:t>고급 중간재로 투입 구조 변화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ko-KR" sz="1400" kern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latin typeface="Malgun Gothic" panose="020B0503020000020004" pitchFamily="34" charset="-127"/>
                  <a:ea typeface="Malgun Gothic" panose="020B0503020000020004" pitchFamily="34" charset="-127"/>
                </a:rPr>
                <a:t>- G-RDEM</a:t>
              </a:r>
              <a:r>
                <a:rPr lang="ko-KR" altLang="en-US" sz="1400" kern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latin typeface="Malgun Gothic" panose="020B0503020000020004" pitchFamily="34" charset="-127"/>
                  <a:ea typeface="Malgun Gothic" panose="020B0503020000020004" pitchFamily="34" charset="-127"/>
                </a:rPr>
                <a:t>은 </a:t>
              </a:r>
              <a:r>
                <a:rPr lang="en-US" altLang="ko-KR" sz="1400" kern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latin typeface="Malgun Gothic" panose="020B0503020000020004" pitchFamily="34" charset="-127"/>
                  <a:ea typeface="Malgun Gothic" panose="020B0503020000020004" pitchFamily="34" charset="-127"/>
                </a:rPr>
                <a:t>CES </a:t>
              </a:r>
              <a:r>
                <a:rPr lang="ko-KR" altLang="en-US" sz="1400" kern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latin typeface="Malgun Gothic" panose="020B0503020000020004" pitchFamily="34" charset="-127"/>
                  <a:ea typeface="Malgun Gothic" panose="020B0503020000020004" pitchFamily="34" charset="-127"/>
                </a:rPr>
                <a:t>생산함수 및 소득 연계 구조전환 시뮬레이션을 통해 이를 구현</a:t>
              </a:r>
            </a:p>
            <a:p>
              <a:pPr>
                <a:lnSpc>
                  <a:spcPct val="150000"/>
                </a:lnSpc>
                <a:defRPr/>
              </a:pPr>
              <a:endParaRPr lang="en-US" altLang="ko-KR" sz="6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NanumBarunGothicOTF" panose="02020603020101020101" pitchFamily="18" charset="-127"/>
                <a:ea typeface="NanumBarunGothicOTF" panose="02020603020101020101" pitchFamily="18" charset="-127"/>
              </a:endParaRPr>
            </a:p>
          </p:txBody>
        </p:sp>
        <p:sp>
          <p:nvSpPr>
            <p:cNvPr id="20" name="직사각형 27">
              <a:extLst>
                <a:ext uri="{FF2B5EF4-FFF2-40B4-BE49-F238E27FC236}">
                  <a16:creationId xmlns:a16="http://schemas.microsoft.com/office/drawing/2014/main" id="{6464768A-12F6-D355-5C6B-9453040807B7}"/>
                </a:ext>
              </a:extLst>
            </p:cNvPr>
            <p:cNvSpPr/>
            <p:nvPr/>
          </p:nvSpPr>
          <p:spPr>
            <a:xfrm>
              <a:off x="456760" y="1024183"/>
              <a:ext cx="80901" cy="313200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B74ADBE2-2658-134E-E79D-7BD8B5D1B247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Britz &amp; </a:t>
            </a:r>
            <a:r>
              <a:rPr lang="en" altLang="ko-KR" sz="2000" b="1" kern="0" spc="-150" dirty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Roson</a:t>
            </a:r>
            <a:r>
              <a:rPr lang="en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(2019)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내적 정합성 검증 기준</a:t>
            </a: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: IO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구조 변화</a:t>
            </a:r>
            <a:endParaRPr kumimoji="0" lang="ko-KR" altLang="en-US" sz="1400" b="1" i="0" u="none" strike="noStrike" kern="0" cap="none" spc="-1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6724D8E9-8A3B-3BCE-9427-A9C408312A05}"/>
              </a:ext>
            </a:extLst>
          </p:cNvPr>
          <p:cNvSpPr/>
          <p:nvPr/>
        </p:nvSpPr>
        <p:spPr>
          <a:xfrm>
            <a:off x="9928638" y="996910"/>
            <a:ext cx="1995055" cy="43938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/>
              <a:t>내적 정합성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EB8BA-E3F1-84FC-53F1-F1979F9AADD0}"/>
              </a:ext>
            </a:extLst>
          </p:cNvPr>
          <p:cNvSpPr txBox="1"/>
          <p:nvPr/>
        </p:nvSpPr>
        <p:spPr>
          <a:xfrm>
            <a:off x="2819750" y="6448090"/>
            <a:ext cx="65524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➔ </a:t>
            </a:r>
            <a:r>
              <a:rPr lang="en" altLang="ko-KR" sz="1400" b="1" i="1" dirty="0">
                <a:solidFill>
                  <a:srgbClr val="C00000"/>
                </a:solidFill>
              </a:rPr>
              <a:t>CGE </a:t>
            </a:r>
            <a:r>
              <a:rPr lang="ko-KR" altLang="en-US" sz="1400" b="1" i="1" dirty="0">
                <a:solidFill>
                  <a:srgbClr val="C00000"/>
                </a:solidFill>
              </a:rPr>
              <a:t>모형 내 </a:t>
            </a:r>
            <a:r>
              <a:rPr lang="en-US" altLang="ko-KR" sz="1400" b="1" i="1" dirty="0">
                <a:solidFill>
                  <a:srgbClr val="C00000"/>
                </a:solidFill>
              </a:rPr>
              <a:t>6</a:t>
            </a:r>
            <a:r>
              <a:rPr lang="ko-KR" altLang="en-US" sz="1400" b="1" i="1" dirty="0">
                <a:solidFill>
                  <a:srgbClr val="C00000"/>
                </a:solidFill>
              </a:rPr>
              <a:t>개국 대상 </a:t>
            </a:r>
            <a:r>
              <a:rPr lang="en" altLang="ko-KR" sz="1400" b="1" i="1" dirty="0">
                <a:solidFill>
                  <a:srgbClr val="C00000"/>
                </a:solidFill>
              </a:rPr>
              <a:t>IO </a:t>
            </a:r>
            <a:r>
              <a:rPr lang="ko-KR" altLang="en-US" sz="1400" b="1" i="1" dirty="0">
                <a:solidFill>
                  <a:srgbClr val="C00000"/>
                </a:solidFill>
              </a:rPr>
              <a:t>구조 변화 분석 진행</a:t>
            </a:r>
            <a:r>
              <a:rPr lang="en-US" altLang="ko-KR" sz="1400" b="1" i="1" dirty="0">
                <a:solidFill>
                  <a:srgbClr val="C00000"/>
                </a:solidFill>
              </a:rPr>
              <a:t>(</a:t>
            </a:r>
            <a:r>
              <a:rPr lang="ko-KR" altLang="en-US" sz="1400" b="1" i="1" dirty="0">
                <a:solidFill>
                  <a:srgbClr val="C00000"/>
                </a:solidFill>
              </a:rPr>
              <a:t>중간투입비중</a:t>
            </a:r>
            <a:r>
              <a:rPr lang="en-US" altLang="ko-KR" sz="1400" b="1" i="1" dirty="0">
                <a:solidFill>
                  <a:srgbClr val="C00000"/>
                </a:solidFill>
              </a:rPr>
              <a:t>(2019, 2050))</a:t>
            </a:r>
            <a:endParaRPr lang="ko-KR" altLang="en-US" sz="1400" b="1" i="1" dirty="0">
              <a:solidFill>
                <a:srgbClr val="C0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722838D-9C0D-35AC-7679-27BEDBF91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240602"/>
              </p:ext>
            </p:extLst>
          </p:nvPr>
        </p:nvGraphicFramePr>
        <p:xfrm>
          <a:off x="414000" y="3322985"/>
          <a:ext cx="11314704" cy="153924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840334">
                  <a:extLst>
                    <a:ext uri="{9D8B030D-6E8A-4147-A177-3AD203B41FA5}">
                      <a16:colId xmlns:a16="http://schemas.microsoft.com/office/drawing/2014/main" val="3754204716"/>
                    </a:ext>
                  </a:extLst>
                </a:gridCol>
                <a:gridCol w="2558107">
                  <a:extLst>
                    <a:ext uri="{9D8B030D-6E8A-4147-A177-3AD203B41FA5}">
                      <a16:colId xmlns:a16="http://schemas.microsoft.com/office/drawing/2014/main" val="1257986670"/>
                    </a:ext>
                  </a:extLst>
                </a:gridCol>
                <a:gridCol w="4087587">
                  <a:extLst>
                    <a:ext uri="{9D8B030D-6E8A-4147-A177-3AD203B41FA5}">
                      <a16:colId xmlns:a16="http://schemas.microsoft.com/office/drawing/2014/main" val="2494881046"/>
                    </a:ext>
                  </a:extLst>
                </a:gridCol>
                <a:gridCol w="2828676">
                  <a:extLst>
                    <a:ext uri="{9D8B030D-6E8A-4147-A177-3AD203B41FA5}">
                      <a16:colId xmlns:a16="http://schemas.microsoft.com/office/drawing/2014/main" val="1639527178"/>
                    </a:ext>
                  </a:extLst>
                </a:gridCol>
              </a:tblGrid>
              <a:tr h="184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 dirty="0"/>
                        <a:t>구분</a:t>
                      </a:r>
                      <a:endParaRPr lang="ko-KR" altLang="en-US" sz="11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 dirty="0"/>
                        <a:t>검토 항목</a:t>
                      </a:r>
                      <a:endParaRPr lang="ko-KR" altLang="en-US" sz="11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 dirty="0"/>
                        <a:t>내적 정합성 기준 </a:t>
                      </a:r>
                      <a:r>
                        <a:rPr lang="en-US" altLang="ko-KR" sz="1100" b="1" dirty="0"/>
                        <a:t>(</a:t>
                      </a:r>
                      <a:r>
                        <a:rPr lang="ko-KR" altLang="en-US" sz="1100" b="1" dirty="0"/>
                        <a:t>이론적 방향</a:t>
                      </a:r>
                      <a:r>
                        <a:rPr lang="en-US" altLang="ko-KR" sz="1100" b="1" dirty="0"/>
                        <a:t>)</a:t>
                      </a:r>
                      <a:endParaRPr lang="ko-KR" altLang="en-US" sz="11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b="1" dirty="0"/>
                        <a:t>G-RDEM </a:t>
                      </a:r>
                      <a:r>
                        <a:rPr lang="ko-KR" altLang="en-US" sz="1100" b="1" dirty="0"/>
                        <a:t>내 구현 방식</a:t>
                      </a:r>
                      <a:endParaRPr lang="ko-KR" altLang="en-US" sz="11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3189180"/>
                  </a:ext>
                </a:extLst>
              </a:tr>
              <a:tr h="305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/>
                        <a:t>중간재 구조 변화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산업별 </a:t>
                      </a:r>
                      <a:r>
                        <a:rPr lang="en" sz="1100" dirty="0"/>
                        <a:t>IO </a:t>
                      </a:r>
                      <a:r>
                        <a:rPr lang="ko-KR" altLang="en-US" sz="1100" dirty="0"/>
                        <a:t>투입 비중 변화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저소득국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식료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원재료 중심 </a:t>
                      </a:r>
                      <a:r>
                        <a:rPr lang="en-US" altLang="ko-KR" sz="1100" dirty="0"/>
                        <a:t>/ </a:t>
                      </a:r>
                    </a:p>
                    <a:p>
                      <a:pPr>
                        <a:buNone/>
                      </a:pPr>
                      <a:r>
                        <a:rPr lang="ko-KR" altLang="en-US" sz="1100" dirty="0"/>
                        <a:t>고소득국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서비스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기계 등 복합중간재 비중 증가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/>
                        <a:t>CES </a:t>
                      </a:r>
                      <a:r>
                        <a:rPr lang="ko-KR" altLang="en-US" sz="1100" dirty="0"/>
                        <a:t>생산함수 기반 대체 가능성 </a:t>
                      </a:r>
                      <a:r>
                        <a:rPr lang="en-US" altLang="ko-KR" sz="1100" dirty="0"/>
                        <a:t>+ </a:t>
                      </a:r>
                      <a:r>
                        <a:rPr lang="en" sz="1100" dirty="0"/>
                        <a:t>GDP/cap </a:t>
                      </a:r>
                      <a:r>
                        <a:rPr lang="ko-KR" altLang="en-US" sz="1100" dirty="0"/>
                        <a:t>기준 구조 변화 반영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92000231"/>
                  </a:ext>
                </a:extLst>
              </a:tr>
              <a:tr h="3042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/>
                        <a:t>기술변화 반영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/>
                        <a:t>투입비중 고정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경제 성장 시 </a:t>
                      </a:r>
                      <a:r>
                        <a:rPr lang="en" sz="1100" dirty="0"/>
                        <a:t>IO </a:t>
                      </a:r>
                      <a:r>
                        <a:rPr lang="ko-KR" altLang="en-US" sz="1100" dirty="0"/>
                        <a:t>구조가 고정되면 비현실적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시계열 생산성</a:t>
                      </a:r>
                      <a:r>
                        <a:rPr lang="en-US" altLang="ko-KR" sz="1100" dirty="0"/>
                        <a:t>(</a:t>
                      </a:r>
                      <a:r>
                        <a:rPr lang="en" sz="1100" dirty="0"/>
                        <a:t>TFP) </a:t>
                      </a:r>
                      <a:r>
                        <a:rPr lang="ko-KR" altLang="en-US" sz="1100" dirty="0"/>
                        <a:t>경로 및 중간재 투입계수 유연화 적용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1791916"/>
                  </a:ext>
                </a:extLst>
              </a:tr>
              <a:tr h="3042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/>
                        <a:t>투입 구조 검증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국가 간 </a:t>
                      </a:r>
                      <a:r>
                        <a:rPr lang="en" sz="1100" dirty="0"/>
                        <a:t>IO </a:t>
                      </a:r>
                      <a:r>
                        <a:rPr lang="ko-KR" altLang="en-US" sz="1100" dirty="0"/>
                        <a:t>비중 비교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선진국일수록 서비스 중간재 비중 높음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/>
                        <a:t>GTAP IO </a:t>
                      </a:r>
                      <a:r>
                        <a:rPr lang="ko-KR" altLang="en-US" sz="1100" dirty="0"/>
                        <a:t>테이블 기반 구조 비교 및 정합성 판단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554512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0D26D102-ECCD-A79F-1402-55649494A51B}"/>
                  </a:ext>
                </a:extLst>
              </p:cNvPr>
              <p:cNvSpPr/>
              <p:nvPr/>
            </p:nvSpPr>
            <p:spPr>
              <a:xfrm>
                <a:off x="956766" y="5043695"/>
                <a:ext cx="10424160" cy="122292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1600" dirty="0">
                    <a:solidFill>
                      <a:schemeClr val="tx1"/>
                    </a:solidFill>
                  </a:rPr>
                  <a:t>부가가치율</a:t>
                </a:r>
                <a:r>
                  <a:rPr kumimoji="1" lang="en-US" altLang="ko-KR" sz="1600" dirty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ko-KR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𝑃𝑉𝐴</m:t>
                        </m:r>
                        <m:r>
                          <a:rPr kumimoji="1"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kumimoji="1"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𝑉𝐴</m:t>
                        </m:r>
                        <m:r>
                          <a:rPr kumimoji="1"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kumimoji="1"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𝑇𝐼𝑃</m:t>
                        </m:r>
                      </m:num>
                      <m:den>
                        <m:r>
                          <a:rPr kumimoji="1"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𝑋𝑆</m:t>
                        </m:r>
                        <m:r>
                          <a:rPr kumimoji="1"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kumimoji="1"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𝑃𝑃</m:t>
                        </m:r>
                      </m:den>
                    </m:f>
                  </m:oMath>
                </a14:m>
                <a:endParaRPr kumimoji="1" lang="en-US" altLang="ko-KR" sz="1600" dirty="0">
                  <a:solidFill>
                    <a:schemeClr val="tx1"/>
                  </a:solidFill>
                </a:endParaRPr>
              </a:p>
              <a:p>
                <a:pPr algn="ctr"/>
                <a:endParaRPr kumimoji="1" lang="en-US" altLang="ko-KR" sz="1600" dirty="0">
                  <a:solidFill>
                    <a:schemeClr val="tx1"/>
                  </a:solidFill>
                  <a:sym typeface="Wingdings" pitchFamily="2" charset="2"/>
                </a:endParaRPr>
              </a:p>
              <a:p>
                <a:pPr algn="ctr"/>
                <a:r>
                  <a:rPr kumimoji="1" lang="en-US" altLang="ko-KR" sz="1600" dirty="0">
                    <a:solidFill>
                      <a:schemeClr val="tx1"/>
                    </a:solidFill>
                    <a:sym typeface="Wingdings" pitchFamily="2" charset="2"/>
                  </a:rPr>
                  <a:t> </a:t>
                </a:r>
                <a:r>
                  <a:rPr kumimoji="1" lang="en-US" altLang="ko-KR" sz="1600" dirty="0">
                    <a:solidFill>
                      <a:schemeClr val="tx1"/>
                    </a:solidFill>
                  </a:rPr>
                  <a:t>1-</a:t>
                </a:r>
                <a:r>
                  <a:rPr kumimoji="1" lang="ko-KR" altLang="en-US" sz="1600" dirty="0">
                    <a:solidFill>
                      <a:schemeClr val="tx1"/>
                    </a:solidFill>
                  </a:rPr>
                  <a:t>부가가치율</a:t>
                </a:r>
                <a:r>
                  <a:rPr kumimoji="1" lang="en-US" altLang="ko-KR" sz="1600" dirty="0">
                    <a:solidFill>
                      <a:schemeClr val="tx1"/>
                    </a:solidFill>
                  </a:rPr>
                  <a:t>=</a:t>
                </a:r>
                <a:r>
                  <a:rPr kumimoji="1" lang="ko-KR" altLang="en-US" sz="1600" dirty="0">
                    <a:solidFill>
                      <a:schemeClr val="tx1"/>
                    </a:solidFill>
                  </a:rPr>
                  <a:t>중간투입비중</a:t>
                </a:r>
                <a:r>
                  <a:rPr kumimoji="1" lang="en-US" altLang="ko-KR" sz="1600" dirty="0">
                    <a:solidFill>
                      <a:schemeClr val="tx1"/>
                    </a:solidFill>
                  </a:rPr>
                  <a:t>(IO</a:t>
                </a:r>
                <a:r>
                  <a:rPr kumimoji="1" lang="ko-KR" altLang="en-US" sz="1600" dirty="0">
                    <a:solidFill>
                      <a:schemeClr val="tx1"/>
                    </a:solidFill>
                  </a:rPr>
                  <a:t>구조</a:t>
                </a:r>
                <a:r>
                  <a:rPr kumimoji="1" lang="en-US" altLang="ko-KR" sz="1600" dirty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:r>
                  <a:rPr kumimoji="1" lang="en-US" altLang="ko-KR" sz="1100" dirty="0">
                    <a:solidFill>
                      <a:schemeClr val="tx1"/>
                    </a:solidFill>
                  </a:rPr>
                  <a:t>*PVA: </a:t>
                </a:r>
                <a:r>
                  <a:rPr kumimoji="1" lang="ko-KR" altLang="en-US" sz="1100" dirty="0">
                    <a:solidFill>
                      <a:schemeClr val="tx1"/>
                    </a:solidFill>
                  </a:rPr>
                  <a:t>부가가치가격</a:t>
                </a:r>
                <a:r>
                  <a:rPr kumimoji="1" lang="en-US" altLang="ko-KR" sz="1100" dirty="0">
                    <a:solidFill>
                      <a:schemeClr val="tx1"/>
                    </a:solidFill>
                  </a:rPr>
                  <a:t>, VA:</a:t>
                </a:r>
                <a:r>
                  <a:rPr kumimoji="1" lang="ko-KR" altLang="en-US" sz="1100" dirty="0">
                    <a:solidFill>
                      <a:schemeClr val="tx1"/>
                    </a:solidFill>
                  </a:rPr>
                  <a:t>부가가치</a:t>
                </a:r>
                <a:r>
                  <a:rPr kumimoji="1" lang="en-US" altLang="ko-KR" sz="1100" dirty="0">
                    <a:solidFill>
                      <a:schemeClr val="tx1"/>
                    </a:solidFill>
                  </a:rPr>
                  <a:t>,TIP: </a:t>
                </a:r>
                <a:r>
                  <a:rPr kumimoji="1" lang="ko-KR" altLang="en-US" sz="1100" dirty="0" err="1">
                    <a:solidFill>
                      <a:schemeClr val="tx1"/>
                    </a:solidFill>
                  </a:rPr>
                  <a:t>생산세</a:t>
                </a:r>
                <a:r>
                  <a:rPr kumimoji="1" lang="ko-KR" altLang="en-US" sz="1100" dirty="0">
                    <a:solidFill>
                      <a:schemeClr val="tx1"/>
                    </a:solidFill>
                  </a:rPr>
                  <a:t> 수입</a:t>
                </a:r>
                <a:r>
                  <a:rPr kumimoji="1" lang="en-US" altLang="ko-KR" sz="1100" dirty="0">
                    <a:solidFill>
                      <a:schemeClr val="tx1"/>
                    </a:solidFill>
                  </a:rPr>
                  <a:t>, PP:</a:t>
                </a:r>
                <a:r>
                  <a:rPr kumimoji="1" lang="ko-KR" altLang="en-US" sz="1100" dirty="0">
                    <a:solidFill>
                      <a:schemeClr val="tx1"/>
                    </a:solidFill>
                  </a:rPr>
                  <a:t>단위생산비용</a:t>
                </a:r>
                <a:r>
                  <a:rPr kumimoji="1" lang="en-US" altLang="ko-KR" sz="1100" dirty="0">
                    <a:solidFill>
                      <a:schemeClr val="tx1"/>
                    </a:solidFill>
                  </a:rPr>
                  <a:t>, XS: </a:t>
                </a:r>
                <a:r>
                  <a:rPr kumimoji="1" lang="ko-KR" altLang="en-US" sz="1100" dirty="0" err="1">
                    <a:solidFill>
                      <a:schemeClr val="tx1"/>
                    </a:solidFill>
                  </a:rPr>
                  <a:t>총산출</a:t>
                </a:r>
                <a:endParaRPr kumimoji="1" lang="ko-KR" alt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0D26D102-ECCD-A79F-1402-55649494A5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766" y="5043695"/>
                <a:ext cx="10424160" cy="12229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1460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BF9D8-C75E-2EAF-E616-41793FB7A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A5D9156C-3BC8-A2B3-A7E3-DD59A9849FB4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EBD57B-0271-08E6-C183-68A8B00205D1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F086079-C6D4-52F8-308E-8934AF02277F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59E259F-F16E-3363-726A-963FD6A56C5D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8D1FAE5-68A1-1BF3-B997-0EC8E4918312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5A96A4DD-53BF-5F66-AD71-DD0DEA7EC2C8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27">
            <a:extLst>
              <a:ext uri="{FF2B5EF4-FFF2-40B4-BE49-F238E27FC236}">
                <a16:creationId xmlns:a16="http://schemas.microsoft.com/office/drawing/2014/main" id="{155A3FF0-D458-B565-79EB-F345CD440BA6}"/>
              </a:ext>
            </a:extLst>
          </p:cNvPr>
          <p:cNvSpPr/>
          <p:nvPr/>
        </p:nvSpPr>
        <p:spPr>
          <a:xfrm>
            <a:off x="-2252700" y="1538244"/>
            <a:ext cx="80901" cy="313200"/>
          </a:xfrm>
          <a:custGeom>
            <a:avLst/>
            <a:gdLst/>
            <a:ahLst/>
            <a:cxnLst/>
            <a:rect l="l" t="t" r="r" b="b"/>
            <a:pathLst>
              <a:path w="927337" h="1334252">
                <a:moveTo>
                  <a:pt x="0" y="0"/>
                </a:moveTo>
                <a:lnTo>
                  <a:pt x="927337" y="0"/>
                </a:lnTo>
                <a:lnTo>
                  <a:pt x="269673" y="1334252"/>
                </a:lnTo>
                <a:lnTo>
                  <a:pt x="0" y="1334252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0ABA02D-12CC-5F55-6235-298DD000AA35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내적 정합성 검증</a:t>
            </a: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_IO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구조 변화</a:t>
            </a:r>
            <a:endParaRPr kumimoji="0" lang="ko-KR" altLang="en-US" sz="1400" b="1" i="0" u="none" strike="noStrike" kern="0" cap="none" spc="-1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A8683FB-5943-42DC-A47C-869E86BB2289}"/>
              </a:ext>
            </a:extLst>
          </p:cNvPr>
          <p:cNvSpPr/>
          <p:nvPr/>
        </p:nvSpPr>
        <p:spPr>
          <a:xfrm>
            <a:off x="2293378" y="1526725"/>
            <a:ext cx="1850382" cy="4001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/>
              <a:t>01_</a:t>
            </a:r>
            <a:r>
              <a:rPr kumimoji="1" lang="ko-KR" altLang="en-US" sz="1400" b="1" dirty="0"/>
              <a:t>대한민국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3C5696B2-0A85-2674-47C4-3215222552F3}"/>
              </a:ext>
            </a:extLst>
          </p:cNvPr>
          <p:cNvSpPr/>
          <p:nvPr/>
        </p:nvSpPr>
        <p:spPr>
          <a:xfrm>
            <a:off x="8048242" y="1460960"/>
            <a:ext cx="1850382" cy="4001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/>
              <a:t>02_</a:t>
            </a:r>
            <a:r>
              <a:rPr kumimoji="1" lang="ko-KR" altLang="en-US" sz="1400" b="1" dirty="0"/>
              <a:t>중국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CBC7ED-AA1B-47FE-2592-0869673124CA}"/>
              </a:ext>
            </a:extLst>
          </p:cNvPr>
          <p:cNvSpPr txBox="1"/>
          <p:nvPr/>
        </p:nvSpPr>
        <p:spPr>
          <a:xfrm>
            <a:off x="6787297" y="5150698"/>
            <a:ext cx="4755181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lang="ko-KR" altLang="en-US" sz="1200" dirty="0"/>
              <a:t>농업 부문은 </a:t>
            </a:r>
            <a:r>
              <a:rPr lang="en-US" altLang="ko-KR" sz="1200" dirty="0"/>
              <a:t>0.379 → 0.333</a:t>
            </a:r>
            <a:r>
              <a:rPr lang="ko-KR" altLang="en-US" sz="1200" dirty="0" err="1"/>
              <a:t>으로</a:t>
            </a:r>
            <a:r>
              <a:rPr lang="ko-KR" altLang="en-US" sz="1200" dirty="0"/>
              <a:t> 감소하며</a:t>
            </a:r>
            <a:r>
              <a:rPr lang="en-US" altLang="ko-KR" sz="1200" dirty="0"/>
              <a:t>, </a:t>
            </a:r>
            <a:r>
              <a:rPr lang="ko-KR" altLang="en-US" sz="1200" dirty="0"/>
              <a:t>기술 발전과 생산 효율화에 따른 외부 투입 축소 경향과 일치함</a:t>
            </a:r>
            <a:r>
              <a:rPr lang="en-US" altLang="ko-KR" sz="1200" dirty="0"/>
              <a:t>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dirty="0"/>
              <a:t>기타 산업은 증가하여</a:t>
            </a:r>
            <a:r>
              <a:rPr lang="en-US" altLang="ko-KR" sz="1200" dirty="0"/>
              <a:t>, </a:t>
            </a:r>
            <a:r>
              <a:rPr lang="ko-KR" altLang="en-US" sz="1200" dirty="0"/>
              <a:t>중간재 의존도가 강화되는 제조업 중심 구조가 유지됨을 보여줌</a:t>
            </a:r>
            <a:r>
              <a:rPr lang="en-US" altLang="ko-KR" sz="1200" dirty="0"/>
              <a:t>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dirty="0"/>
              <a:t>서비스 산업은 상승해</a:t>
            </a:r>
            <a:r>
              <a:rPr lang="en-US" altLang="ko-KR" sz="1200" dirty="0"/>
              <a:t>, </a:t>
            </a:r>
            <a:r>
              <a:rPr lang="ko-KR" altLang="en-US" sz="1200" dirty="0"/>
              <a:t>서비스 확대 및 간접투입 증가라는 구조 전환 경향을 반영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dirty="0"/>
              <a:t>산업 간 이질적 변화가 나타나며</a:t>
            </a:r>
            <a:r>
              <a:rPr lang="en-US" altLang="ko-KR" sz="1200" dirty="0"/>
              <a:t>, </a:t>
            </a:r>
            <a:r>
              <a:rPr lang="ko-KR" altLang="en-US" sz="1200" dirty="0"/>
              <a:t>부문별 생산구조 재편이 진행되고 있음을 시사함</a:t>
            </a:r>
            <a:r>
              <a:rPr lang="en-US" altLang="ko-KR" sz="12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9EF22D-CBBD-DAAB-CDBB-C5DD0A56D7AB}"/>
              </a:ext>
            </a:extLst>
          </p:cNvPr>
          <p:cNvSpPr txBox="1"/>
          <p:nvPr/>
        </p:nvSpPr>
        <p:spPr>
          <a:xfrm>
            <a:off x="484200" y="5058366"/>
            <a:ext cx="5641550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lang="ko-KR" altLang="en-US" sz="1200" dirty="0"/>
              <a:t>농업은 </a:t>
            </a:r>
            <a:r>
              <a:rPr lang="en-US" altLang="ko-KR" sz="1200" dirty="0"/>
              <a:t>2050</a:t>
            </a:r>
            <a:r>
              <a:rPr lang="ko-KR" altLang="en-US" sz="1200" dirty="0"/>
              <a:t>년 중간투입비중이 감소하며 이는 </a:t>
            </a:r>
            <a:r>
              <a:rPr lang="ko-KR" altLang="en-US" sz="1200" b="1" dirty="0"/>
              <a:t>고부가가치형 농업구조</a:t>
            </a:r>
            <a:r>
              <a:rPr lang="ko-KR" altLang="en-US" sz="1200" dirty="0"/>
              <a:t>로의 변화로 해석 가능</a:t>
            </a:r>
            <a:r>
              <a:rPr lang="en-US" altLang="ko-KR" sz="1200" dirty="0"/>
              <a:t>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dirty="0"/>
              <a:t>서비스 산업은 </a:t>
            </a:r>
            <a:r>
              <a:rPr lang="en-US" altLang="ko-KR" sz="1200" dirty="0"/>
              <a:t>2019</a:t>
            </a:r>
            <a:r>
              <a:rPr lang="ko-KR" altLang="en-US" sz="1200" dirty="0"/>
              <a:t>년과 </a:t>
            </a:r>
            <a:r>
              <a:rPr lang="en-US" altLang="ko-KR" sz="1200" dirty="0"/>
              <a:t>2050</a:t>
            </a:r>
            <a:r>
              <a:rPr lang="ko-KR" altLang="en-US" sz="1200" dirty="0"/>
              <a:t>년 모두 중간투입비중이 낮아</a:t>
            </a:r>
            <a:r>
              <a:rPr lang="en-US" altLang="ko-KR" sz="1200" dirty="0"/>
              <a:t>, </a:t>
            </a:r>
            <a:r>
              <a:rPr lang="ko-KR" altLang="en-US" sz="1200" b="1" dirty="0"/>
              <a:t>부가가치 중심의 산업 구조를 유지</a:t>
            </a:r>
            <a:r>
              <a:rPr lang="en-US" altLang="ko-KR" sz="1200" b="1" dirty="0"/>
              <a:t>.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dirty="0"/>
              <a:t>기타 산업은 두 시점 모두 중간투입비중이 약 </a:t>
            </a:r>
            <a:r>
              <a:rPr lang="en-US" altLang="ko-KR" sz="1200" dirty="0"/>
              <a:t>0.75 </a:t>
            </a:r>
            <a:r>
              <a:rPr lang="ko-KR" altLang="en-US" sz="1200" dirty="0"/>
              <a:t>이상으로</a:t>
            </a:r>
            <a:r>
              <a:rPr lang="en-US" altLang="ko-KR" sz="1200" dirty="0"/>
              <a:t>, </a:t>
            </a:r>
            <a:r>
              <a:rPr lang="ko-KR" altLang="en-US" sz="1200" dirty="0"/>
              <a:t>중간재 의존도가 높은 전형적인 산업구조가 지속됨</a:t>
            </a:r>
            <a:r>
              <a:rPr lang="en-US" altLang="ko-KR" sz="1200" dirty="0"/>
              <a:t>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dirty="0"/>
              <a:t>전체적으로 산업별 투입구조는 문헌에서 제시된 산업연관표</a:t>
            </a:r>
            <a:r>
              <a:rPr lang="en-US" altLang="ko-KR" sz="1200" dirty="0"/>
              <a:t>(</a:t>
            </a:r>
            <a:r>
              <a:rPr lang="en" altLang="ko-KR" sz="1200" dirty="0"/>
              <a:t>IO)</a:t>
            </a:r>
            <a:r>
              <a:rPr lang="ko-KR" altLang="en-US" sz="1200" dirty="0"/>
              <a:t>의 특성과 부합하며</a:t>
            </a:r>
            <a:r>
              <a:rPr lang="en-US" altLang="ko-KR" sz="1200" dirty="0"/>
              <a:t>, </a:t>
            </a:r>
            <a:r>
              <a:rPr lang="ko-KR" altLang="en-US" sz="1200" dirty="0"/>
              <a:t>시계열적으로도 일관된 구조를 유지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84C78051-970F-EF50-3763-8564B1132E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6191799"/>
              </p:ext>
            </p:extLst>
          </p:nvPr>
        </p:nvGraphicFramePr>
        <p:xfrm>
          <a:off x="857253" y="1719866"/>
          <a:ext cx="4572000" cy="33627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7B483D38-EE4F-8557-F7B7-EC692633B2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716543"/>
              </p:ext>
            </p:extLst>
          </p:nvPr>
        </p:nvGraphicFramePr>
        <p:xfrm>
          <a:off x="6687433" y="1926835"/>
          <a:ext cx="4572000" cy="33386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65249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E3192-B892-81CA-208E-5C1F2023F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15A86A29-0920-DCDB-2E09-B50438B1CD5E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4568D6A-29E1-DE9A-12B4-C5CD3CDBF8C3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A6C25A3-03E5-D880-A422-6D768B193356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9A534C2-B812-D3BC-5FC5-23FF0C2FBDE1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421BBE8-E28E-3006-755C-DF1BF772E1F0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08F092E6-E513-274A-8918-0C9EF51AEC0A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27">
            <a:extLst>
              <a:ext uri="{FF2B5EF4-FFF2-40B4-BE49-F238E27FC236}">
                <a16:creationId xmlns:a16="http://schemas.microsoft.com/office/drawing/2014/main" id="{83F49236-7D7D-D77E-886F-486614424C51}"/>
              </a:ext>
            </a:extLst>
          </p:cNvPr>
          <p:cNvSpPr/>
          <p:nvPr/>
        </p:nvSpPr>
        <p:spPr>
          <a:xfrm>
            <a:off x="-2252700" y="1538244"/>
            <a:ext cx="80901" cy="313200"/>
          </a:xfrm>
          <a:custGeom>
            <a:avLst/>
            <a:gdLst/>
            <a:ahLst/>
            <a:cxnLst/>
            <a:rect l="l" t="t" r="r" b="b"/>
            <a:pathLst>
              <a:path w="927337" h="1334252">
                <a:moveTo>
                  <a:pt x="0" y="0"/>
                </a:moveTo>
                <a:lnTo>
                  <a:pt x="927337" y="0"/>
                </a:lnTo>
                <a:lnTo>
                  <a:pt x="269673" y="1334252"/>
                </a:lnTo>
                <a:lnTo>
                  <a:pt x="0" y="1334252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C8217D-5A77-75C7-E54F-12227BAFD37B}"/>
              </a:ext>
            </a:extLst>
          </p:cNvPr>
          <p:cNvSpPr txBox="1"/>
          <p:nvPr/>
        </p:nvSpPr>
        <p:spPr>
          <a:xfrm>
            <a:off x="700534" y="5350985"/>
            <a:ext cx="5057761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lang="ko-KR" altLang="en-US" sz="1200" dirty="0"/>
              <a:t>농업 부문은 </a:t>
            </a:r>
            <a:r>
              <a:rPr lang="en-US" altLang="ko-KR" sz="1200" dirty="0"/>
              <a:t>0.553 → 0.503</a:t>
            </a:r>
            <a:r>
              <a:rPr lang="ko-KR" altLang="en-US" sz="1200" dirty="0" err="1"/>
              <a:t>으로</a:t>
            </a:r>
            <a:r>
              <a:rPr lang="ko-KR" altLang="en-US" sz="1200" dirty="0"/>
              <a:t> 감소하며</a:t>
            </a:r>
            <a:r>
              <a:rPr lang="en-US" altLang="ko-KR" sz="1200" dirty="0"/>
              <a:t>, </a:t>
            </a:r>
            <a:r>
              <a:rPr lang="ko-KR" altLang="en-US" sz="1200" dirty="0"/>
              <a:t>중간재 투입 의존도가 낮아지는 경향을 보임</a:t>
            </a:r>
            <a:r>
              <a:rPr lang="en-US" altLang="ko-KR" sz="1200" dirty="0"/>
              <a:t>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dirty="0"/>
              <a:t>기타 산업은 </a:t>
            </a:r>
            <a:r>
              <a:rPr lang="en-US" altLang="ko-KR" sz="1200" dirty="0"/>
              <a:t>0.729 → 0.715</a:t>
            </a:r>
            <a:r>
              <a:rPr lang="ko-KR" altLang="en-US" sz="1200" dirty="0"/>
              <a:t>로 소폭 감소하며</a:t>
            </a:r>
            <a:r>
              <a:rPr lang="en-US" altLang="ko-KR" sz="1200" dirty="0"/>
              <a:t>, </a:t>
            </a:r>
            <a:r>
              <a:rPr lang="ko-KR" altLang="en-US" sz="1200" dirty="0"/>
              <a:t>전반적으로 안정적인 중간투입 구조를 유지함</a:t>
            </a:r>
            <a:r>
              <a:rPr lang="en-US" altLang="ko-KR" sz="1200" dirty="0"/>
              <a:t>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dirty="0"/>
              <a:t>서비스 산업은 소폭 증가하나</a:t>
            </a:r>
            <a:r>
              <a:rPr lang="en-US" altLang="ko-KR" sz="1200" dirty="0"/>
              <a:t>, </a:t>
            </a:r>
            <a:r>
              <a:rPr lang="ko-KR" altLang="en-US" sz="1200" dirty="0"/>
              <a:t>산업 구조 변화 수준에서 해석 가능함</a:t>
            </a:r>
            <a:r>
              <a:rPr lang="en-US" altLang="ko-KR" sz="1200" dirty="0"/>
              <a:t>.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6B13D2BF-48AF-1C87-2004-FD9FF879565B}"/>
              </a:ext>
            </a:extLst>
          </p:cNvPr>
          <p:cNvSpPr/>
          <p:nvPr/>
        </p:nvSpPr>
        <p:spPr>
          <a:xfrm>
            <a:off x="2293378" y="1526725"/>
            <a:ext cx="1850382" cy="4001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/>
              <a:t>03_</a:t>
            </a:r>
            <a:r>
              <a:rPr kumimoji="1" lang="ko-KR" altLang="en-US" sz="1400" b="1" dirty="0"/>
              <a:t>일본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1D8533E7-A68D-380C-20F1-42B8F47DA616}"/>
              </a:ext>
            </a:extLst>
          </p:cNvPr>
          <p:cNvSpPr/>
          <p:nvPr/>
        </p:nvSpPr>
        <p:spPr>
          <a:xfrm>
            <a:off x="8222027" y="1494789"/>
            <a:ext cx="1850382" cy="4001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/>
              <a:t>04_</a:t>
            </a:r>
            <a:r>
              <a:rPr kumimoji="1" lang="ko-KR" altLang="en-US" sz="1400" b="1" dirty="0"/>
              <a:t>러시아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FD766A-F010-D4AC-76A6-2BE78E4AD5A5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내적 정합성 검증</a:t>
            </a: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_ IO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구조 변화</a:t>
            </a:r>
            <a:endParaRPr kumimoji="0" lang="ko-KR" altLang="en-US" sz="1400" b="1" i="0" u="none" strike="noStrike" kern="0" cap="none" spc="-1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0163D8-1C19-A288-C714-44C1F15C360F}"/>
              </a:ext>
            </a:extLst>
          </p:cNvPr>
          <p:cNvSpPr txBox="1"/>
          <p:nvPr/>
        </p:nvSpPr>
        <p:spPr>
          <a:xfrm>
            <a:off x="6433707" y="5258651"/>
            <a:ext cx="5453493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농업 부문은 감소하여</a:t>
            </a:r>
            <a:r>
              <a:rPr lang="en-US" altLang="ko-KR" sz="1200" dirty="0"/>
              <a:t>, </a:t>
            </a:r>
            <a:r>
              <a:rPr lang="ko-KR" altLang="en-US" sz="1200" dirty="0"/>
              <a:t>기술 발전 및 효율화에 따른 중간투입 축소 경향과 일치함</a:t>
            </a:r>
            <a:r>
              <a:rPr lang="en-US" altLang="ko-KR" sz="1200" dirty="0"/>
              <a:t>.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기타 산업은 소폭 증가하며</a:t>
            </a:r>
            <a:r>
              <a:rPr lang="en-US" altLang="ko-KR" sz="1200" dirty="0"/>
              <a:t>, </a:t>
            </a:r>
            <a:r>
              <a:rPr lang="ko-KR" altLang="en-US" sz="1200" dirty="0"/>
              <a:t>구조적 안정성과 점진적 변화라는 정합성 반영</a:t>
            </a:r>
            <a:r>
              <a:rPr lang="en-US" altLang="ko-KR" sz="1200" dirty="0"/>
              <a:t>.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서비스 산업은 </a:t>
            </a:r>
            <a:r>
              <a:rPr lang="en-US" altLang="ko-KR" sz="1200" dirty="0"/>
              <a:t>0.334 → 0.360</a:t>
            </a:r>
            <a:r>
              <a:rPr lang="ko-KR" altLang="en-US" sz="1200" dirty="0" err="1"/>
              <a:t>으로</a:t>
            </a:r>
            <a:r>
              <a:rPr lang="ko-KR" altLang="en-US" sz="1200" dirty="0"/>
              <a:t> 증가하여</a:t>
            </a:r>
            <a:r>
              <a:rPr lang="en-US" altLang="ko-KR" sz="1200" dirty="0"/>
              <a:t>, </a:t>
            </a:r>
            <a:r>
              <a:rPr lang="ko-KR" altLang="en-US" sz="1200" dirty="0"/>
              <a:t>서비스 부문 확대 및 간접투입 증가 가능성을 반영한 구조 변화로 해석 가능함</a:t>
            </a:r>
            <a:r>
              <a:rPr lang="en-US" altLang="ko-KR" sz="1200" dirty="0"/>
              <a:t>.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전체적으로 산업별 변화는 </a:t>
            </a:r>
            <a:r>
              <a:rPr lang="en-US" altLang="ko-KR" sz="1200" dirty="0"/>
              <a:t>G-RDEM </a:t>
            </a:r>
            <a:r>
              <a:rPr lang="ko-KR" altLang="en-US" sz="1200" dirty="0"/>
              <a:t>문헌의 </a:t>
            </a:r>
            <a:r>
              <a:rPr lang="en-US" altLang="ko-KR" sz="1200" dirty="0"/>
              <a:t>IO </a:t>
            </a:r>
            <a:r>
              <a:rPr lang="ko-KR" altLang="en-US" sz="1200" dirty="0"/>
              <a:t>구조 전환 경향과 </a:t>
            </a:r>
            <a:r>
              <a:rPr lang="ko-KR" altLang="en-US" sz="1200" dirty="0" err="1"/>
              <a:t>정합적</a:t>
            </a:r>
            <a:endParaRPr lang="ko-KR" altLang="en-US" sz="1200" dirty="0"/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0610AA94-1EA0-D69E-2FF0-B0B83BD028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8120258"/>
              </p:ext>
            </p:extLst>
          </p:nvPr>
        </p:nvGraphicFramePr>
        <p:xfrm>
          <a:off x="943415" y="1942323"/>
          <a:ext cx="4572000" cy="3316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3BAC94FE-7855-2F87-5924-B764AEF10E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4610927"/>
              </p:ext>
            </p:extLst>
          </p:nvPr>
        </p:nvGraphicFramePr>
        <p:xfrm>
          <a:off x="6861218" y="1936394"/>
          <a:ext cx="4572000" cy="33034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53567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09BC8-BF14-85BB-CE4C-09B905190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0F47697D-56F1-07CC-791D-53A57B17A74C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E6C3317-5B6D-B600-C1BE-EA141BF21436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8240ABE-F43A-B5DD-AB4C-8E2278963BD2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01A6B70-6372-E385-D9A2-4166D5CD9AFF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C44E153-C126-DE7A-EAD0-3D79FB2550D3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E6DF12D9-63F0-012A-C146-2581DCC69B8C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27">
            <a:extLst>
              <a:ext uri="{FF2B5EF4-FFF2-40B4-BE49-F238E27FC236}">
                <a16:creationId xmlns:a16="http://schemas.microsoft.com/office/drawing/2014/main" id="{6FF18C23-2F40-17DE-AC63-23436D0F9294}"/>
              </a:ext>
            </a:extLst>
          </p:cNvPr>
          <p:cNvSpPr/>
          <p:nvPr/>
        </p:nvSpPr>
        <p:spPr>
          <a:xfrm>
            <a:off x="-2252700" y="1538244"/>
            <a:ext cx="80901" cy="313200"/>
          </a:xfrm>
          <a:custGeom>
            <a:avLst/>
            <a:gdLst/>
            <a:ahLst/>
            <a:cxnLst/>
            <a:rect l="l" t="t" r="r" b="b"/>
            <a:pathLst>
              <a:path w="927337" h="1334252">
                <a:moveTo>
                  <a:pt x="0" y="0"/>
                </a:moveTo>
                <a:lnTo>
                  <a:pt x="927337" y="0"/>
                </a:lnTo>
                <a:lnTo>
                  <a:pt x="269673" y="1334252"/>
                </a:lnTo>
                <a:lnTo>
                  <a:pt x="0" y="1334252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580B7-C816-3EFD-2D8F-73F6295840F8}"/>
              </a:ext>
            </a:extLst>
          </p:cNvPr>
          <p:cNvSpPr txBox="1"/>
          <p:nvPr/>
        </p:nvSpPr>
        <p:spPr>
          <a:xfrm>
            <a:off x="773890" y="5466909"/>
            <a:ext cx="5322110" cy="13849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lang="ko-KR" altLang="en-US" sz="1200" dirty="0"/>
              <a:t>농업 부문은 크게 감소하며</a:t>
            </a:r>
            <a:r>
              <a:rPr lang="en-US" altLang="ko-KR" sz="1200" dirty="0"/>
              <a:t>, </a:t>
            </a:r>
            <a:r>
              <a:rPr lang="en" altLang="ko-KR" sz="1200" dirty="0"/>
              <a:t>G-RDEM</a:t>
            </a:r>
            <a:r>
              <a:rPr lang="ko-KR" altLang="en-US" sz="1200" dirty="0"/>
              <a:t>이 제시한 기술 효율화 및 외부투입 축소 경향과 강하게 정합</a:t>
            </a:r>
            <a:r>
              <a:rPr lang="en-US" altLang="ko-KR" sz="1200" dirty="0"/>
              <a:t>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dirty="0"/>
              <a:t>기타 산업은 </a:t>
            </a:r>
            <a:r>
              <a:rPr lang="en-US" altLang="ko-KR" sz="1200" dirty="0"/>
              <a:t>0.920 → 0.925</a:t>
            </a:r>
            <a:r>
              <a:rPr lang="ko-KR" altLang="en-US" sz="1200" dirty="0"/>
              <a:t>로 매우 높은 수준에서 유지되며</a:t>
            </a:r>
            <a:r>
              <a:rPr lang="en-US" altLang="ko-KR" sz="1200" dirty="0"/>
              <a:t>, </a:t>
            </a:r>
            <a:r>
              <a:rPr lang="ko-KR" altLang="en-US" sz="1200" dirty="0"/>
              <a:t>중간재 의존도가 극단적으로 높은 고정형 구조</a:t>
            </a:r>
            <a:r>
              <a:rPr lang="en-US" altLang="ko-KR" sz="1200" dirty="0"/>
              <a:t>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dirty="0"/>
              <a:t>서비스 산업은 </a:t>
            </a:r>
            <a:r>
              <a:rPr lang="en-US" altLang="ko-KR" sz="1200" dirty="0"/>
              <a:t>0.545 → 0.668</a:t>
            </a:r>
            <a:r>
              <a:rPr lang="ko-KR" altLang="en-US" sz="1200" dirty="0"/>
              <a:t>로 뚜렷한 증가세를 보이며</a:t>
            </a:r>
            <a:r>
              <a:rPr lang="en-US" altLang="ko-KR" sz="1200" dirty="0"/>
              <a:t>, </a:t>
            </a:r>
            <a:r>
              <a:rPr lang="ko-KR" altLang="en-US" sz="1200" dirty="0"/>
              <a:t>서비스 확대 및 간접 투입 증가로</a:t>
            </a:r>
            <a:r>
              <a:rPr lang="en" altLang="ko-KR" sz="1200" dirty="0"/>
              <a:t> </a:t>
            </a:r>
            <a:r>
              <a:rPr lang="ko-KR" altLang="en-US" sz="1200" dirty="0"/>
              <a:t>구조 전환 경향을 반영함</a:t>
            </a:r>
            <a:r>
              <a:rPr lang="en-US" altLang="ko-KR" sz="1200" dirty="0"/>
              <a:t>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dirty="0"/>
              <a:t>전반적으로 산업 간 차별적 변화가 나타나며</a:t>
            </a:r>
            <a:r>
              <a:rPr lang="en-US" altLang="ko-KR" sz="1200" dirty="0"/>
              <a:t>, </a:t>
            </a:r>
            <a:r>
              <a:rPr lang="ko-KR" altLang="en-US" sz="1200" dirty="0"/>
              <a:t>중간투입 중심 구조가 강화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D5CF41-37AF-D807-4E5D-62479B840990}"/>
              </a:ext>
            </a:extLst>
          </p:cNvPr>
          <p:cNvSpPr txBox="1"/>
          <p:nvPr/>
        </p:nvSpPr>
        <p:spPr>
          <a:xfrm>
            <a:off x="6634636" y="5466909"/>
            <a:ext cx="532211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농업 부문은 감소하며</a:t>
            </a:r>
            <a:r>
              <a:rPr lang="en-US" altLang="ko-KR" sz="1200" dirty="0"/>
              <a:t>, </a:t>
            </a:r>
            <a:r>
              <a:rPr lang="ko-KR" altLang="en-US" sz="1200" dirty="0"/>
              <a:t>기술효율 향상 및 외부 투입으로 인해 내적정합성</a:t>
            </a:r>
            <a:r>
              <a:rPr lang="en-US" altLang="ko-KR" sz="1200" dirty="0"/>
              <a:t>.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기타 산업은 </a:t>
            </a:r>
            <a:r>
              <a:rPr lang="en-US" altLang="ko-KR" sz="1200" dirty="0"/>
              <a:t>0.995</a:t>
            </a:r>
            <a:r>
              <a:rPr lang="ko-KR" altLang="en-US" sz="1200" dirty="0"/>
              <a:t>로 두 시점 모두 매우 높은 중간투입비중을 유지해</a:t>
            </a:r>
            <a:r>
              <a:rPr lang="en-US" altLang="ko-KR" sz="1200" dirty="0"/>
              <a:t>, </a:t>
            </a:r>
            <a:r>
              <a:rPr lang="ko-KR" altLang="en-US" sz="1200" dirty="0"/>
              <a:t>극단적인 중간재 의존 구조가 고착화되어 있음</a:t>
            </a:r>
            <a:r>
              <a:rPr lang="en-US" altLang="ko-KR" sz="1200" dirty="0"/>
              <a:t>.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서비스 산업은 소폭 감소하며</a:t>
            </a:r>
            <a:r>
              <a:rPr lang="en-US" altLang="ko-KR" sz="1200" dirty="0"/>
              <a:t>, </a:t>
            </a:r>
            <a:r>
              <a:rPr lang="ko-KR" altLang="en-US" sz="1200" dirty="0"/>
              <a:t>서비스 구조 전환의 흐름은 약하게 나타남</a:t>
            </a:r>
            <a:r>
              <a:rPr lang="en-US" altLang="ko-KR" sz="1200" dirty="0"/>
              <a:t>.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전체적으로 산업 간 변화 폭은 제한적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89EAFBA-2EDB-A1B7-7AA0-962947136B4B}"/>
              </a:ext>
            </a:extLst>
          </p:cNvPr>
          <p:cNvSpPr/>
          <p:nvPr/>
        </p:nvSpPr>
        <p:spPr>
          <a:xfrm>
            <a:off x="2325767" y="1538244"/>
            <a:ext cx="1850382" cy="4001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/>
              <a:t>05_</a:t>
            </a:r>
            <a:r>
              <a:rPr kumimoji="1" lang="ko-KR" altLang="en-US" sz="1400" b="1" dirty="0"/>
              <a:t>몽골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894766F0-69DD-29C4-EC78-AD25828151CE}"/>
              </a:ext>
            </a:extLst>
          </p:cNvPr>
          <p:cNvSpPr/>
          <p:nvPr/>
        </p:nvSpPr>
        <p:spPr>
          <a:xfrm>
            <a:off x="8370500" y="1487352"/>
            <a:ext cx="1850382" cy="4001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/>
              <a:t>06_</a:t>
            </a:r>
            <a:r>
              <a:rPr kumimoji="1" lang="ko-KR" altLang="en-US" sz="1400" b="1" dirty="0"/>
              <a:t>북한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BD3F06F-BB5C-348C-EBD8-FDB662BC9B34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내적 정합성 검증</a:t>
            </a: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_ IO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구조 변화</a:t>
            </a:r>
            <a:endParaRPr kumimoji="0" lang="ko-KR" altLang="en-US" sz="1400" b="1" i="0" u="none" strike="noStrike" kern="0" cap="none" spc="-1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B69AF327-1974-5B5B-6BD3-7D92EF48A8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6347325"/>
              </p:ext>
            </p:extLst>
          </p:nvPr>
        </p:nvGraphicFramePr>
        <p:xfrm>
          <a:off x="964958" y="1938354"/>
          <a:ext cx="4572000" cy="33526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FFF027A2-F046-DE5B-96A5-CA67C611A7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0125156"/>
              </p:ext>
            </p:extLst>
          </p:nvPr>
        </p:nvGraphicFramePr>
        <p:xfrm>
          <a:off x="7009691" y="1950372"/>
          <a:ext cx="4572000" cy="3340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98875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52EC5-B053-781A-CA31-84B68B116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B6B5536C-7A81-529E-FE09-85FE3E17263B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86F415-81B4-CF50-773E-B52C9EFC02C8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02F924-3965-22B6-0CE7-C6C179E78BF2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 </a:t>
              </a:r>
              <a:r>
                <a:rPr lang="ko-KR" altLang="en-US" sz="2800" b="1" spc="-150" dirty="0">
                  <a:latin typeface="+mn-ea"/>
                </a:rPr>
                <a:t>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0F62660-E475-5F57-1C3E-7D864445343E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E63FE22-A12E-6246-0509-D634C8E054DF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1813C210-09D3-6D07-9297-6EA3B2796715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470A762-54AD-ECE5-4E69-DC5D954436AB}"/>
              </a:ext>
            </a:extLst>
          </p:cNvPr>
          <p:cNvGrpSpPr/>
          <p:nvPr/>
        </p:nvGrpSpPr>
        <p:grpSpPr>
          <a:xfrm>
            <a:off x="407373" y="1087242"/>
            <a:ext cx="9888962" cy="400110"/>
            <a:chOff x="456760" y="946438"/>
            <a:chExt cx="9888962" cy="40011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B9837A3-1E38-7958-35E4-8CB4BDCA5497}"/>
                </a:ext>
              </a:extLst>
            </p:cNvPr>
            <p:cNvSpPr/>
            <p:nvPr/>
          </p:nvSpPr>
          <p:spPr>
            <a:xfrm>
              <a:off x="611559" y="946438"/>
              <a:ext cx="9734163" cy="400110"/>
            </a:xfrm>
            <a:prstGeom prst="rect">
              <a:avLst/>
            </a:prstGeom>
          </p:spPr>
          <p:txBody>
            <a:bodyPr wrap="square" anchor="ctr" anchorCtr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결과 정리 및 </a:t>
              </a:r>
              <a:r>
                <a:rPr lang="en-US" altLang="ko-KR" sz="2000" b="1" kern="0" spc="-1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8</a:t>
              </a:r>
              <a:r>
                <a:rPr kumimoji="0" lang="ko-KR" altLang="en-US" sz="2000" b="1" i="0" u="none" strike="noStrike" kern="0" cap="none" spc="-150" normalizeH="0" baseline="0" noProof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월 연구 진행 방향</a:t>
              </a:r>
              <a:endParaRPr kumimoji="0" lang="ko-KR" altLang="en-US" sz="1400" b="1" i="0" u="none" strike="noStrike" kern="0" cap="none" spc="-15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1F497D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27">
              <a:extLst>
                <a:ext uri="{FF2B5EF4-FFF2-40B4-BE49-F238E27FC236}">
                  <a16:creationId xmlns:a16="http://schemas.microsoft.com/office/drawing/2014/main" id="{D996B5A5-108D-2A5E-40F5-22D0E3C57C84}"/>
                </a:ext>
              </a:extLst>
            </p:cNvPr>
            <p:cNvSpPr/>
            <p:nvPr/>
          </p:nvSpPr>
          <p:spPr>
            <a:xfrm>
              <a:off x="456760" y="1024183"/>
              <a:ext cx="80901" cy="313200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192AB8-F72F-E410-30CC-873BF5A24B17}"/>
              </a:ext>
            </a:extLst>
          </p:cNvPr>
          <p:cNvSpPr txBox="1">
            <a:spLocks/>
          </p:cNvSpPr>
          <p:nvPr/>
        </p:nvSpPr>
        <p:spPr bwMode="auto">
          <a:xfrm>
            <a:off x="318050" y="5693013"/>
            <a:ext cx="11555900" cy="398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457200" indent="-4572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1800" b="1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4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457200">
              <a:lnSpc>
                <a:spcPct val="150000"/>
              </a:lnSpc>
              <a:buNone/>
              <a:defRPr/>
            </a:pPr>
            <a:r>
              <a:rPr lang="en-US" altLang="ko-KR" sz="1500" i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 sz="1500" i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월 연구에서는</a:t>
            </a:r>
            <a:r>
              <a:rPr lang="en-US" altLang="ko-KR" sz="1500" i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500" i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기타 내적정합성 분석 및 글로벌 모형 내 최종 결과물 제시 방식에 대해 추가적 연구 진행 예정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6CD242E-5A7A-D779-35BA-CD711FF20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371440"/>
              </p:ext>
            </p:extLst>
          </p:nvPr>
        </p:nvGraphicFramePr>
        <p:xfrm>
          <a:off x="890684" y="1752220"/>
          <a:ext cx="10410632" cy="3353560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1388548">
                  <a:extLst>
                    <a:ext uri="{9D8B030D-6E8A-4147-A177-3AD203B41FA5}">
                      <a16:colId xmlns:a16="http://schemas.microsoft.com/office/drawing/2014/main" val="1414374805"/>
                    </a:ext>
                  </a:extLst>
                </a:gridCol>
                <a:gridCol w="3816768">
                  <a:extLst>
                    <a:ext uri="{9D8B030D-6E8A-4147-A177-3AD203B41FA5}">
                      <a16:colId xmlns:a16="http://schemas.microsoft.com/office/drawing/2014/main" val="3247154435"/>
                    </a:ext>
                  </a:extLst>
                </a:gridCol>
                <a:gridCol w="2437728">
                  <a:extLst>
                    <a:ext uri="{9D8B030D-6E8A-4147-A177-3AD203B41FA5}">
                      <a16:colId xmlns:a16="http://schemas.microsoft.com/office/drawing/2014/main" val="1051328928"/>
                    </a:ext>
                  </a:extLst>
                </a:gridCol>
                <a:gridCol w="2767588">
                  <a:extLst>
                    <a:ext uri="{9D8B030D-6E8A-4147-A177-3AD203B41FA5}">
                      <a16:colId xmlns:a16="http://schemas.microsoft.com/office/drawing/2014/main" val="3858493224"/>
                    </a:ext>
                  </a:extLst>
                </a:gridCol>
              </a:tblGrid>
              <a:tr h="333016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국가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" sz="1100" b="1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IO </a:t>
                      </a:r>
                      <a:r>
                        <a:rPr lang="ko-KR" altLang="en-US" sz="1100" b="1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구조 변화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정합성 평가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100" b="1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사유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872934"/>
                  </a:ext>
                </a:extLst>
              </a:tr>
              <a:tr h="50241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한국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농업 중간투입 축소</a:t>
                      </a: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기타 산업 소폭 증가</a:t>
                      </a: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서비스 증가 </a:t>
                      </a:r>
                      <a:endParaRPr lang="en-US" altLang="ko-KR" sz="1100" b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b"/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→ 구조전환 반영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내적 정합성 ⭕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변화폭 안정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2994817"/>
                  </a:ext>
                </a:extLst>
              </a:tr>
              <a:tr h="50241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중국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농업 축소</a:t>
                      </a: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기타</a:t>
                      </a: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서비스 중간투입 증가 → 산업 확장형 구조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내적 정합성 ⭕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서비스 중간투입 </a:t>
                      </a:r>
                      <a:r>
                        <a:rPr lang="ko-KR" alt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증가폭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큼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/>
                </a:tc>
                <a:extLst>
                  <a:ext uri="{0D108BD9-81ED-4DB2-BD59-A6C34878D82A}">
                    <a16:rowId xmlns:a16="http://schemas.microsoft.com/office/drawing/2014/main" val="3149006842"/>
                  </a:ext>
                </a:extLst>
              </a:tr>
              <a:tr h="50241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일본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 산업 안정적 변화</a:t>
                      </a: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기타 산업 비중 미세 감소 </a:t>
                      </a:r>
                      <a:endParaRPr lang="en-US" altLang="ko-KR" sz="1100" b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b"/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→ 고정형 구조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내적 정합성 ⭕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산업 간 변화폭 작고 일관성 유지됨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/>
                </a:tc>
                <a:extLst>
                  <a:ext uri="{0D108BD9-81ED-4DB2-BD59-A6C34878D82A}">
                    <a16:rowId xmlns:a16="http://schemas.microsoft.com/office/drawing/2014/main" val="3192740687"/>
                  </a:ext>
                </a:extLst>
              </a:tr>
              <a:tr h="50241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러시아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농업</a:t>
                      </a: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서비스 축소</a:t>
                      </a: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기타 산업 비중 소폭 증가 </a:t>
                      </a:r>
                      <a:endParaRPr lang="en-US" altLang="ko-KR" sz="1100" b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b"/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→ 전통적 산업구조 유지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△ 부분 정합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저축률 감소에도 중간투입비중 정체</a:t>
                      </a: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algn="ctr"/>
                      <a:r>
                        <a:rPr lang="ko-KR" altLang="en-US" sz="1100" dirty="0"/>
                        <a:t>서비스 비중 확대 미흡</a:t>
                      </a:r>
                      <a:r>
                        <a:rPr lang="en-US" altLang="ko-KR" sz="1100" dirty="0"/>
                        <a:t>, </a:t>
                      </a:r>
                    </a:p>
                    <a:p>
                      <a:pPr algn="ctr"/>
                      <a:r>
                        <a:rPr lang="ko-KR" altLang="en-US" sz="1100" dirty="0"/>
                        <a:t>자원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제조 중심 구조 고착</a:t>
                      </a:r>
                    </a:p>
                  </a:txBody>
                  <a:tcPr marL="5569" marR="5569" marT="5569" marB="0" anchor="ctr"/>
                </a:tc>
                <a:extLst>
                  <a:ext uri="{0D108BD9-81ED-4DB2-BD59-A6C34878D82A}">
                    <a16:rowId xmlns:a16="http://schemas.microsoft.com/office/drawing/2014/main" val="1679173126"/>
                  </a:ext>
                </a:extLst>
              </a:tr>
              <a:tr h="50241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몽골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농업 급감</a:t>
                      </a: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서비스 급증</a:t>
                      </a: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기타 산업 고중간투입 고착 </a:t>
                      </a:r>
                      <a:endParaRPr lang="en-US" altLang="ko-KR" sz="1100" b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b"/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→ </a:t>
                      </a:r>
                      <a:r>
                        <a:rPr lang="ko-KR" alt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비균형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구조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△ 부분 정합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기타 산업 </a:t>
                      </a:r>
                      <a:r>
                        <a:rPr lang="en-US" altLang="ko-KR" sz="1100" dirty="0"/>
                        <a:t>0.92 </a:t>
                      </a:r>
                      <a:r>
                        <a:rPr lang="ko-KR" altLang="en-US" sz="1100" dirty="0"/>
                        <a:t>이상 고중간투입 고착 </a:t>
                      </a:r>
                      <a:endParaRPr lang="en-US" altLang="ko-KR" sz="1100" dirty="0"/>
                    </a:p>
                    <a:p>
                      <a:r>
                        <a:rPr lang="ko-KR" altLang="en-US" sz="1100" dirty="0"/>
                        <a:t>→ 서비스 증가에도 산업 불균형 심화</a:t>
                      </a:r>
                    </a:p>
                  </a:txBody>
                  <a:tcPr marL="5569" marR="5569" marT="5569" marB="0" anchor="ctr"/>
                </a:tc>
                <a:extLst>
                  <a:ext uri="{0D108BD9-81ED-4DB2-BD59-A6C34878D82A}">
                    <a16:rowId xmlns:a16="http://schemas.microsoft.com/office/drawing/2014/main" val="1054626670"/>
                  </a:ext>
                </a:extLst>
              </a:tr>
              <a:tr h="50241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북한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기타 산업 </a:t>
                      </a: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0.995 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고정</a:t>
                      </a: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서비스</a:t>
                      </a: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농업도 정체 </a:t>
                      </a:r>
                      <a:endParaRPr lang="en-US" altLang="ko-KR" sz="1100" b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b"/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→ </a:t>
                      </a:r>
                      <a:r>
                        <a:rPr lang="ko-KR" alt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구조경직성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극단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내적 정합성 ❌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기타 산업 과잉의존</a:t>
                      </a: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산업 구조 조정 미진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69" marR="5569" marT="5569" marB="0" anchor="ctr"/>
                </a:tc>
                <a:extLst>
                  <a:ext uri="{0D108BD9-81ED-4DB2-BD59-A6C34878D82A}">
                    <a16:rowId xmlns:a16="http://schemas.microsoft.com/office/drawing/2014/main" val="1625486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3704652"/>
      </p:ext>
    </p:extLst>
  </p:cSld>
  <p:clrMapOvr>
    <a:masterClrMapping/>
  </p:clrMapOvr>
</p:sld>
</file>

<file path=ppt/theme/theme1.xml><?xml version="1.0" encoding="utf-8"?>
<a:theme xmlns:a="http://schemas.openxmlformats.org/drawingml/2006/main" name="GUIDE_국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UIDE_영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bcc02bb-509a-425a-b41f-7dc2c5cd775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0D053D10722644188575BD2C78AF005" ma:contentTypeVersion="16" ma:contentTypeDescription="새 문서를 만듭니다." ma:contentTypeScope="" ma:versionID="c9529d07e5af284fedacb9d1258482c7">
  <xsd:schema xmlns:xsd="http://www.w3.org/2001/XMLSchema" xmlns:xs="http://www.w3.org/2001/XMLSchema" xmlns:p="http://schemas.microsoft.com/office/2006/metadata/properties" xmlns:ns3="5bcc02bb-509a-425a-b41f-7dc2c5cd7755" xmlns:ns4="252bf9ee-d2f4-4a1e-9c28-929a2dfbc213" targetNamespace="http://schemas.microsoft.com/office/2006/metadata/properties" ma:root="true" ma:fieldsID="bb00bcfd29a48aaaaa3cce92a6d1829a" ns3:_="" ns4:_="">
    <xsd:import namespace="5bcc02bb-509a-425a-b41f-7dc2c5cd7755"/>
    <xsd:import namespace="252bf9ee-d2f4-4a1e-9c28-929a2dfbc21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cc02bb-509a-425a-b41f-7dc2c5cd77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2bf9ee-d2f4-4a1e-9c28-929a2dfbc21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힌트 해시 공유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2EBBC4-9355-4057-9D3D-A638392C9843}">
  <ds:schemaRefs>
    <ds:schemaRef ds:uri="http://schemas.microsoft.com/office/2006/metadata/properties"/>
    <ds:schemaRef ds:uri="http://schemas.microsoft.com/office/infopath/2007/PartnerControls"/>
    <ds:schemaRef ds:uri="5bcc02bb-509a-425a-b41f-7dc2c5cd7755"/>
  </ds:schemaRefs>
</ds:datastoreItem>
</file>

<file path=customXml/itemProps2.xml><?xml version="1.0" encoding="utf-8"?>
<ds:datastoreItem xmlns:ds="http://schemas.openxmlformats.org/officeDocument/2006/customXml" ds:itemID="{BB56DC51-5717-4C38-B98E-3306631306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cc02bb-509a-425a-b41f-7dc2c5cd7755"/>
    <ds:schemaRef ds:uri="252bf9ee-d2f4-4a1e-9c28-929a2dfbc2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91D3DFC-3009-466B-9B79-683949CA2B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11674</TotalTime>
  <Words>1624</Words>
  <Application>Microsoft Macintosh PowerPoint</Application>
  <PresentationFormat>와이드스크린</PresentationFormat>
  <Paragraphs>254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나눔고딕</vt:lpstr>
      <vt:lpstr>맑은 고딕</vt:lpstr>
      <vt:lpstr>맑은 고딕</vt:lpstr>
      <vt:lpstr>NanumBarunGothicOTF</vt:lpstr>
      <vt:lpstr>Arial</vt:lpstr>
      <vt:lpstr>Cambria Math</vt:lpstr>
      <vt:lpstr>Wingdings</vt:lpstr>
      <vt:lpstr>GUIDE_국문</vt:lpstr>
      <vt:lpstr>GUIDE_영문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KSS</dc:creator>
  <cp:lastModifiedBy>이한결</cp:lastModifiedBy>
  <cp:revision>340</cp:revision>
  <dcterms:created xsi:type="dcterms:W3CDTF">2018-07-09T07:43:46Z</dcterms:created>
  <dcterms:modified xsi:type="dcterms:W3CDTF">2025-07-25T15:59:05Z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0x01010050D053D10722644188575BD2C78AF005</vt:lpwstr>
  </property>
</Properties>
</file>