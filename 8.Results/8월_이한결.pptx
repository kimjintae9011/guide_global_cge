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1" r:id="rId5"/>
  </p:sldMasterIdLst>
  <p:notesMasterIdLst>
    <p:notesMasterId r:id="rId17"/>
  </p:notesMasterIdLst>
  <p:handoutMasterIdLst>
    <p:handoutMasterId r:id="rId18"/>
  </p:handoutMasterIdLst>
  <p:sldIdLst>
    <p:sldId id="3781" r:id="rId6"/>
    <p:sldId id="3771" r:id="rId7"/>
    <p:sldId id="3789" r:id="rId8"/>
    <p:sldId id="3792" r:id="rId9"/>
    <p:sldId id="3783" r:id="rId10"/>
    <p:sldId id="3793" r:id="rId11"/>
    <p:sldId id="3794" r:id="rId12"/>
    <p:sldId id="3795" r:id="rId13"/>
    <p:sldId id="3796" r:id="rId14"/>
    <p:sldId id="3797" r:id="rId15"/>
    <p:sldId id="379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p15="http://schemas.microsoft.com/office/powerpoint/2012/main" xmlns:go="http://customooxmlschemas.google.com/" roundtripDataSignature="AMtx7mhNA0fD7cqUszQJtVzHpjliEsXVTA==" r:id="rId178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INTAE KI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AFAF"/>
    <a:srgbClr val="E8F5FA"/>
    <a:srgbClr val="E45D5B"/>
    <a:srgbClr val="DBE9F5"/>
    <a:srgbClr val="FCE6FE"/>
    <a:srgbClr val="1E4649"/>
    <a:srgbClr val="385D8A"/>
    <a:srgbClr val="F8FDFF"/>
    <a:srgbClr val="D6EDF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55" autoAdjust="0"/>
    <p:restoredTop sz="94388" autoAdjust="0"/>
  </p:normalViewPr>
  <p:slideViewPr>
    <p:cSldViewPr snapToGrid="0" showGuides="1">
      <p:cViewPr varScale="1">
        <p:scale>
          <a:sx n="109" d="100"/>
          <a:sy n="109" d="100"/>
        </p:scale>
        <p:origin x="192" y="2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18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179" Type="http://schemas.openxmlformats.org/officeDocument/2006/relationships/commentAuthors" Target="commentAuthors.xml"/><Relationship Id="rId18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178" Type="http://customschemas.google.com/relationships/presentationmetadata" Target="meta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81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18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8&#4363;&#4463;&#4527;%20&#4363;&#4463;&#4527;&#4357;&#4456;&#4370;&#446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8&#4363;&#4463;&#4527;%20&#4363;&#4463;&#4527;&#4357;&#4456;&#4370;&#446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8&#4363;&#4463;&#4527;%20&#4363;&#4463;&#4527;&#4357;&#4456;&#4370;&#446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8&#4363;&#4463;&#4527;%20&#4363;&#4463;&#4527;&#4357;&#4456;&#4370;&#446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8&#4363;&#4463;&#4527;%20&#4363;&#4463;&#4527;&#4357;&#4456;&#4370;&#4460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hangyeol/Desktop/&#4363;&#4455;&#4523;&#4352;&#4462;&#4368;&#4469;&#4535;%20&#4352;&#4458;&#4523;&#4357;&#4455;&#4523;%20&#4364;&#4449;&#4520;&#4363;&#4453;&#4536;/8&#4363;&#4463;&#4527;%20&#4363;&#4463;&#4527;&#4357;&#4456;&#4370;&#446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한국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'KOREA 2019'!$B$102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'KOREA 2019'!$C$100:$H$101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'KOREA 2019'!$C$102:$H$102</c:f>
              <c:numCache>
                <c:formatCode>0.0000_);[Red]\(0.0000\)</c:formatCode>
                <c:ptCount val="6"/>
                <c:pt idx="0">
                  <c:v>0.30347968661999997</c:v>
                </c:pt>
                <c:pt idx="1">
                  <c:v>0.30214084577400002</c:v>
                </c:pt>
                <c:pt idx="2">
                  <c:v>3.12845636971347</c:v>
                </c:pt>
                <c:pt idx="3">
                  <c:v>3.1040689958198642</c:v>
                </c:pt>
                <c:pt idx="4">
                  <c:v>0.89426312701197308</c:v>
                </c:pt>
                <c:pt idx="5">
                  <c:v>0.9693796137788564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F9-F546-A5F5-8E9FA27B151A}"/>
            </c:ext>
          </c:extLst>
        </c:ser>
        <c:ser>
          <c:idx val="1"/>
          <c:order val="1"/>
          <c:tx>
            <c:strRef>
              <c:f>'KOREA 2019'!$B$103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'KOREA 2019'!$C$100:$H$101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'KOREA 2019'!$C$103:$H$103</c:f>
              <c:numCache>
                <c:formatCode>0.0000_);[Red]\(0.0000\)</c:formatCode>
                <c:ptCount val="6"/>
                <c:pt idx="0">
                  <c:v>8.3933368846599993E-3</c:v>
                </c:pt>
                <c:pt idx="1">
                  <c:v>4.6341643184999995E-3</c:v>
                </c:pt>
                <c:pt idx="2">
                  <c:v>12.29613597199244</c:v>
                </c:pt>
                <c:pt idx="3">
                  <c:v>7.2979747258054575</c:v>
                </c:pt>
                <c:pt idx="4">
                  <c:v>0.126449366246526</c:v>
                </c:pt>
                <c:pt idx="5">
                  <c:v>7.0236877602549E-2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F9-F546-A5F5-8E9FA27B151A}"/>
            </c:ext>
          </c:extLst>
        </c:ser>
        <c:ser>
          <c:idx val="2"/>
          <c:order val="2"/>
          <c:tx>
            <c:strRef>
              <c:f>'KOREA 2019'!$B$104</c:f>
              <c:strCache>
                <c:ptCount val="1"/>
                <c:pt idx="0">
                  <c:v>3. 소비재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'KOREA 2019'!$C$100:$H$101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'KOREA 2019'!$C$104:$H$104</c:f>
              <c:numCache>
                <c:formatCode>0.0000_);[Red]\(0.0000\)</c:formatCode>
                <c:ptCount val="6"/>
                <c:pt idx="0">
                  <c:v>0.82734944910999997</c:v>
                </c:pt>
                <c:pt idx="1">
                  <c:v>0.89584433915950001</c:v>
                </c:pt>
                <c:pt idx="2">
                  <c:v>13.533531932799672</c:v>
                </c:pt>
                <c:pt idx="3">
                  <c:v>16.1808939887216</c:v>
                </c:pt>
                <c:pt idx="4">
                  <c:v>8.1080275778610389</c:v>
                </c:pt>
                <c:pt idx="5">
                  <c:v>9.7704355556987341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F9-F546-A5F5-8E9FA27B151A}"/>
            </c:ext>
          </c:extLst>
        </c:ser>
        <c:ser>
          <c:idx val="3"/>
          <c:order val="3"/>
          <c:tx>
            <c:strRef>
              <c:f>'KOREA 2019'!$B$105</c:f>
              <c:strCache>
                <c:ptCount val="1"/>
                <c:pt idx="0">
                  <c:v>4. 기초소재제품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'KOREA 2019'!$C$100:$H$101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'KOREA 2019'!$C$105:$H$105</c:f>
              <c:numCache>
                <c:formatCode>0.0000_);[Red]\(0.0000\)</c:formatCode>
                <c:ptCount val="6"/>
                <c:pt idx="0">
                  <c:v>0.46124024246897999</c:v>
                </c:pt>
                <c:pt idx="1">
                  <c:v>0.38032060067702</c:v>
                </c:pt>
                <c:pt idx="2">
                  <c:v>43.21264532788193</c:v>
                </c:pt>
                <c:pt idx="3">
                  <c:v>40.937964768580045</c:v>
                </c:pt>
                <c:pt idx="4">
                  <c:v>7.3623938801146203</c:v>
                </c:pt>
                <c:pt idx="5">
                  <c:v>5.8691222402142991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F9-F546-A5F5-8E9FA27B151A}"/>
            </c:ext>
          </c:extLst>
        </c:ser>
        <c:ser>
          <c:idx val="4"/>
          <c:order val="4"/>
          <c:tx>
            <c:strRef>
              <c:f>'KOREA 2019'!$B$106</c:f>
              <c:strCache>
                <c:ptCount val="1"/>
                <c:pt idx="0">
                  <c:v>5. 조립가공제품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'KOREA 2019'!$C$100:$H$101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'KOREA 2019'!$C$106:$H$106</c:f>
              <c:numCache>
                <c:formatCode>0.0000_);[Red]\(0.0000\)</c:formatCode>
                <c:ptCount val="6"/>
                <c:pt idx="0">
                  <c:v>6.2985092712000007E-2</c:v>
                </c:pt>
                <c:pt idx="1">
                  <c:v>6.4478604836299996E-2</c:v>
                </c:pt>
                <c:pt idx="2">
                  <c:v>42.347770693095995</c:v>
                </c:pt>
                <c:pt idx="3">
                  <c:v>50.055110244331999</c:v>
                </c:pt>
                <c:pt idx="4">
                  <c:v>5.3113643627760005</c:v>
                </c:pt>
                <c:pt idx="5">
                  <c:v>5.7916670214152992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F9-F546-A5F5-8E9FA27B151A}"/>
            </c:ext>
          </c:extLst>
        </c:ser>
        <c:ser>
          <c:idx val="5"/>
          <c:order val="5"/>
          <c:tx>
            <c:strRef>
              <c:f>'KOREA 2019'!$B$107</c:f>
              <c:strCache>
                <c:ptCount val="1"/>
                <c:pt idx="0">
                  <c:v>6. 전력가스수도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'KOREA 2019'!$C$100:$H$101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'KOREA 2019'!$C$107:$H$107</c:f>
              <c:numCache>
                <c:formatCode>0.0000_);[Red]\(0.0000\)</c:formatCode>
                <c:ptCount val="6"/>
                <c:pt idx="0">
                  <c:v>0.17600107869161999</c:v>
                </c:pt>
                <c:pt idx="1">
                  <c:v>0.11819043188913801</c:v>
                </c:pt>
                <c:pt idx="2">
                  <c:v>5.654689780933051</c:v>
                </c:pt>
                <c:pt idx="3">
                  <c:v>3.6257696553234644</c:v>
                </c:pt>
                <c:pt idx="4">
                  <c:v>2.34384737115984</c:v>
                </c:pt>
                <c:pt idx="5">
                  <c:v>1.5420717652095561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F9-F546-A5F5-8E9FA27B151A}"/>
            </c:ext>
          </c:extLst>
        </c:ser>
        <c:ser>
          <c:idx val="6"/>
          <c:order val="6"/>
          <c:tx>
            <c:strRef>
              <c:f>'KOREA 2019'!$B$108</c:f>
              <c:strCache>
                <c:ptCount val="1"/>
                <c:pt idx="0">
                  <c:v>7. 건설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'KOREA 2019'!$C$100:$H$101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'KOREA 2019'!$C$108:$H$108</c:f>
              <c:numCache>
                <c:formatCode>0.0000_);[Red]\(0.0000\)</c:formatCode>
                <c:ptCount val="6"/>
                <c:pt idx="0">
                  <c:v>7.0299670920000012E-3</c:v>
                </c:pt>
                <c:pt idx="1">
                  <c:v>9.1101530489999978E-3</c:v>
                </c:pt>
                <c:pt idx="2">
                  <c:v>0.19341686877929004</c:v>
                </c:pt>
                <c:pt idx="3">
                  <c:v>0.30039918127382997</c:v>
                </c:pt>
                <c:pt idx="4">
                  <c:v>1.0744671758366</c:v>
                </c:pt>
                <c:pt idx="5">
                  <c:v>1.5152978650031999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F9-F546-A5F5-8E9FA27B151A}"/>
            </c:ext>
          </c:extLst>
        </c:ser>
        <c:ser>
          <c:idx val="7"/>
          <c:order val="7"/>
          <c:tx>
            <c:strRef>
              <c:f>'KOREA 2019'!$B$109</c:f>
              <c:strCache>
                <c:ptCount val="1"/>
                <c:pt idx="0">
                  <c:v>8. 서비스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'KOREA 2019'!$C$100:$H$101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'KOREA 2019'!$C$109:$H$109</c:f>
              <c:numCache>
                <c:formatCode>0.0000_);[Red]\(0.0000\)</c:formatCode>
                <c:ptCount val="6"/>
                <c:pt idx="0">
                  <c:v>0.53722981090735999</c:v>
                </c:pt>
                <c:pt idx="1">
                  <c:v>0.67150780526012999</c:v>
                </c:pt>
                <c:pt idx="2">
                  <c:v>26.976360803613893</c:v>
                </c:pt>
                <c:pt idx="3">
                  <c:v>37.987074188640591</c:v>
                </c:pt>
                <c:pt idx="4">
                  <c:v>44.440203390298073</c:v>
                </c:pt>
                <c:pt idx="5">
                  <c:v>59.700254425803514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FF9-F546-A5F5-8E9FA27B1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60185808"/>
        <c:axId val="1060995632"/>
      </c:barChart>
      <c:catAx>
        <c:axId val="106018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995632"/>
        <c:crosses val="autoZero"/>
        <c:auto val="1"/>
        <c:lblAlgn val="ctr"/>
        <c:lblOffset val="100"/>
        <c:noMultiLvlLbl val="0"/>
      </c:catAx>
      <c:valAx>
        <c:axId val="1060995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18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중국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CHINA_2050!$A$103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CHINA_2050!$B$101:$G$102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CHINA_2050!$B$103:$G$103</c:f>
              <c:numCache>
                <c:formatCode>0.00_);[Red]\(0.00\)</c:formatCode>
                <c:ptCount val="6"/>
                <c:pt idx="0">
                  <c:v>16.3188820222</c:v>
                </c:pt>
                <c:pt idx="1">
                  <c:v>36.994466590000002</c:v>
                </c:pt>
                <c:pt idx="2">
                  <c:v>90.06629191600733</c:v>
                </c:pt>
                <c:pt idx="3">
                  <c:v>209.85849181269865</c:v>
                </c:pt>
                <c:pt idx="4">
                  <c:v>12.636048482832631</c:v>
                </c:pt>
                <c:pt idx="5">
                  <c:v>29.037922936875102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5B-D042-978B-B915AC654183}"/>
            </c:ext>
          </c:extLst>
        </c:ser>
        <c:ser>
          <c:idx val="1"/>
          <c:order val="1"/>
          <c:tx>
            <c:strRef>
              <c:f>CHINA_2050!$A$104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CHINA_2050!$B$101:$G$102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CHINA_2050!$B$104:$G$104</c:f>
              <c:numCache>
                <c:formatCode>0.00_);[Red]\(0.00\)</c:formatCode>
                <c:ptCount val="6"/>
                <c:pt idx="0">
                  <c:v>0.32496812807409997</c:v>
                </c:pt>
                <c:pt idx="1">
                  <c:v>0.25830826743020002</c:v>
                </c:pt>
                <c:pt idx="2">
                  <c:v>129.6762535121492</c:v>
                </c:pt>
                <c:pt idx="3">
                  <c:v>226.45928164569182</c:v>
                </c:pt>
                <c:pt idx="4">
                  <c:v>1.1300214228999539</c:v>
                </c:pt>
                <c:pt idx="5">
                  <c:v>1.1668159812356205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5B-D042-978B-B915AC654183}"/>
            </c:ext>
          </c:extLst>
        </c:ser>
        <c:ser>
          <c:idx val="2"/>
          <c:order val="2"/>
          <c:tx>
            <c:strRef>
              <c:f>CHINA_2050!$A$105</c:f>
              <c:strCache>
                <c:ptCount val="1"/>
                <c:pt idx="0">
                  <c:v>3. 소비재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CHINA_2050!$B$101:$G$102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CHINA_2050!$B$105:$G$105</c:f>
              <c:numCache>
                <c:formatCode>0.00_);[Red]\(0.00\)</c:formatCode>
                <c:ptCount val="6"/>
                <c:pt idx="0">
                  <c:v>12.999907624822402</c:v>
                </c:pt>
                <c:pt idx="1">
                  <c:v>27.502246315584998</c:v>
                </c:pt>
                <c:pt idx="2">
                  <c:v>217.05489813625604</c:v>
                </c:pt>
                <c:pt idx="3">
                  <c:v>503.95707301911239</c:v>
                </c:pt>
                <c:pt idx="4">
                  <c:v>75.414533747034923</c:v>
                </c:pt>
                <c:pt idx="5">
                  <c:v>160.75029704243531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5B-D042-978B-B915AC654183}"/>
            </c:ext>
          </c:extLst>
        </c:ser>
        <c:ser>
          <c:idx val="3"/>
          <c:order val="3"/>
          <c:tx>
            <c:strRef>
              <c:f>CHINA_2050!$A$106</c:f>
              <c:strCache>
                <c:ptCount val="1"/>
                <c:pt idx="0">
                  <c:v>4. 기초소재제품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CHINA_2050!$B$101:$G$102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CHINA_2050!$B$106:$G$106</c:f>
              <c:numCache>
                <c:formatCode>0.00_);[Red]\(0.00\)</c:formatCode>
                <c:ptCount val="6"/>
                <c:pt idx="0">
                  <c:v>14.098970312276004</c:v>
                </c:pt>
                <c:pt idx="1">
                  <c:v>25.556727786564998</c:v>
                </c:pt>
                <c:pt idx="2">
                  <c:v>526.26659529983158</c:v>
                </c:pt>
                <c:pt idx="3">
                  <c:v>1305.4576591770237</c:v>
                </c:pt>
                <c:pt idx="4">
                  <c:v>65.623388019550006</c:v>
                </c:pt>
                <c:pt idx="5">
                  <c:v>104.19316512807357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E5B-D042-978B-B915AC654183}"/>
            </c:ext>
          </c:extLst>
        </c:ser>
        <c:ser>
          <c:idx val="4"/>
          <c:order val="4"/>
          <c:tx>
            <c:strRef>
              <c:f>CHINA_2050!$A$107</c:f>
              <c:strCache>
                <c:ptCount val="1"/>
                <c:pt idx="0">
                  <c:v>5. 조립가공제품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CHINA_2050!$B$101:$G$102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CHINA_2050!$B$107:$G$107</c:f>
              <c:numCache>
                <c:formatCode>0.00_);[Red]\(0.00\)</c:formatCode>
                <c:ptCount val="6"/>
                <c:pt idx="0">
                  <c:v>1.87292248373</c:v>
                </c:pt>
                <c:pt idx="1">
                  <c:v>3.9052795077520002</c:v>
                </c:pt>
                <c:pt idx="2">
                  <c:v>346.91199571200917</c:v>
                </c:pt>
                <c:pt idx="3">
                  <c:v>996.07749044285436</c:v>
                </c:pt>
                <c:pt idx="4">
                  <c:v>70.049699261119997</c:v>
                </c:pt>
                <c:pt idx="5">
                  <c:v>150.92619770886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5B-D042-978B-B915AC654183}"/>
            </c:ext>
          </c:extLst>
        </c:ser>
        <c:ser>
          <c:idx val="5"/>
          <c:order val="5"/>
          <c:tx>
            <c:strRef>
              <c:f>CHINA_2050!$A$108</c:f>
              <c:strCache>
                <c:ptCount val="1"/>
                <c:pt idx="0">
                  <c:v>6. 전력가스수도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CHINA_2050!$B$101:$G$102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CHINA_2050!$B$108:$G$108</c:f>
              <c:numCache>
                <c:formatCode>0.00_);[Red]\(0.00\)</c:formatCode>
                <c:ptCount val="6"/>
                <c:pt idx="0">
                  <c:v>1.1294981081274</c:v>
                </c:pt>
                <c:pt idx="1">
                  <c:v>1.00824669947652</c:v>
                </c:pt>
                <c:pt idx="2">
                  <c:v>51.538146367911843</c:v>
                </c:pt>
                <c:pt idx="3">
                  <c:v>45.804714007699168</c:v>
                </c:pt>
                <c:pt idx="4">
                  <c:v>12.53585157318599</c:v>
                </c:pt>
                <c:pt idx="5">
                  <c:v>11.146819411219175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E5B-D042-978B-B915AC654183}"/>
            </c:ext>
          </c:extLst>
        </c:ser>
        <c:ser>
          <c:idx val="6"/>
          <c:order val="6"/>
          <c:tx>
            <c:strRef>
              <c:f>CHINA_2050!$A$109</c:f>
              <c:strCache>
                <c:ptCount val="1"/>
                <c:pt idx="0">
                  <c:v>7. 건설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CHINA_2050!$B$101:$G$102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CHINA_2050!$B$109:$G$109</c:f>
              <c:numCache>
                <c:formatCode>0.00_);[Red]\(0.00\)</c:formatCode>
                <c:ptCount val="6"/>
                <c:pt idx="0">
                  <c:v>0.13429202924</c:v>
                </c:pt>
                <c:pt idx="1">
                  <c:v>0.28763302499999999</c:v>
                </c:pt>
                <c:pt idx="2">
                  <c:v>13.244865237944541</c:v>
                </c:pt>
                <c:pt idx="3">
                  <c:v>43.559475176474997</c:v>
                </c:pt>
                <c:pt idx="4">
                  <c:v>5.7482129426814002</c:v>
                </c:pt>
                <c:pt idx="5">
                  <c:v>12.535275689999999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E5B-D042-978B-B915AC654183}"/>
            </c:ext>
          </c:extLst>
        </c:ser>
        <c:ser>
          <c:idx val="7"/>
          <c:order val="7"/>
          <c:tx>
            <c:strRef>
              <c:f>CHINA_2050!$A$110</c:f>
              <c:strCache>
                <c:ptCount val="1"/>
                <c:pt idx="0">
                  <c:v>8. 서비스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CHINA_2050!$B$101:$G$102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CHINA_2050!$B$110:$G$110</c:f>
              <c:numCache>
                <c:formatCode>0.00_);[Red]\(0.00\)</c:formatCode>
                <c:ptCount val="6"/>
                <c:pt idx="0">
                  <c:v>14.004460700229998</c:v>
                </c:pt>
                <c:pt idx="1">
                  <c:v>29.147219004918</c:v>
                </c:pt>
                <c:pt idx="2">
                  <c:v>339.25615981946731</c:v>
                </c:pt>
                <c:pt idx="3">
                  <c:v>935.63738123714165</c:v>
                </c:pt>
                <c:pt idx="4">
                  <c:v>427.45089537112898</c:v>
                </c:pt>
                <c:pt idx="5">
                  <c:v>929.6671252261624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E5B-D042-978B-B915AC6541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60185808"/>
        <c:axId val="1060995632"/>
      </c:barChart>
      <c:catAx>
        <c:axId val="106018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995632"/>
        <c:crosses val="autoZero"/>
        <c:auto val="1"/>
        <c:lblAlgn val="ctr"/>
        <c:lblOffset val="100"/>
        <c:noMultiLvlLbl val="0"/>
      </c:catAx>
      <c:valAx>
        <c:axId val="1060995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18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일본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'JAPAN 2019'!$A$102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'JAPAN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'JAPAN 2019'!$B$102:$G$102</c:f>
              <c:numCache>
                <c:formatCode>0.00_);[Red]\(0.00\)</c:formatCode>
                <c:ptCount val="6"/>
                <c:pt idx="0">
                  <c:v>0.72877746180000003</c:v>
                </c:pt>
                <c:pt idx="1">
                  <c:v>0.77892221078599999</c:v>
                </c:pt>
                <c:pt idx="2">
                  <c:v>7.476495535119378</c:v>
                </c:pt>
                <c:pt idx="3">
                  <c:v>8.4485581201353579</c:v>
                </c:pt>
                <c:pt idx="4">
                  <c:v>1.4677931708379799</c:v>
                </c:pt>
                <c:pt idx="5">
                  <c:v>1.7308490991957894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AB-BF42-B5EF-2B55B67BBA69}"/>
            </c:ext>
          </c:extLst>
        </c:ser>
        <c:ser>
          <c:idx val="1"/>
          <c:order val="1"/>
          <c:tx>
            <c:strRef>
              <c:f>'JAPAN 2019'!$A$103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'JAPAN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'JAPAN 2019'!$B$103:$G$103</c:f>
              <c:numCache>
                <c:formatCode>0.00_);[Red]\(0.00\)</c:formatCode>
                <c:ptCount val="6"/>
                <c:pt idx="0">
                  <c:v>1.5918010113099998E-2</c:v>
                </c:pt>
                <c:pt idx="1">
                  <c:v>9.4377155517400002E-3</c:v>
                </c:pt>
                <c:pt idx="2">
                  <c:v>15.424554787652902</c:v>
                </c:pt>
                <c:pt idx="3">
                  <c:v>10.171061712021624</c:v>
                </c:pt>
                <c:pt idx="4">
                  <c:v>4.9081237332564989E-2</c:v>
                </c:pt>
                <c:pt idx="5">
                  <c:v>3.4108868272003504E-2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AB-BF42-B5EF-2B55B67BBA69}"/>
            </c:ext>
          </c:extLst>
        </c:ser>
        <c:ser>
          <c:idx val="2"/>
          <c:order val="2"/>
          <c:tx>
            <c:strRef>
              <c:f>'JAPAN 2019'!$A$104</c:f>
              <c:strCache>
                <c:ptCount val="1"/>
                <c:pt idx="0">
                  <c:v>3. 소비재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'JAPAN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'JAPAN 2019'!$B$104:$G$104</c:f>
              <c:numCache>
                <c:formatCode>0.00_);[Red]\(0.00\)</c:formatCode>
                <c:ptCount val="6"/>
                <c:pt idx="0">
                  <c:v>1.705023654773</c:v>
                </c:pt>
                <c:pt idx="1">
                  <c:v>1.818466422205</c:v>
                </c:pt>
                <c:pt idx="2">
                  <c:v>20.099587988975145</c:v>
                </c:pt>
                <c:pt idx="3">
                  <c:v>21.536046973199287</c:v>
                </c:pt>
                <c:pt idx="4">
                  <c:v>18.646933227047498</c:v>
                </c:pt>
                <c:pt idx="5">
                  <c:v>21.916006608010967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AB-BF42-B5EF-2B55B67BBA69}"/>
            </c:ext>
          </c:extLst>
        </c:ser>
        <c:ser>
          <c:idx val="3"/>
          <c:order val="3"/>
          <c:tx>
            <c:strRef>
              <c:f>'JAPAN 2019'!$A$105</c:f>
              <c:strCache>
                <c:ptCount val="1"/>
                <c:pt idx="0">
                  <c:v>4. 기초소재제품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'JAPAN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'JAPAN 2019'!$B$105:$G$105</c:f>
              <c:numCache>
                <c:formatCode>0.00_);[Red]\(0.00\)</c:formatCode>
                <c:ptCount val="6"/>
                <c:pt idx="0">
                  <c:v>1.3218057563908601</c:v>
                </c:pt>
                <c:pt idx="1">
                  <c:v>1.0601353061187211</c:v>
                </c:pt>
                <c:pt idx="2">
                  <c:v>99.744561503285993</c:v>
                </c:pt>
                <c:pt idx="3">
                  <c:v>93.33918409326813</c:v>
                </c:pt>
                <c:pt idx="4">
                  <c:v>22.372269343631231</c:v>
                </c:pt>
                <c:pt idx="5">
                  <c:v>19.428057633904558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AB-BF42-B5EF-2B55B67BBA69}"/>
            </c:ext>
          </c:extLst>
        </c:ser>
        <c:ser>
          <c:idx val="4"/>
          <c:order val="4"/>
          <c:tx>
            <c:strRef>
              <c:f>'JAPAN 2019'!$A$106</c:f>
              <c:strCache>
                <c:ptCount val="1"/>
                <c:pt idx="0">
                  <c:v>5. 조립가공제품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'JAPAN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'JAPAN 2019'!$B$106:$G$106</c:f>
              <c:numCache>
                <c:formatCode>0.00_);[Red]\(0.00\)</c:formatCode>
                <c:ptCount val="6"/>
                <c:pt idx="0">
                  <c:v>9.1892690659000006E-2</c:v>
                </c:pt>
                <c:pt idx="1">
                  <c:v>9.5558284867800006E-2</c:v>
                </c:pt>
                <c:pt idx="2">
                  <c:v>62.817381015691694</c:v>
                </c:pt>
                <c:pt idx="3">
                  <c:v>67.471702464608441</c:v>
                </c:pt>
                <c:pt idx="4">
                  <c:v>9.0775594061441005</c:v>
                </c:pt>
                <c:pt idx="5">
                  <c:v>10.19697310711374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AB-BF42-B5EF-2B55B67BBA69}"/>
            </c:ext>
          </c:extLst>
        </c:ser>
        <c:ser>
          <c:idx val="5"/>
          <c:order val="5"/>
          <c:tx>
            <c:strRef>
              <c:f>'JAPAN 2019'!$A$107</c:f>
              <c:strCache>
                <c:ptCount val="1"/>
                <c:pt idx="0">
                  <c:v>6. 전력가스수도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'JAPAN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'JAPAN 2019'!$B$107:$G$107</c:f>
              <c:numCache>
                <c:formatCode>0.00_);[Red]\(0.00\)</c:formatCode>
                <c:ptCount val="6"/>
                <c:pt idx="0">
                  <c:v>6.9329668283040005E-2</c:v>
                </c:pt>
                <c:pt idx="1">
                  <c:v>5.6673882400038005E-2</c:v>
                </c:pt>
                <c:pt idx="2">
                  <c:v>13.088793025950796</c:v>
                </c:pt>
                <c:pt idx="3">
                  <c:v>9.894613358902637</c:v>
                </c:pt>
                <c:pt idx="4">
                  <c:v>7.8866555015931361</c:v>
                </c:pt>
                <c:pt idx="5">
                  <c:v>6.3707299819619294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0AB-BF42-B5EF-2B55B67BBA69}"/>
            </c:ext>
          </c:extLst>
        </c:ser>
        <c:ser>
          <c:idx val="6"/>
          <c:order val="6"/>
          <c:tx>
            <c:strRef>
              <c:f>'JAPAN 2019'!$A$108</c:f>
              <c:strCache>
                <c:ptCount val="1"/>
                <c:pt idx="0">
                  <c:v>7. 건설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'JAPAN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'JAPAN 2019'!$B$108:$G$108</c:f>
              <c:numCache>
                <c:formatCode>0.00_);[Red]\(0.00\)</c:formatCode>
                <c:ptCount val="6"/>
                <c:pt idx="0">
                  <c:v>6.5024574875499994E-2</c:v>
                </c:pt>
                <c:pt idx="1">
                  <c:v>7.6831730863999997E-2</c:v>
                </c:pt>
                <c:pt idx="2">
                  <c:v>2.8426267857950052</c:v>
                </c:pt>
                <c:pt idx="3">
                  <c:v>3.6268694816549996</c:v>
                </c:pt>
                <c:pt idx="4">
                  <c:v>7.4921238511934396</c:v>
                </c:pt>
                <c:pt idx="5">
                  <c:v>9.7538930115703995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AB-BF42-B5EF-2B55B67BBA69}"/>
            </c:ext>
          </c:extLst>
        </c:ser>
        <c:ser>
          <c:idx val="7"/>
          <c:order val="7"/>
          <c:tx>
            <c:strRef>
              <c:f>'JAPAN 2019'!$A$109</c:f>
              <c:strCache>
                <c:ptCount val="1"/>
                <c:pt idx="0">
                  <c:v>8. 서비스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'JAPAN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'JAPAN 2019'!$B$109:$G$109</c:f>
              <c:numCache>
                <c:formatCode>0.00_);[Red]\(0.00\)</c:formatCode>
                <c:ptCount val="6"/>
                <c:pt idx="0">
                  <c:v>2.1813303386734</c:v>
                </c:pt>
                <c:pt idx="1">
                  <c:v>2.4614384761613999</c:v>
                </c:pt>
                <c:pt idx="2">
                  <c:v>81.792097923581238</c:v>
                </c:pt>
                <c:pt idx="3">
                  <c:v>96.019301789897284</c:v>
                </c:pt>
                <c:pt idx="4">
                  <c:v>148.05202238612563</c:v>
                </c:pt>
                <c:pt idx="5">
                  <c:v>184.21309879819009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0AB-BF42-B5EF-2B55B67BBA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60185808"/>
        <c:axId val="1060995632"/>
      </c:barChart>
      <c:catAx>
        <c:axId val="106018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995632"/>
        <c:crosses val="autoZero"/>
        <c:auto val="1"/>
        <c:lblAlgn val="ctr"/>
        <c:lblOffset val="100"/>
        <c:noMultiLvlLbl val="0"/>
      </c:catAx>
      <c:valAx>
        <c:axId val="1060995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18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러시아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'RUSSIA 2019'!$A$102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'RUSSIA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'RUSSIA 2019'!$B$102:$G$102</c:f>
              <c:numCache>
                <c:formatCode>0.00_);[Red]\(0.00\)</c:formatCode>
                <c:ptCount val="6"/>
                <c:pt idx="0">
                  <c:v>0.77825535185000005</c:v>
                </c:pt>
                <c:pt idx="1">
                  <c:v>1.2607076670000001</c:v>
                </c:pt>
                <c:pt idx="2">
                  <c:v>5.1020554886951723</c:v>
                </c:pt>
                <c:pt idx="3">
                  <c:v>8.3446318810793354</c:v>
                </c:pt>
                <c:pt idx="4">
                  <c:v>0.35592379775247501</c:v>
                </c:pt>
                <c:pt idx="5">
                  <c:v>0.55658777980412988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CE-F84F-9212-7FC53F3793D6}"/>
            </c:ext>
          </c:extLst>
        </c:ser>
        <c:ser>
          <c:idx val="1"/>
          <c:order val="1"/>
          <c:tx>
            <c:strRef>
              <c:f>'RUSSIA 2019'!$A$103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'RUSSIA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'RUSSIA 2019'!$B$103:$G$103</c:f>
              <c:numCache>
                <c:formatCode>0.00_);[Red]\(0.00\)</c:formatCode>
                <c:ptCount val="6"/>
                <c:pt idx="0">
                  <c:v>7.2307416087600005E-3</c:v>
                </c:pt>
                <c:pt idx="1">
                  <c:v>7.6882681683280007E-3</c:v>
                </c:pt>
                <c:pt idx="2">
                  <c:v>16.84415868280842</c:v>
                </c:pt>
                <c:pt idx="3">
                  <c:v>16.973929130860842</c:v>
                </c:pt>
                <c:pt idx="4">
                  <c:v>0.10367452215172002</c:v>
                </c:pt>
                <c:pt idx="5">
                  <c:v>0.134555731225736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CE-F84F-9212-7FC53F3793D6}"/>
            </c:ext>
          </c:extLst>
        </c:ser>
        <c:ser>
          <c:idx val="2"/>
          <c:order val="2"/>
          <c:tx>
            <c:strRef>
              <c:f>'RUSSIA 2019'!$A$104</c:f>
              <c:strCache>
                <c:ptCount val="1"/>
                <c:pt idx="0">
                  <c:v>3. 소비재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'RUSSIA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'RUSSIA 2019'!$B$104:$G$104</c:f>
              <c:numCache>
                <c:formatCode>0.00_);[Red]\(0.00\)</c:formatCode>
                <c:ptCount val="6"/>
                <c:pt idx="0">
                  <c:v>1.6816058172815</c:v>
                </c:pt>
                <c:pt idx="1">
                  <c:v>2.6694444923735006</c:v>
                </c:pt>
                <c:pt idx="2">
                  <c:v>4.4938059778668746</c:v>
                </c:pt>
                <c:pt idx="3">
                  <c:v>6.8137085031791003</c:v>
                </c:pt>
                <c:pt idx="4">
                  <c:v>2.3267107483580403</c:v>
                </c:pt>
                <c:pt idx="5">
                  <c:v>3.5424885978263587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CE-F84F-9212-7FC53F3793D6}"/>
            </c:ext>
          </c:extLst>
        </c:ser>
        <c:ser>
          <c:idx val="3"/>
          <c:order val="3"/>
          <c:tx>
            <c:strRef>
              <c:f>'RUSSIA 2019'!$A$105</c:f>
              <c:strCache>
                <c:ptCount val="1"/>
                <c:pt idx="0">
                  <c:v>4. 기초소재제품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'RUSSIA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'RUSSIA 2019'!$B$105:$G$105</c:f>
              <c:numCache>
                <c:formatCode>0.00_);[Red]\(0.00\)</c:formatCode>
                <c:ptCount val="6"/>
                <c:pt idx="0">
                  <c:v>0.51660324271464997</c:v>
                </c:pt>
                <c:pt idx="1">
                  <c:v>0.65978339833335586</c:v>
                </c:pt>
                <c:pt idx="2">
                  <c:v>16.212171015603726</c:v>
                </c:pt>
                <c:pt idx="3">
                  <c:v>16.357345581220084</c:v>
                </c:pt>
                <c:pt idx="4">
                  <c:v>5.00325894531671</c:v>
                </c:pt>
                <c:pt idx="5">
                  <c:v>5.7909164822508243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CE-F84F-9212-7FC53F3793D6}"/>
            </c:ext>
          </c:extLst>
        </c:ser>
        <c:ser>
          <c:idx val="4"/>
          <c:order val="4"/>
          <c:tx>
            <c:strRef>
              <c:f>'RUSSIA 2019'!$A$106</c:f>
              <c:strCache>
                <c:ptCount val="1"/>
                <c:pt idx="0">
                  <c:v>5. 조립가공제품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'RUSSIA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'RUSSIA 2019'!$B$106:$G$106</c:f>
              <c:numCache>
                <c:formatCode>0.00_);[Red]\(0.00\)</c:formatCode>
                <c:ptCount val="6"/>
                <c:pt idx="0">
                  <c:v>0.24393199075200001</c:v>
                </c:pt>
                <c:pt idx="1">
                  <c:v>0.3607136924421</c:v>
                </c:pt>
                <c:pt idx="2">
                  <c:v>10.251144104841691</c:v>
                </c:pt>
                <c:pt idx="3">
                  <c:v>10.676264706526384</c:v>
                </c:pt>
                <c:pt idx="4">
                  <c:v>3.7595946490640006</c:v>
                </c:pt>
                <c:pt idx="5">
                  <c:v>5.4172933633997999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CE-F84F-9212-7FC53F3793D6}"/>
            </c:ext>
          </c:extLst>
        </c:ser>
        <c:ser>
          <c:idx val="5"/>
          <c:order val="5"/>
          <c:tx>
            <c:strRef>
              <c:f>'RUSSIA 2019'!$A$107</c:f>
              <c:strCache>
                <c:ptCount val="1"/>
                <c:pt idx="0">
                  <c:v>6. 전력가스수도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'RUSSIA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'RUSSIA 2019'!$B$107:$G$107</c:f>
              <c:numCache>
                <c:formatCode>0.00_);[Red]\(0.00\)</c:formatCode>
                <c:ptCount val="6"/>
                <c:pt idx="0">
                  <c:v>0.40856872150599999</c:v>
                </c:pt>
                <c:pt idx="1">
                  <c:v>0.413728579534</c:v>
                </c:pt>
                <c:pt idx="2">
                  <c:v>12.515284799807565</c:v>
                </c:pt>
                <c:pt idx="3">
                  <c:v>12.579711110426729</c:v>
                </c:pt>
                <c:pt idx="4">
                  <c:v>4.2993627823570861</c:v>
                </c:pt>
                <c:pt idx="5">
                  <c:v>4.3476328859205084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8CE-F84F-9212-7FC53F3793D6}"/>
            </c:ext>
          </c:extLst>
        </c:ser>
        <c:ser>
          <c:idx val="6"/>
          <c:order val="6"/>
          <c:tx>
            <c:strRef>
              <c:f>'RUSSIA 2019'!$A$108</c:f>
              <c:strCache>
                <c:ptCount val="1"/>
                <c:pt idx="0">
                  <c:v>7. 건설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'RUSSIA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'RUSSIA 2019'!$B$108:$G$108</c:f>
              <c:numCache>
                <c:formatCode>0.00_);[Red]\(0.00\)</c:formatCode>
                <c:ptCount val="6"/>
                <c:pt idx="0">
                  <c:v>3.1761050727000001E-2</c:v>
                </c:pt>
                <c:pt idx="1">
                  <c:v>4.5813269005399997E-2</c:v>
                </c:pt>
                <c:pt idx="2">
                  <c:v>1.9136274519008611</c:v>
                </c:pt>
                <c:pt idx="3">
                  <c:v>2.1162512759583185</c:v>
                </c:pt>
                <c:pt idx="4">
                  <c:v>2.7227074608351001</c:v>
                </c:pt>
                <c:pt idx="5">
                  <c:v>3.7957630104214601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CE-F84F-9212-7FC53F3793D6}"/>
            </c:ext>
          </c:extLst>
        </c:ser>
        <c:ser>
          <c:idx val="7"/>
          <c:order val="7"/>
          <c:tx>
            <c:strRef>
              <c:f>'RUSSIA 2019'!$A$109</c:f>
              <c:strCache>
                <c:ptCount val="1"/>
                <c:pt idx="0">
                  <c:v>8. 서비스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'RUSSIA 2019'!$B$100:$G$101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'RUSSIA 2019'!$B$109:$G$109</c:f>
              <c:numCache>
                <c:formatCode>0.00_);[Red]\(0.00\)</c:formatCode>
                <c:ptCount val="6"/>
                <c:pt idx="0">
                  <c:v>0.87021896422459999</c:v>
                </c:pt>
                <c:pt idx="1">
                  <c:v>1.41780040668732</c:v>
                </c:pt>
                <c:pt idx="2">
                  <c:v>27.320297549193935</c:v>
                </c:pt>
                <c:pt idx="3">
                  <c:v>37.489397744011313</c:v>
                </c:pt>
                <c:pt idx="4">
                  <c:v>41.236973011979721</c:v>
                </c:pt>
                <c:pt idx="5">
                  <c:v>64.942349470100595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8CE-F84F-9212-7FC53F379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60185808"/>
        <c:axId val="1060995632"/>
      </c:barChart>
      <c:catAx>
        <c:axId val="106018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995632"/>
        <c:crosses val="autoZero"/>
        <c:auto val="1"/>
        <c:lblAlgn val="ctr"/>
        <c:lblOffset val="100"/>
        <c:noMultiLvlLbl val="0"/>
      </c:catAx>
      <c:valAx>
        <c:axId val="1060995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18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몽골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몽골2019!$A$102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몽골2019!$B$100:$G$101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몽골2019!$B$102:$G$102</c:f>
              <c:numCache>
                <c:formatCode>0.00_);[Red]\(0.00\)</c:formatCode>
                <c:ptCount val="6"/>
                <c:pt idx="0">
                  <c:v>6.9131621967999995E-3</c:v>
                </c:pt>
                <c:pt idx="1">
                  <c:v>2.7119916636E-2</c:v>
                </c:pt>
                <c:pt idx="2">
                  <c:v>4.694867029452577E-2</c:v>
                </c:pt>
                <c:pt idx="3">
                  <c:v>0.16316581891561799</c:v>
                </c:pt>
                <c:pt idx="4">
                  <c:v>5.3450844806152004E-3</c:v>
                </c:pt>
                <c:pt idx="5">
                  <c:v>1.6290356640942999E-2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E4-994B-80E6-3A2FAA119AA2}"/>
            </c:ext>
          </c:extLst>
        </c:ser>
        <c:ser>
          <c:idx val="1"/>
          <c:order val="1"/>
          <c:tx>
            <c:strRef>
              <c:f>몽골2019!$A$103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몽골2019!$B$100:$G$101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몽골2019!$B$103:$G$103</c:f>
              <c:numCache>
                <c:formatCode>0.00_);[Red]\(0.00\)</c:formatCode>
                <c:ptCount val="6"/>
                <c:pt idx="0">
                  <c:v>1.3150152530700001E-4</c:v>
                </c:pt>
                <c:pt idx="1">
                  <c:v>1.505929637254E-4</c:v>
                </c:pt>
                <c:pt idx="2">
                  <c:v>7.021334139878796E-2</c:v>
                </c:pt>
                <c:pt idx="3">
                  <c:v>0.14144158451082756</c:v>
                </c:pt>
                <c:pt idx="4">
                  <c:v>5.5012794291490006E-3</c:v>
                </c:pt>
                <c:pt idx="5">
                  <c:v>5.124477460235E-3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E4-994B-80E6-3A2FAA119AA2}"/>
            </c:ext>
          </c:extLst>
        </c:ser>
        <c:ser>
          <c:idx val="2"/>
          <c:order val="2"/>
          <c:tx>
            <c:strRef>
              <c:f>몽골2019!$A$104</c:f>
              <c:strCache>
                <c:ptCount val="1"/>
                <c:pt idx="0">
                  <c:v>3. 소비재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몽골2019!$B$100:$G$101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몽골2019!$B$104:$G$104</c:f>
              <c:numCache>
                <c:formatCode>0.00_);[Red]\(0.00\)</c:formatCode>
                <c:ptCount val="6"/>
                <c:pt idx="0">
                  <c:v>2.6311042317443E-3</c:v>
                </c:pt>
                <c:pt idx="1">
                  <c:v>9.9394536176959994E-3</c:v>
                </c:pt>
                <c:pt idx="2">
                  <c:v>4.022219375495141E-2</c:v>
                </c:pt>
                <c:pt idx="3">
                  <c:v>0.15462639075619003</c:v>
                </c:pt>
                <c:pt idx="4">
                  <c:v>4.430156758744979E-2</c:v>
                </c:pt>
                <c:pt idx="5">
                  <c:v>0.13198825538278297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E4-994B-80E6-3A2FAA119AA2}"/>
            </c:ext>
          </c:extLst>
        </c:ser>
        <c:ser>
          <c:idx val="3"/>
          <c:order val="3"/>
          <c:tx>
            <c:strRef>
              <c:f>몽골2019!$A$105</c:f>
              <c:strCache>
                <c:ptCount val="1"/>
                <c:pt idx="0">
                  <c:v>4. 기초소재제품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몽골2019!$B$100:$G$101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몽골2019!$B$105:$G$105</c:f>
              <c:numCache>
                <c:formatCode>0.00_);[Red]\(0.00\)</c:formatCode>
                <c:ptCount val="6"/>
                <c:pt idx="0">
                  <c:v>1.1507544819579501E-2</c:v>
                </c:pt>
                <c:pt idx="1">
                  <c:v>2.5426672664692004E-2</c:v>
                </c:pt>
                <c:pt idx="2">
                  <c:v>0.15445128244483838</c:v>
                </c:pt>
                <c:pt idx="3">
                  <c:v>0.49809257106097693</c:v>
                </c:pt>
                <c:pt idx="4">
                  <c:v>8.3656163381247289E-2</c:v>
                </c:pt>
                <c:pt idx="5">
                  <c:v>0.15601345853364001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E4-994B-80E6-3A2FAA119AA2}"/>
            </c:ext>
          </c:extLst>
        </c:ser>
        <c:ser>
          <c:idx val="4"/>
          <c:order val="4"/>
          <c:tx>
            <c:strRef>
              <c:f>몽골2019!$A$106</c:f>
              <c:strCache>
                <c:ptCount val="1"/>
                <c:pt idx="0">
                  <c:v>5. 조립가공제품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몽골2019!$B$100:$G$101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몽골2019!$B$106:$G$106</c:f>
              <c:numCache>
                <c:formatCode>0.00_);[Red]\(0.00\)</c:formatCode>
                <c:ptCount val="6"/>
                <c:pt idx="0">
                  <c:v>2.2805213520399998E-3</c:v>
                </c:pt>
                <c:pt idx="1">
                  <c:v>1.1044118429999999E-2</c:v>
                </c:pt>
                <c:pt idx="2">
                  <c:v>8.5793972655070494E-2</c:v>
                </c:pt>
                <c:pt idx="3">
                  <c:v>0.40875956191122498</c:v>
                </c:pt>
                <c:pt idx="4">
                  <c:v>4.6526828907210008E-2</c:v>
                </c:pt>
                <c:pt idx="5">
                  <c:v>0.17816336170091998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E4-994B-80E6-3A2FAA119AA2}"/>
            </c:ext>
          </c:extLst>
        </c:ser>
        <c:ser>
          <c:idx val="5"/>
          <c:order val="5"/>
          <c:tx>
            <c:strRef>
              <c:f>몽골2019!$A$107</c:f>
              <c:strCache>
                <c:ptCount val="1"/>
                <c:pt idx="0">
                  <c:v>6. 전력가스수도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몽골2019!$B$100:$G$101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몽골2019!$B$107:$G$107</c:f>
              <c:numCache>
                <c:formatCode>0.00_);[Red]\(0.00\)</c:formatCode>
                <c:ptCount val="6"/>
                <c:pt idx="0">
                  <c:v>2.0202613273559997E-3</c:v>
                </c:pt>
                <c:pt idx="1">
                  <c:v>2.2370802015999995E-3</c:v>
                </c:pt>
                <c:pt idx="2">
                  <c:v>8.4818408803361958E-2</c:v>
                </c:pt>
                <c:pt idx="3">
                  <c:v>9.3735354051018016E-2</c:v>
                </c:pt>
                <c:pt idx="4">
                  <c:v>0.10022919146177039</c:v>
                </c:pt>
                <c:pt idx="5">
                  <c:v>0.11072093756870399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E4-994B-80E6-3A2FAA119AA2}"/>
            </c:ext>
          </c:extLst>
        </c:ser>
        <c:ser>
          <c:idx val="6"/>
          <c:order val="6"/>
          <c:tx>
            <c:strRef>
              <c:f>몽골2019!$A$108</c:f>
              <c:strCache>
                <c:ptCount val="1"/>
                <c:pt idx="0">
                  <c:v>7. 건설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몽골2019!$B$100:$G$101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몽골2019!$B$108:$G$108</c:f>
              <c:numCache>
                <c:formatCode>0.00_);[Red]\(0.00\)</c:formatCode>
                <c:ptCount val="6"/>
                <c:pt idx="0">
                  <c:v>2.9149373140000001E-4</c:v>
                </c:pt>
                <c:pt idx="1">
                  <c:v>1.3005294209600001E-3</c:v>
                </c:pt>
                <c:pt idx="2">
                  <c:v>7.2081767685171994E-2</c:v>
                </c:pt>
                <c:pt idx="3">
                  <c:v>0.33172063825731601</c:v>
                </c:pt>
                <c:pt idx="4">
                  <c:v>1.4787893149471997E-2</c:v>
                </c:pt>
                <c:pt idx="5">
                  <c:v>5.1308089971880001E-2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E4-994B-80E6-3A2FAA119AA2}"/>
            </c:ext>
          </c:extLst>
        </c:ser>
        <c:ser>
          <c:idx val="7"/>
          <c:order val="7"/>
          <c:tx>
            <c:strRef>
              <c:f>몽골2019!$A$109</c:f>
              <c:strCache>
                <c:ptCount val="1"/>
                <c:pt idx="0">
                  <c:v>8. 서비스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몽골2019!$B$100:$G$101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몽골2019!$B$109:$G$109</c:f>
              <c:numCache>
                <c:formatCode>0.00_);[Red]\(0.00\)</c:formatCode>
                <c:ptCount val="6"/>
                <c:pt idx="0">
                  <c:v>2.1440419518466002E-2</c:v>
                </c:pt>
                <c:pt idx="1">
                  <c:v>8.5739564326867995E-2</c:v>
                </c:pt>
                <c:pt idx="2">
                  <c:v>0.27188024291281671</c:v>
                </c:pt>
                <c:pt idx="3">
                  <c:v>1.094159012004366</c:v>
                </c:pt>
                <c:pt idx="4">
                  <c:v>0.19293888819322572</c:v>
                </c:pt>
                <c:pt idx="5">
                  <c:v>0.60620873194613611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DE4-994B-80E6-3A2FAA119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60185808"/>
        <c:axId val="1060995632"/>
      </c:barChart>
      <c:catAx>
        <c:axId val="106018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995632"/>
        <c:crosses val="autoZero"/>
        <c:auto val="1"/>
        <c:lblAlgn val="ctr"/>
        <c:lblOffset val="100"/>
        <c:noMultiLvlLbl val="0"/>
      </c:catAx>
      <c:valAx>
        <c:axId val="1060995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18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북한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북한2019!$A$103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북한2019!$B$101:$G$102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북한2019!$B$103:$G$103</c:f>
              <c:numCache>
                <c:formatCode>0.00_);[Red]\(0.00\)</c:formatCode>
                <c:ptCount val="6"/>
                <c:pt idx="0">
                  <c:v>2.9238813917999997E-3</c:v>
                </c:pt>
                <c:pt idx="1">
                  <c:v>1.9046961386500001E-3</c:v>
                </c:pt>
                <c:pt idx="2">
                  <c:v>3.1596053205668974E-2</c:v>
                </c:pt>
                <c:pt idx="3">
                  <c:v>1.762095057042504E-2</c:v>
                </c:pt>
                <c:pt idx="4">
                  <c:v>8.2719673558409989E-3</c:v>
                </c:pt>
                <c:pt idx="5">
                  <c:v>5.3691879645881005E-3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9D-104E-97DD-268C9CDC4767}"/>
            </c:ext>
          </c:extLst>
        </c:ser>
        <c:ser>
          <c:idx val="1"/>
          <c:order val="1"/>
          <c:tx>
            <c:strRef>
              <c:f>북한2019!$A$104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북한2019!$B$101:$G$102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북한2019!$B$104:$G$104</c:f>
              <c:numCache>
                <c:formatCode>0.00_);[Red]\(0.00\)</c:formatCode>
                <c:ptCount val="6"/>
                <c:pt idx="0">
                  <c:v>2.9531380699200001E-5</c:v>
                </c:pt>
                <c:pt idx="1">
                  <c:v>1.905664347632E-5</c:v>
                </c:pt>
                <c:pt idx="2">
                  <c:v>9.2585699527316739E-2</c:v>
                </c:pt>
                <c:pt idx="3">
                  <c:v>7.7205194581376355E-2</c:v>
                </c:pt>
                <c:pt idx="4">
                  <c:v>7.2012997871896012E-3</c:v>
                </c:pt>
                <c:pt idx="5">
                  <c:v>4.8521791908656001E-3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9D-104E-97DD-268C9CDC4767}"/>
            </c:ext>
          </c:extLst>
        </c:ser>
        <c:ser>
          <c:idx val="2"/>
          <c:order val="2"/>
          <c:tx>
            <c:strRef>
              <c:f>북한2019!$A$105</c:f>
              <c:strCache>
                <c:ptCount val="1"/>
                <c:pt idx="0">
                  <c:v>3. 소비재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북한2019!$B$101:$G$102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북한2019!$B$105:$G$105</c:f>
              <c:numCache>
                <c:formatCode>0.00_);[Red]\(0.00\)</c:formatCode>
                <c:ptCount val="6"/>
                <c:pt idx="0">
                  <c:v>1.1910396012988996E-3</c:v>
                </c:pt>
                <c:pt idx="1">
                  <c:v>6.8438057427869996E-4</c:v>
                </c:pt>
                <c:pt idx="2">
                  <c:v>3.0057015217898178E-2</c:v>
                </c:pt>
                <c:pt idx="3">
                  <c:v>1.3248512496088865E-2</c:v>
                </c:pt>
                <c:pt idx="4">
                  <c:v>6.5929307861462699E-2</c:v>
                </c:pt>
                <c:pt idx="5">
                  <c:v>3.702914297881954E-2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9D-104E-97DD-268C9CDC4767}"/>
            </c:ext>
          </c:extLst>
        </c:ser>
        <c:ser>
          <c:idx val="3"/>
          <c:order val="3"/>
          <c:tx>
            <c:strRef>
              <c:f>북한2019!$A$106</c:f>
              <c:strCache>
                <c:ptCount val="1"/>
                <c:pt idx="0">
                  <c:v>4. 기초소재제품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북한2019!$B$101:$G$102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북한2019!$B$106:$G$106</c:f>
              <c:numCache>
                <c:formatCode>0.00_);[Red]\(0.00\)</c:formatCode>
                <c:ptCount val="6"/>
                <c:pt idx="0">
                  <c:v>6.6661733255310007E-4</c:v>
                </c:pt>
                <c:pt idx="1">
                  <c:v>2.9346712012297998E-4</c:v>
                </c:pt>
                <c:pt idx="2">
                  <c:v>6.6063326173184195E-2</c:v>
                </c:pt>
                <c:pt idx="3">
                  <c:v>2.9909594840514524E-2</c:v>
                </c:pt>
                <c:pt idx="4">
                  <c:v>3.4870287125491006E-2</c:v>
                </c:pt>
                <c:pt idx="5">
                  <c:v>1.5861399818453123E-2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9D-104E-97DD-268C9CDC4767}"/>
            </c:ext>
          </c:extLst>
        </c:ser>
        <c:ser>
          <c:idx val="4"/>
          <c:order val="4"/>
          <c:tx>
            <c:strRef>
              <c:f>북한2019!$A$107</c:f>
              <c:strCache>
                <c:ptCount val="1"/>
                <c:pt idx="0">
                  <c:v>5. 조립가공제품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북한2019!$B$101:$G$102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북한2019!$B$107:$G$107</c:f>
              <c:numCache>
                <c:formatCode>0.00_);[Red]\(0.00\)</c:formatCode>
                <c:ptCount val="6"/>
                <c:pt idx="0">
                  <c:v>1.134725933E-4</c:v>
                </c:pt>
                <c:pt idx="1">
                  <c:v>5.437474356270001E-5</c:v>
                </c:pt>
                <c:pt idx="2">
                  <c:v>3.1618924039623089E-2</c:v>
                </c:pt>
                <c:pt idx="3">
                  <c:v>1.4844380861635288E-2</c:v>
                </c:pt>
                <c:pt idx="4">
                  <c:v>2.3785293346140001E-2</c:v>
                </c:pt>
                <c:pt idx="5">
                  <c:v>1.10974363611555E-2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9D-104E-97DD-268C9CDC4767}"/>
            </c:ext>
          </c:extLst>
        </c:ser>
        <c:ser>
          <c:idx val="5"/>
          <c:order val="5"/>
          <c:tx>
            <c:strRef>
              <c:f>북한2019!$A$108</c:f>
              <c:strCache>
                <c:ptCount val="1"/>
                <c:pt idx="0">
                  <c:v>6. 전력가스수도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북한2019!$B$101:$G$102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북한2019!$B$108:$G$108</c:f>
              <c:numCache>
                <c:formatCode>0.00_);[Red]\(0.00\)</c:formatCode>
                <c:ptCount val="6"/>
                <c:pt idx="0">
                  <c:v>1.9141000000000002E-5</c:v>
                </c:pt>
                <c:pt idx="1">
                  <c:v>1.25393E-5</c:v>
                </c:pt>
                <c:pt idx="2">
                  <c:v>9.6277270125840007E-3</c:v>
                </c:pt>
                <c:pt idx="3">
                  <c:v>6.6574539396512013E-3</c:v>
                </c:pt>
                <c:pt idx="4">
                  <c:v>2.1005302166025999E-2</c:v>
                </c:pt>
                <c:pt idx="5">
                  <c:v>1.4715181343341798E-2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C9D-104E-97DD-268C9CDC4767}"/>
            </c:ext>
          </c:extLst>
        </c:ser>
        <c:ser>
          <c:idx val="6"/>
          <c:order val="6"/>
          <c:tx>
            <c:strRef>
              <c:f>북한2019!$A$109</c:f>
              <c:strCache>
                <c:ptCount val="1"/>
                <c:pt idx="0">
                  <c:v>7. 건설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북한2019!$B$101:$G$102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북한2019!$B$109:$G$109</c:f>
              <c:numCache>
                <c:formatCode>0.00_);[Red]\(0.00\)</c:formatCode>
                <c:ptCount val="6"/>
                <c:pt idx="0">
                  <c:v>6.5440056836000015E-5</c:v>
                </c:pt>
                <c:pt idx="1">
                  <c:v>4.4624175907199998E-5</c:v>
                </c:pt>
                <c:pt idx="2">
                  <c:v>2.6012399213855602E-2</c:v>
                </c:pt>
                <c:pt idx="3">
                  <c:v>2.0175490746454718E-2</c:v>
                </c:pt>
                <c:pt idx="4">
                  <c:v>1.3560447897444001E-2</c:v>
                </c:pt>
                <c:pt idx="5">
                  <c:v>9.2027533988544002E-3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C9D-104E-97DD-268C9CDC4767}"/>
            </c:ext>
          </c:extLst>
        </c:ser>
        <c:ser>
          <c:idx val="7"/>
          <c:order val="7"/>
          <c:tx>
            <c:strRef>
              <c:f>북한2019!$A$110</c:f>
              <c:strCache>
                <c:ptCount val="1"/>
                <c:pt idx="0">
                  <c:v>8. 서비스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multiLvlStrRef>
              <c:f>북한2019!$B$101:$G$102</c:f>
              <c:multiLvlStrCache>
                <c:ptCount val="6"/>
                <c:lvl>
                  <c:pt idx="0">
                    <c:v>2019 </c:v>
                  </c:pt>
                  <c:pt idx="1">
                    <c:v>2050 </c:v>
                  </c:pt>
                  <c:pt idx="2">
                    <c:v>2019 </c:v>
                  </c:pt>
                  <c:pt idx="3">
                    <c:v>2050 </c:v>
                  </c:pt>
                  <c:pt idx="4">
                    <c:v>2019 </c:v>
                  </c:pt>
                  <c:pt idx="5">
                    <c:v>2050 </c:v>
                  </c:pt>
                </c:lvl>
                <c:lvl>
                  <c:pt idx="0">
                    <c:v>01_AGRICULT</c:v>
                  </c:pt>
                  <c:pt idx="1">
                    <c:v>01_AGRICULT</c:v>
                  </c:pt>
                  <c:pt idx="2">
                    <c:v>02_Industry</c:v>
                  </c:pt>
                  <c:pt idx="3">
                    <c:v>02_Industry</c:v>
                  </c:pt>
                  <c:pt idx="4">
                    <c:v>03_Services</c:v>
                  </c:pt>
                  <c:pt idx="5">
                    <c:v>03_Services</c:v>
                  </c:pt>
                </c:lvl>
              </c:multiLvlStrCache>
            </c:multiLvlStrRef>
          </c:cat>
          <c:val>
            <c:numRef>
              <c:f>북한2019!$B$110:$G$110</c:f>
              <c:numCache>
                <c:formatCode>0.00_);[Red]\(0.00\)</c:formatCode>
                <c:ptCount val="6"/>
                <c:pt idx="0">
                  <c:v>1.0603042616400798E-2</c:v>
                </c:pt>
                <c:pt idx="1">
                  <c:v>7.3557808620866002E-3</c:v>
                </c:pt>
                <c:pt idx="2">
                  <c:v>0.1789240899987431</c:v>
                </c:pt>
                <c:pt idx="3">
                  <c:v>0.11788925441488197</c:v>
                </c:pt>
                <c:pt idx="4">
                  <c:v>1.0799229042630549</c:v>
                </c:pt>
                <c:pt idx="5">
                  <c:v>0.73416426920122191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C9D-104E-97DD-268C9CDC4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60185808"/>
        <c:axId val="1060995632"/>
      </c:barChart>
      <c:catAx>
        <c:axId val="1060185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995632"/>
        <c:crosses val="autoZero"/>
        <c:auto val="1"/>
        <c:lblAlgn val="ctr"/>
        <c:lblOffset val="100"/>
        <c:noMultiLvlLbl val="0"/>
      </c:catAx>
      <c:valAx>
        <c:axId val="1060995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60185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8A5589C-7FE6-46B2-B41A-1DB2DFDF58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82F4BB-4F5B-4789-A545-D50268CAC6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B3D99-BD19-4860-B122-7A3464E5579B}" type="datetimeFigureOut">
              <a:rPr lang="ko-KR" altLang="en-US" smtClean="0"/>
              <a:t>2025. 8. 26.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F5FCA5-8196-439C-960E-AFB3B7759B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200B7B-F18B-46F2-9F6E-CE315BE8DD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7181D-6B6E-4188-B3F0-7D20B550C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096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72406-DC73-4677-AAF9-8F682C9A831A}" type="datetimeFigureOut">
              <a:rPr lang="ko-KR" altLang="en-US" smtClean="0"/>
              <a:t>2025. 8. 26.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6E0A0-4D6C-478B-831C-44A69CCC47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42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6E0A0-4D6C-478B-831C-44A69CCC47F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931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관명 없는 레이아웃 (국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49" y="252993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글로벌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동북아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기후변화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대기오염 원인물질 통합관리 모델링 시스템 개발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울대학교-경희대학교 (국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49" y="252993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글로벌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동북아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기후변화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대기오염 원인물질 통합관리 모델링 시스템 개발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ED79192D-6169-EF5C-CE03-C0F8CC45397E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580" y="113903"/>
            <a:ext cx="5184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 descr="텍스트이(가) 표시된 사진&#10;&#10;자동 생성된 설명">
            <a:extLst>
              <a:ext uri="{FF2B5EF4-FFF2-40B4-BE49-F238E27FC236}">
                <a16:creationId xmlns:a16="http://schemas.microsoft.com/office/drawing/2014/main" id="{C1E0800A-E80D-444E-F6B0-241D1D860FE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/>
          <a:srcRect l="31181" t="29052" r="32236" b="33289"/>
          <a:stretch/>
        </p:blipFill>
        <p:spPr>
          <a:xfrm>
            <a:off x="11295015" y="124165"/>
            <a:ext cx="7416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7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83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관명 없는 레이아웃 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50" y="252993"/>
            <a:ext cx="672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3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Development of Global Integrated Assessment Modeling Systems for Climate-Air pollutants Management Focused on Northeast Asia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226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울대학교-경희대학교 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ACA41-8780-3CCD-7837-4AD0B8DDD6FC}"/>
              </a:ext>
            </a:extLst>
          </p:cNvPr>
          <p:cNvSpPr txBox="1"/>
          <p:nvPr userDrawn="1"/>
        </p:nvSpPr>
        <p:spPr>
          <a:xfrm>
            <a:off x="420550" y="252993"/>
            <a:ext cx="672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3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Development of Global Integrated Assessment Modeling Systems for Climate-Air pollutants Management Focused on Northeast Asia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7FA241B-9DAB-9048-1FEB-64B809174475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580" y="113903"/>
            <a:ext cx="5184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AA12F19C-525E-D79A-3C57-9545A2AF122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/>
          <a:srcRect l="31181" t="29052" r="32236" b="33289"/>
          <a:stretch/>
        </p:blipFill>
        <p:spPr>
          <a:xfrm>
            <a:off x="11295015" y="124165"/>
            <a:ext cx="7416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36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26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2F164-7362-259C-0BC7-9F0158B969AF}"/>
              </a:ext>
            </a:extLst>
          </p:cNvPr>
          <p:cNvSpPr txBox="1"/>
          <p:nvPr/>
        </p:nvSpPr>
        <p:spPr>
          <a:xfrm>
            <a:off x="5270293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이한결 연구원</a:t>
            </a:r>
          </a:p>
        </p:txBody>
      </p:sp>
    </p:spTree>
    <p:extLst>
      <p:ext uri="{BB962C8B-B14F-4D97-AF65-F5344CB8AC3E}">
        <p14:creationId xmlns:p14="http://schemas.microsoft.com/office/powerpoint/2010/main" val="331681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680956F-9091-4DA5-BF81-80BA3437F908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07C8B5-4060-4135-AE5D-02C4DF49E01A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481547-1A2B-4354-A575-8E21CB9D35CC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6F21D57-C3A6-4ED8-A617-153349474AED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8F28E8E-36C5-464A-8D1B-946EFF9AD50B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B055F994-D7EF-433D-B179-0E26FE68B408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E81B453-3FBD-4A69-983F-600B900B64E3}"/>
              </a:ext>
            </a:extLst>
          </p:cNvPr>
          <p:cNvGrpSpPr/>
          <p:nvPr/>
        </p:nvGrpSpPr>
        <p:grpSpPr>
          <a:xfrm>
            <a:off x="407373" y="1102090"/>
            <a:ext cx="9888962" cy="400110"/>
            <a:chOff x="456760" y="946438"/>
            <a:chExt cx="9888962" cy="40011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18168AB-0E41-4DC8-A862-60072E142495}"/>
                </a:ext>
              </a:extLst>
            </p:cNvPr>
            <p:cNvSpPr/>
            <p:nvPr/>
          </p:nvSpPr>
          <p:spPr>
            <a:xfrm>
              <a:off x="611559" y="946438"/>
              <a:ext cx="9734163" cy="400110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b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연구 진행방향</a:t>
              </a:r>
              <a:endParaRPr kumimoji="0" lang="ko-KR" altLang="en-US" sz="1400" b="1" i="0" u="none" strike="noStrike" kern="0" cap="none" spc="-1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27924238-A541-49B8-918C-61E19D7AE3D8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내용 개체 틀 2">
            <a:extLst>
              <a:ext uri="{FF2B5EF4-FFF2-40B4-BE49-F238E27FC236}">
                <a16:creationId xmlns:a16="http://schemas.microsoft.com/office/drawing/2014/main" id="{1010A98C-74BB-4677-AB4A-2EEDB7ABBE8F}"/>
              </a:ext>
            </a:extLst>
          </p:cNvPr>
          <p:cNvSpPr txBox="1">
            <a:spLocks/>
          </p:cNvSpPr>
          <p:nvPr/>
        </p:nvSpPr>
        <p:spPr bwMode="auto">
          <a:xfrm>
            <a:off x="407373" y="1631956"/>
            <a:ext cx="11555900" cy="79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7200" indent="-4572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800" b="1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defTabSz="457200">
              <a:lnSpc>
                <a:spcPct val="150000"/>
              </a:lnSpc>
              <a:defRPr/>
            </a:pPr>
            <a:r>
              <a:rPr lang="en-US" altLang="ko-KR" sz="1500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Britz&amp;Roson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(2019, G-RDEM) 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문헌을 참고하여 내적 정합성 검증 지속 진행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6213" indent="-176213" defTabSz="457200">
              <a:lnSpc>
                <a:spcPct val="150000"/>
              </a:lnSpc>
              <a:defRPr/>
            </a:pP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국가별 세부 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IO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구조 변화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중간투입비중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분석 진행</a:t>
            </a:r>
            <a:endParaRPr lang="en-US" altLang="ko-KR" sz="1500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C46BF0-CACE-1288-171F-988A22BE4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587501"/>
              </p:ext>
            </p:extLst>
          </p:nvPr>
        </p:nvGraphicFramePr>
        <p:xfrm>
          <a:off x="312764" y="2820956"/>
          <a:ext cx="11745118" cy="3309255"/>
        </p:xfrm>
        <a:graphic>
          <a:graphicData uri="http://schemas.openxmlformats.org/drawingml/2006/table">
            <a:tbl>
              <a:tblPr/>
              <a:tblGrid>
                <a:gridCol w="2626083">
                  <a:extLst>
                    <a:ext uri="{9D8B030D-6E8A-4147-A177-3AD203B41FA5}">
                      <a16:colId xmlns:a16="http://schemas.microsoft.com/office/drawing/2014/main" val="1706116315"/>
                    </a:ext>
                  </a:extLst>
                </a:gridCol>
                <a:gridCol w="1475112">
                  <a:extLst>
                    <a:ext uri="{9D8B030D-6E8A-4147-A177-3AD203B41FA5}">
                      <a16:colId xmlns:a16="http://schemas.microsoft.com/office/drawing/2014/main" val="3287463926"/>
                    </a:ext>
                  </a:extLst>
                </a:gridCol>
                <a:gridCol w="2173184">
                  <a:extLst>
                    <a:ext uri="{9D8B030D-6E8A-4147-A177-3AD203B41FA5}">
                      <a16:colId xmlns:a16="http://schemas.microsoft.com/office/drawing/2014/main" val="1069079506"/>
                    </a:ext>
                  </a:extLst>
                </a:gridCol>
                <a:gridCol w="5470739">
                  <a:extLst>
                    <a:ext uri="{9D8B030D-6E8A-4147-A177-3AD203B41FA5}">
                      <a16:colId xmlns:a16="http://schemas.microsoft.com/office/drawing/2014/main" val="1195805325"/>
                    </a:ext>
                  </a:extLst>
                </a:gridCol>
              </a:tblGrid>
              <a:tr h="32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문헌 </a:t>
                      </a:r>
                      <a:r>
                        <a:rPr lang="en-US" altLang="ko-KR" sz="1500" b="1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 </a:t>
                      </a:r>
                      <a:r>
                        <a:rPr lang="ko-KR" altLang="en-US" sz="1500" b="1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모델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검증 유형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주요 검증 항목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AQ Linkage validation </a:t>
                      </a:r>
                      <a:r>
                        <a:rPr lang="ko-KR" altLang="en-US" sz="1500" b="1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적용 예시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32768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①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국가 온실가스 인벤토리 보고서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내적 정합성 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en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QA/QC)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활동자료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배출계수 검증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단위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200" b="0" i="0" dirty="0" err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산정식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오류 점검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내부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외부 전문가 검토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Emissions </a:t>
                      </a:r>
                      <a:r>
                        <a:rPr lang="ko-KR" altLang="en-US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변수와 실제 배출통계 비교</a:t>
                      </a:r>
                      <a:endParaRPr lang="en-US" altLang="ko-KR" sz="14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QC </a:t>
                      </a:r>
                      <a:r>
                        <a:rPr lang="ko-KR" altLang="en-US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체크리스트 작성</a:t>
                      </a:r>
                      <a:endParaRPr lang="en-US" altLang="ko-KR" sz="14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(EX) </a:t>
                      </a:r>
                      <a:r>
                        <a:rPr lang="en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CO2 (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및 부문별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와 국가 인벤토리 수치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(2019–2020)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직접 비교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단위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환산 후 오차율 계산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GDP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대비 배출량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en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GHG intensity)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계산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계산식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단위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부호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(±)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오류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914227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i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② Britz &amp; Roson (2019, G-RDEM)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내적 정합성 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구조 기반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산업구조 변화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소비패턴 변화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저축률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I-O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구조 변화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Value added</a:t>
                      </a:r>
                      <a:r>
                        <a:rPr lang="en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비중 시계열 분석</a:t>
                      </a:r>
                      <a:endParaRPr lang="en-US" altLang="ko-KR" sz="14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(EX) Agriculture, Industry, Services → GDP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대비 비중 시계열화 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(2019~2050)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소비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저축 구조 변화 여부 점검 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소득 증가 → 서비스 소비 비중↑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178397"/>
                  </a:ext>
                </a:extLst>
              </a:tr>
              <a:tr h="878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③ Dixon &amp; Rimmer (2009)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외적 정합성 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실측 비교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순수 예측 </a:t>
                      </a:r>
                      <a:r>
                        <a:rPr lang="en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vs.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통계 비교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AE / M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지표 계산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변수별 오차 추적 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" altLang="ko-KR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GDP, Population, VA </a:t>
                      </a:r>
                      <a:r>
                        <a:rPr lang="ko-KR" altLang="en-US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 주요 변수에 대해 </a:t>
                      </a:r>
                      <a:r>
                        <a:rPr lang="en-US" altLang="ko-KR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2019–2020 </a:t>
                      </a:r>
                      <a:r>
                        <a:rPr lang="ko-KR" altLang="en-US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실제 통계와 오차율</a:t>
                      </a:r>
                      <a:r>
                        <a:rPr lang="en-US" altLang="ko-KR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(%) </a:t>
                      </a:r>
                      <a:r>
                        <a:rPr lang="ko-KR" altLang="en-US" sz="14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계산</a:t>
                      </a:r>
                      <a:endParaRPr lang="en-US" altLang="ko-KR" sz="14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(EX)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과거 추세 </a:t>
                      </a:r>
                      <a:r>
                        <a:rPr lang="ko-KR" altLang="en-US" sz="1200" b="0" i="0" dirty="0" err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외삽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(2010~2018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평균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과 모델 예측치 비교 → </a:t>
                      </a:r>
                      <a:r>
                        <a:rPr lang="en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M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계산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외생 변수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 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인구</a:t>
                      </a:r>
                      <a:r>
                        <a:rPr lang="en-US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en" altLang="ko-KR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TFP)</a:t>
                      </a:r>
                      <a:r>
                        <a:rPr lang="ko-KR" altLang="en-US" sz="1200" b="0" i="0" dirty="0" err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를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1200" b="0" i="0" dirty="0" err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실제값으로</a:t>
                      </a:r>
                      <a:r>
                        <a:rPr lang="ko-KR" altLang="en-US" sz="1200" b="0" i="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교체하여 결과 민감도 확인</a:t>
                      </a:r>
                      <a:endParaRPr lang="en-US" altLang="ko-KR" sz="1200" b="0" i="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459511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11ACE6-D3D1-EF96-24A2-2A69B89856B3}"/>
              </a:ext>
            </a:extLst>
          </p:cNvPr>
          <p:cNvSpPr/>
          <p:nvPr/>
        </p:nvSpPr>
        <p:spPr>
          <a:xfrm>
            <a:off x="296782" y="4349579"/>
            <a:ext cx="11777082" cy="876466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A670585-0AED-8A4C-585F-EEDCC836EC9A}"/>
              </a:ext>
            </a:extLst>
          </p:cNvPr>
          <p:cNvSpPr/>
          <p:nvPr/>
        </p:nvSpPr>
        <p:spPr>
          <a:xfrm>
            <a:off x="4425844" y="5036044"/>
            <a:ext cx="2174982" cy="11561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510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9DFB6-0DBB-3D88-22CB-C2869A978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B1AD170-506D-FBFD-86FF-F5C8CC738EA4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4E7EC1-3434-A732-8CD9-A5D0310416EF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3504EC-9856-7E1C-215F-2B6F1AE2A586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DEA762D-E4D3-02A7-463F-73EC6D5BB969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D1B0EE0-A2DA-6B0C-25F7-71AC9B10BE74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831D944E-408A-61F1-5715-B8B82D15503C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D68D0355-6BD5-A2BF-26E2-149B093FC0C4}"/>
              </a:ext>
            </a:extLst>
          </p:cNvPr>
          <p:cNvSpPr/>
          <p:nvPr/>
        </p:nvSpPr>
        <p:spPr>
          <a:xfrm>
            <a:off x="414000" y="2123132"/>
            <a:ext cx="77131" cy="299279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1B39B-5471-3FC4-B6FC-B0B7900C7FBE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 소비구조 </a:t>
            </a:r>
            <a:r>
              <a:rPr lang="ko-KR" altLang="en-US" sz="2000" b="1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재분류</a:t>
            </a:r>
            <a:endParaRPr lang="ko-KR" altLang="en-US" sz="1400" b="1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C31C644A-52B7-B30E-3DC5-D103E782DEC2}"/>
              </a:ext>
            </a:extLst>
          </p:cNvPr>
          <p:cNvSpPr/>
          <p:nvPr/>
        </p:nvSpPr>
        <p:spPr>
          <a:xfrm>
            <a:off x="9928638" y="996910"/>
            <a:ext cx="1995055" cy="4393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/>
              <a:t>내적 정합성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DD1AF-F140-4ACF-5C73-625F2EE9499A}"/>
              </a:ext>
            </a:extLst>
          </p:cNvPr>
          <p:cNvSpPr txBox="1"/>
          <p:nvPr/>
        </p:nvSpPr>
        <p:spPr>
          <a:xfrm>
            <a:off x="2267592" y="6524019"/>
            <a:ext cx="746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산업별 중간투입품목 세분화를 통해 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IO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구조 변화 재분석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B33931-B813-9DB6-C3F8-027D3C190A35}"/>
              </a:ext>
            </a:extLst>
          </p:cNvPr>
          <p:cNvSpPr txBox="1"/>
          <p:nvPr/>
        </p:nvSpPr>
        <p:spPr>
          <a:xfrm>
            <a:off x="1398503" y="1707617"/>
            <a:ext cx="3453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한국은행</a:t>
            </a:r>
            <a:r>
              <a:rPr kumimoji="1" lang="en-US" altLang="ko-KR" sz="1200" b="1" dirty="0"/>
              <a:t>, </a:t>
            </a:r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지역산업연관표</a:t>
            </a:r>
            <a:r>
              <a:rPr kumimoji="1" lang="ko-KR" altLang="en-US" sz="1200" b="1" dirty="0"/>
              <a:t> 내 중간투입품목 분류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1467FAF-08D1-781A-A7A3-C885ADC7D7C5}"/>
              </a:ext>
            </a:extLst>
          </p:cNvPr>
          <p:cNvSpPr/>
          <p:nvPr/>
        </p:nvSpPr>
        <p:spPr>
          <a:xfrm>
            <a:off x="5429253" y="1519416"/>
            <a:ext cx="1140115" cy="72275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산업분류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A640D0-CBB5-8F13-69E3-B98AB7C9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44" y="2123132"/>
            <a:ext cx="4434228" cy="4304812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E7CB3699-3571-7867-5C8C-346374D5245C}"/>
              </a:ext>
            </a:extLst>
          </p:cNvPr>
          <p:cNvSpPr/>
          <p:nvPr/>
        </p:nvSpPr>
        <p:spPr>
          <a:xfrm>
            <a:off x="78785" y="1513855"/>
            <a:ext cx="1140115" cy="72275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소비품목 분류</a:t>
            </a:r>
          </a:p>
        </p:txBody>
      </p:sp>
      <p:pic>
        <p:nvPicPr>
          <p:cNvPr id="12" name="그림 11" descr="텍스트, 스크린샷, 메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04B924-755B-A34E-863F-85AD040859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444"/>
          <a:stretch>
            <a:fillRect/>
          </a:stretch>
        </p:blipFill>
        <p:spPr>
          <a:xfrm>
            <a:off x="5180253" y="2352320"/>
            <a:ext cx="3647224" cy="3460620"/>
          </a:xfrm>
          <a:prstGeom prst="rect">
            <a:avLst/>
          </a:prstGeom>
        </p:spPr>
      </p:pic>
      <p:pic>
        <p:nvPicPr>
          <p:cNvPr id="16" name="그림 15" descr="텍스트, 스크린샷, 메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393CB0-42F1-4C91-C039-B24F5ABA45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723" b="-49723"/>
          <a:stretch>
            <a:fillRect/>
          </a:stretch>
        </p:blipFill>
        <p:spPr>
          <a:xfrm>
            <a:off x="8790225" y="2604547"/>
            <a:ext cx="3364523" cy="64167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F0138CA-1F2B-B8F3-ECCB-D03713B5A525}"/>
              </a:ext>
            </a:extLst>
          </p:cNvPr>
          <p:cNvSpPr txBox="1"/>
          <p:nvPr/>
        </p:nvSpPr>
        <p:spPr>
          <a:xfrm>
            <a:off x="7535024" y="1747244"/>
            <a:ext cx="30540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농업</a:t>
            </a:r>
            <a:r>
              <a:rPr kumimoji="1" lang="en-US" altLang="ko-KR" sz="1200" b="1" dirty="0"/>
              <a:t>,</a:t>
            </a:r>
            <a:r>
              <a:rPr kumimoji="1" lang="ko-KR" altLang="en-US" sz="1200" b="1" dirty="0"/>
              <a:t> 산업</a:t>
            </a:r>
            <a:r>
              <a:rPr kumimoji="1" lang="en-US" altLang="ko-KR" sz="1200" b="1" dirty="0"/>
              <a:t>,</a:t>
            </a:r>
            <a:r>
              <a:rPr kumimoji="1" lang="ko-KR" altLang="en-US" sz="1200" b="1" dirty="0"/>
              <a:t> 서비스업 세 개 산업으로 분류</a:t>
            </a:r>
          </a:p>
        </p:txBody>
      </p:sp>
    </p:spTree>
    <p:extLst>
      <p:ext uri="{BB962C8B-B14F-4D97-AF65-F5344CB8AC3E}">
        <p14:creationId xmlns:p14="http://schemas.microsoft.com/office/powerpoint/2010/main" val="404919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D4CD1-2C3D-8A66-037B-45012373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1D82CF9B-CA98-4743-62B9-2A37451F5C5E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A5D1F4-A9F6-0176-271C-F53E69ABC661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A585A8-7735-FAE7-F834-3C2C0017DA1B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913DB91-E20C-53FF-A382-9CB1191016CC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E526DA7-2E5C-E646-37A0-B310187BD604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D30C0BF8-7F3D-CA38-A4D4-0D8710CAC015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816283CC-C608-10EF-FE8D-CAC928760995}"/>
              </a:ext>
            </a:extLst>
          </p:cNvPr>
          <p:cNvSpPr/>
          <p:nvPr/>
        </p:nvSpPr>
        <p:spPr>
          <a:xfrm>
            <a:off x="414000" y="2123132"/>
            <a:ext cx="77131" cy="299279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3CA4A9-CCDF-113B-C271-BD58EF9BFDAC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2)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구조 재분석 방법 </a:t>
            </a:r>
            <a:endParaRPr lang="ko-KR" altLang="en-US" sz="1400" b="1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2F0191F5-594D-7586-1FAE-734D2062C4F4}"/>
              </a:ext>
            </a:extLst>
          </p:cNvPr>
          <p:cNvSpPr/>
          <p:nvPr/>
        </p:nvSpPr>
        <p:spPr>
          <a:xfrm>
            <a:off x="9928638" y="996910"/>
            <a:ext cx="1995055" cy="4393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/>
              <a:t>내적 정합성 검증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2E736-16B2-17EC-1BDE-C8BB70EDA7B5}"/>
              </a:ext>
            </a:extLst>
          </p:cNvPr>
          <p:cNvSpPr txBox="1"/>
          <p:nvPr/>
        </p:nvSpPr>
        <p:spPr>
          <a:xfrm>
            <a:off x="414000" y="2294195"/>
            <a:ext cx="6941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DI</a:t>
            </a:r>
            <a:r>
              <a:rPr lang="en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: Intermediate consumption of commodity </a:t>
            </a:r>
            <a:r>
              <a:rPr lang="en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i</a:t>
            </a:r>
            <a:r>
              <a:rPr lang="en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by industry j in region z</a:t>
            </a:r>
            <a:endParaRPr lang="en-US" altLang="ko-KR" sz="14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2CF1F-D2F4-FC64-2715-770A4AF49E1E}"/>
              </a:ext>
            </a:extLst>
          </p:cNvPr>
          <p:cNvSpPr txBox="1"/>
          <p:nvPr/>
        </p:nvSpPr>
        <p:spPr>
          <a:xfrm>
            <a:off x="414000" y="2618799"/>
            <a:ext cx="8131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PC: Purchaser price of composite commodity </a:t>
            </a:r>
            <a:r>
              <a:rPr lang="en-US" altLang="ko-KR" sz="14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i</a:t>
            </a:r>
            <a:r>
              <a:rPr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(including all taxes and margins) in region z</a:t>
            </a:r>
            <a:endParaRPr lang="ko-KR" altLang="en-US" sz="14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4D8D80-5CED-DA2A-79A8-D65788C3F2EE}"/>
              </a:ext>
            </a:extLst>
          </p:cNvPr>
          <p:cNvSpPr txBox="1"/>
          <p:nvPr/>
        </p:nvSpPr>
        <p:spPr>
          <a:xfrm>
            <a:off x="414000" y="3176375"/>
            <a:ext cx="1490039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400" b="1" dirty="0"/>
              <a:t>(</a:t>
            </a:r>
            <a:r>
              <a:rPr lang="ko-KR" altLang="en-US" sz="1400" b="1" dirty="0"/>
              <a:t>예시</a:t>
            </a:r>
            <a:r>
              <a:rPr lang="en-US" altLang="ko-KR" sz="1400" b="1" dirty="0"/>
              <a:t>)</a:t>
            </a:r>
            <a:endParaRPr lang="en" altLang="ko-KR" sz="1400" dirty="0"/>
          </a:p>
        </p:txBody>
      </p:sp>
      <p:pic>
        <p:nvPicPr>
          <p:cNvPr id="7" name="그림 6" descr="텍스트, 스크린샷, 메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F5DDF0-EF42-AD97-757B-AF608E12F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65" y="3578749"/>
            <a:ext cx="2380591" cy="3057325"/>
          </a:xfrm>
          <a:prstGeom prst="rect">
            <a:avLst/>
          </a:prstGeom>
        </p:spPr>
      </p:pic>
      <p:pic>
        <p:nvPicPr>
          <p:cNvPr id="16" name="그림 1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87C4C3-1637-F612-33C0-B57A5B51B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286" y="3578749"/>
            <a:ext cx="2139950" cy="3057325"/>
          </a:xfrm>
          <a:prstGeom prst="rect">
            <a:avLst/>
          </a:prstGeom>
        </p:spPr>
      </p:pic>
      <p:pic>
        <p:nvPicPr>
          <p:cNvPr id="22" name="그림 21" descr="텍스트, 메뉴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158886-459F-37F2-C896-59C2A5182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017" y="3578749"/>
            <a:ext cx="2284693" cy="3057325"/>
          </a:xfrm>
          <a:prstGeom prst="rect">
            <a:avLst/>
          </a:prstGeom>
        </p:spPr>
      </p:pic>
      <p:pic>
        <p:nvPicPr>
          <p:cNvPr id="24" name="그림 2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386EE3-F85F-AA38-CBF7-017AB3D80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704" y="4009883"/>
            <a:ext cx="3047262" cy="17608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327621F-2E80-A3F3-1C0D-888C0BA1F372}"/>
              </a:ext>
            </a:extLst>
          </p:cNvPr>
          <p:cNvSpPr txBox="1"/>
          <p:nvPr/>
        </p:nvSpPr>
        <p:spPr>
          <a:xfrm>
            <a:off x="2073905" y="1742135"/>
            <a:ext cx="8044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DI</a:t>
            </a:r>
            <a:r>
              <a:rPr kumimoji="1" lang="en-US" altLang="ko-KR" sz="1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1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중간 소비품목</a:t>
            </a:r>
            <a:r>
              <a:rPr kumimoji="1" lang="en-US" altLang="ko-KR" sz="1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kumimoji="1"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XPC</a:t>
            </a:r>
            <a:r>
              <a:rPr kumimoji="1" lang="en-US" altLang="ko-KR" sz="1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kumimoji="1" lang="ko-KR" altLang="en-US" sz="1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소비가격</a:t>
            </a:r>
            <a:r>
              <a:rPr kumimoji="1" lang="en-US" altLang="ko-KR" sz="1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kumimoji="1" lang="ko-KR" altLang="en-US" sz="1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1"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계산 후</a:t>
            </a:r>
            <a:r>
              <a:rPr kumimoji="1"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kumimoji="1"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산업별 소비품목으로 </a:t>
            </a:r>
            <a:r>
              <a:rPr kumimoji="1" lang="ko-KR" altLang="en-US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재분류</a:t>
            </a:r>
            <a:r>
              <a:rPr kumimoji="1" lang="ko-KR" altLang="en-US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하여 도출</a:t>
            </a:r>
          </a:p>
        </p:txBody>
      </p:sp>
      <p:sp>
        <p:nvSpPr>
          <p:cNvPr id="26" name="오른쪽 화살표[R] 25">
            <a:extLst>
              <a:ext uri="{FF2B5EF4-FFF2-40B4-BE49-F238E27FC236}">
                <a16:creationId xmlns:a16="http://schemas.microsoft.com/office/drawing/2014/main" id="{C54380F1-C4E5-7B16-1F10-7E5800CA0581}"/>
              </a:ext>
            </a:extLst>
          </p:cNvPr>
          <p:cNvSpPr/>
          <p:nvPr/>
        </p:nvSpPr>
        <p:spPr>
          <a:xfrm>
            <a:off x="8195738" y="4460528"/>
            <a:ext cx="495757" cy="1340049"/>
          </a:xfrm>
          <a:prstGeom prst="rightArrow">
            <a:avLst>
              <a:gd name="adj1" fmla="val 60872"/>
              <a:gd name="adj2" fmla="val 69828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곱하기 26">
            <a:extLst>
              <a:ext uri="{FF2B5EF4-FFF2-40B4-BE49-F238E27FC236}">
                <a16:creationId xmlns:a16="http://schemas.microsoft.com/office/drawing/2014/main" id="{A0D76148-52AA-834C-E73A-2309992B96D7}"/>
              </a:ext>
            </a:extLst>
          </p:cNvPr>
          <p:cNvSpPr/>
          <p:nvPr/>
        </p:nvSpPr>
        <p:spPr>
          <a:xfrm>
            <a:off x="2890496" y="4890320"/>
            <a:ext cx="299449" cy="617100"/>
          </a:xfrm>
          <a:prstGeom prst="mathMultiply">
            <a:avLst>
              <a:gd name="adj1" fmla="val 30539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8" name="등호 27">
            <a:extLst>
              <a:ext uri="{FF2B5EF4-FFF2-40B4-BE49-F238E27FC236}">
                <a16:creationId xmlns:a16="http://schemas.microsoft.com/office/drawing/2014/main" id="{BB4F02FB-8B1F-A336-FDBB-EBC0F9B79A58}"/>
              </a:ext>
            </a:extLst>
          </p:cNvPr>
          <p:cNvSpPr/>
          <p:nvPr/>
        </p:nvSpPr>
        <p:spPr>
          <a:xfrm>
            <a:off x="5465585" y="4909835"/>
            <a:ext cx="296083" cy="597585"/>
          </a:xfrm>
          <a:prstGeom prst="mathEqual">
            <a:avLst>
              <a:gd name="adj1" fmla="val 20003"/>
              <a:gd name="adj2" fmla="val 117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pic>
        <p:nvPicPr>
          <p:cNvPr id="29" name="그림 2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4C47EB-D277-014E-A7C7-9C6299BCB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260" y="4100215"/>
            <a:ext cx="3047262" cy="176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9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F9D8-C75E-2EAF-E616-41793FB7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5D9156C-3BC8-A2B3-A7E3-DD59A9849FB4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EBD57B-0271-08E6-C183-68A8B00205D1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086079-C6D4-52F8-308E-8934AF02277F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59E259F-F16E-3363-726A-963FD6A56C5D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8D1FAE5-68A1-1BF3-B997-0EC8E4918312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5A96A4DD-53BF-5F66-AD71-DD0DEA7EC2C8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155A3FF0-D458-B565-79EB-F345CD440BA6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ABA02D-12CC-5F55-6235-298DD000AA35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A8683FB-5943-42DC-A47C-869E86BB2289}"/>
              </a:ext>
            </a:extLst>
          </p:cNvPr>
          <p:cNvSpPr/>
          <p:nvPr/>
        </p:nvSpPr>
        <p:spPr>
          <a:xfrm>
            <a:off x="380098" y="1633546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01_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대한민국</a:t>
            </a: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1CD64F5B-D999-2D4C-86F7-23237EC42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3237259"/>
              </p:ext>
            </p:extLst>
          </p:nvPr>
        </p:nvGraphicFramePr>
        <p:xfrm>
          <a:off x="380098" y="2204089"/>
          <a:ext cx="6600994" cy="4162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86F2EE-8158-2566-0AA8-A04281C4F397}"/>
              </a:ext>
            </a:extLst>
          </p:cNvPr>
          <p:cNvSpPr txBox="1"/>
          <p:nvPr/>
        </p:nvSpPr>
        <p:spPr>
          <a:xfrm>
            <a:off x="7089321" y="2007284"/>
            <a:ext cx="4722581" cy="44977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농업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Agriculture)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농림수산품 투입 거의 변화 없음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(0.30 → 0.30)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큰 폭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(0.54 → 0.67):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의존도 강화</a:t>
            </a: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산업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Industry)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광산품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투입 급감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(12.30 → 7.30) 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화석연료 의존도 축소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 투입 소폭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(43.2 → 40.9)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조립가공제품 투입 대폭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(42.3 → 50.1) 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고도화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첨단화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대폭 확대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(27.0 → 38.0) 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제조업의 서비스화 진행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원자재 중심 구조 →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중심 산업구조 전환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부문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Services)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압도적 확대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(44.4 → 59.7)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 투입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(8.1 → 9.8)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(7.4 → 5.9),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(2.3 → 1.5)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투입 감소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내부 서비스 투입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 연계 강화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자원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에너지 의존 축소</a:t>
            </a:r>
          </a:p>
        </p:txBody>
      </p:sp>
    </p:spTree>
    <p:extLst>
      <p:ext uri="{BB962C8B-B14F-4D97-AF65-F5344CB8AC3E}">
        <p14:creationId xmlns:p14="http://schemas.microsoft.com/office/powerpoint/2010/main" val="2865249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FD322-6FAA-7185-13AD-1141257FA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9391353-BCF4-73BF-74EC-2EC70375F6FC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FD4512-9274-7740-CF47-1341DFC5D9DC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1CB116-F80E-0CEB-D597-DDC78C736945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23AA87E-735A-3EBC-A6F9-95827C17D7EE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ACB2208-2EF5-49AC-7000-547856FA6174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F6F763F0-C557-B26C-ECD9-126BB4CD955D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67F249FE-076F-C2A1-0937-366172BB8F24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EFC889-8D94-468E-EFC2-C4DC9242369A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A88C04B-6ADD-BE67-5D5D-54EBD1BFD40C}"/>
              </a:ext>
            </a:extLst>
          </p:cNvPr>
          <p:cNvSpPr/>
          <p:nvPr/>
        </p:nvSpPr>
        <p:spPr>
          <a:xfrm>
            <a:off x="380098" y="1633546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02_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중국</a:t>
            </a: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732BA65D-3C74-224E-880F-B056163DAF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2008436"/>
              </p:ext>
            </p:extLst>
          </p:nvPr>
        </p:nvGraphicFramePr>
        <p:xfrm>
          <a:off x="380098" y="2179850"/>
          <a:ext cx="6436523" cy="41637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64643F-0110-431E-9CDC-F90E0D25ABD9}"/>
              </a:ext>
            </a:extLst>
          </p:cNvPr>
          <p:cNvSpPr txBox="1"/>
          <p:nvPr/>
        </p:nvSpPr>
        <p:spPr>
          <a:xfrm>
            <a:off x="6952687" y="1833601"/>
            <a:ext cx="4722581" cy="47747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농림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Agriculture)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농림수산품 투입 대폭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(16.3 → 37.0)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투입도 모두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배 이상 확대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농업 내 중간투입 구조 확대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생산집약도 상승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산업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Industry)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광산품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투입 크게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(129.7 → 226.5) 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자원 의존 여전히 높음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(526 → 1305),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(347 → 996) 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폭발적 성장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투입도 큰 폭 확대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(339 → 936)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전력 투입은 오히려 소폭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(51.5 → 45.8)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산업 고도화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서비스화 동시 진행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에너지 효율 개선 반영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부문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Services)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압도적 확대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(427 → 930)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(75 → 161),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(70 → 151)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등도 모두 증가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광산품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투입은 상대적으로 정체 또는 소폭 감소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산업 내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강화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산업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 연계 심화</a:t>
            </a:r>
          </a:p>
        </p:txBody>
      </p:sp>
    </p:spTree>
    <p:extLst>
      <p:ext uri="{BB962C8B-B14F-4D97-AF65-F5344CB8AC3E}">
        <p14:creationId xmlns:p14="http://schemas.microsoft.com/office/powerpoint/2010/main" val="265431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7E87-F218-2AE3-DBDC-BA892268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3FDECFA-7887-CCD7-16EB-FF61E91A1073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328393-AB48-6DB1-3D48-3712AB9D8EE3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A977B6-11D1-1189-11FB-301AFA4C709C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ACEB147-EA36-A9A8-A275-5A84189E8FC0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AC322AC-0E10-2667-BBCB-3649AEDDEC8A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E55B484B-7925-E48C-5E41-BDAA1837A6A4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AE5E24E7-6515-BC5D-CAD5-753315FB314A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6F2025-C49C-5EC0-56B9-ADF522EF6F66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C1B387F-0118-E6B3-54C1-8A9E39A28D2F}"/>
              </a:ext>
            </a:extLst>
          </p:cNvPr>
          <p:cNvSpPr/>
          <p:nvPr/>
        </p:nvSpPr>
        <p:spPr>
          <a:xfrm>
            <a:off x="380098" y="1633546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03_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일본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B23927C5-E8AC-FD14-E89F-3C80BE4CD4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3615442"/>
              </p:ext>
            </p:extLst>
          </p:nvPr>
        </p:nvGraphicFramePr>
        <p:xfrm>
          <a:off x="380097" y="2204088"/>
          <a:ext cx="6284471" cy="4162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137CFE-C4CA-30D0-51E3-F25FE36B401C}"/>
              </a:ext>
            </a:extLst>
          </p:cNvPr>
          <p:cNvSpPr txBox="1"/>
          <p:nvPr/>
        </p:nvSpPr>
        <p:spPr>
          <a:xfrm>
            <a:off x="6952687" y="1833601"/>
            <a:ext cx="5004851" cy="4768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농림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Agriculture)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농림수산품 투입 소폭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(0.73 → 0.78),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투입 확대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(2.18 → 2.46)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농업 구조는 안정적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활용 비중 점진적 상승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산업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Industry)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광산품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투입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(15.4 → 10.2) 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화석연료 의존도 축소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 소폭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(99.7 → 93.3),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조립가공 소폭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(62.8 → 67.5)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(81.8 → 96.0)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전력 투입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(13.1 → 9.9)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에너지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원자재 투입 축소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확대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고효율 산업 구조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부문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Services)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대폭 확대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(148.1 → 184.2)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(18.7 → 21.9),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건설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(7.5 → 9.8)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투입 증가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전력 투입은 감소 →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자원 절감형 구조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산업 내 서비스 집중도 강화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자원소비 축소</a:t>
            </a:r>
          </a:p>
        </p:txBody>
      </p:sp>
    </p:spTree>
    <p:extLst>
      <p:ext uri="{BB962C8B-B14F-4D97-AF65-F5344CB8AC3E}">
        <p14:creationId xmlns:p14="http://schemas.microsoft.com/office/powerpoint/2010/main" val="315839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98E01-CCC6-0BE1-FD3D-DA98A67B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B5B984B-3F71-174B-7A80-E02C1842B11E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8459A8-FEB7-46A7-8B94-94E766C69903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607CD6-8A52-F6AB-6400-5F096C22EDFF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9B6AF95-23B9-24C2-0105-F787E524E1E3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C65F239-69E3-AD3F-77A6-E9BA75936AD0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18B9C3FE-E505-CDA0-A7A5-A9A075ECBA7B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0016EDA9-9CF5-61CD-B986-23A7AC15775C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349500-F001-BB36-A078-B782C4C4CBF7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B2CE292-AD11-9744-2276-1166FB347427}"/>
              </a:ext>
            </a:extLst>
          </p:cNvPr>
          <p:cNvSpPr/>
          <p:nvPr/>
        </p:nvSpPr>
        <p:spPr>
          <a:xfrm>
            <a:off x="380098" y="1633546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04_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러시아</a:t>
            </a: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A4D52E8B-8299-D645-ADE1-419EA4F1B1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282104"/>
              </p:ext>
            </p:extLst>
          </p:nvPr>
        </p:nvGraphicFramePr>
        <p:xfrm>
          <a:off x="380098" y="2179850"/>
          <a:ext cx="6073456" cy="4186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FA65F1A-75FB-0190-B80A-40801F15E968}"/>
              </a:ext>
            </a:extLst>
          </p:cNvPr>
          <p:cNvSpPr txBox="1"/>
          <p:nvPr/>
        </p:nvSpPr>
        <p:spPr>
          <a:xfrm>
            <a:off x="6952687" y="1833601"/>
            <a:ext cx="4859215" cy="42207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농림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Agriculture)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농림수산품 투입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(0.78 → 1.26),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투입 확대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(0.87 → 1.42)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농업 내 자급적 투입 증가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활용 확대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산업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Industry)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광산품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투입 거의 변화 없음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(16.8 → 17.0) 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자원 의존 구조 고착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(16.2 → 16.4),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(10.3 → 10.7)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모두 정체적 증가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(27.3 → 37.5) →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일부 서비스화 진행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광물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에너지 의존 유지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구조 변화는 제한적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부문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Services)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대폭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(41.2 → 64.9)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(2.3 → 3.5),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건설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(2.7 → 3.8)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등 확대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전력 투입은 소폭 증가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산업은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내부 서비스 집중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+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건설 연계 강화</a:t>
            </a:r>
          </a:p>
        </p:txBody>
      </p:sp>
    </p:spTree>
    <p:extLst>
      <p:ext uri="{BB962C8B-B14F-4D97-AF65-F5344CB8AC3E}">
        <p14:creationId xmlns:p14="http://schemas.microsoft.com/office/powerpoint/2010/main" val="307480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693D-C794-4369-F349-F45C80D1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A9954EC1-389F-15E1-D5EF-0DA553799FD0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95A611-5FAC-2051-7AA4-E30EC327F0D3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EF4ADE-24B3-62EF-FEA1-04C52AF195EA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F117971-2CD8-2C28-0B2C-A31810B59D6A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33A90BA-6205-13E3-018C-E91D4C3A26EA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4D2F4010-1175-CA38-590F-AD7184163522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2D4A4DF1-F3D3-D5A1-8814-63AFEF0B8831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323E85-3695-EC88-328D-EB81072D456D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BD3A645-37F4-A59D-A88C-D002B7B197C3}"/>
              </a:ext>
            </a:extLst>
          </p:cNvPr>
          <p:cNvSpPr/>
          <p:nvPr/>
        </p:nvSpPr>
        <p:spPr>
          <a:xfrm>
            <a:off x="280800" y="1691231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05_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몽골</a:t>
            </a: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375DE946-E99D-4B47-A83E-691E44A468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5425865"/>
              </p:ext>
            </p:extLst>
          </p:nvPr>
        </p:nvGraphicFramePr>
        <p:xfrm>
          <a:off x="380098" y="2179850"/>
          <a:ext cx="6249302" cy="4449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CFD4BB-2090-ACD7-BD76-89E6E7C64715}"/>
              </a:ext>
            </a:extLst>
          </p:cNvPr>
          <p:cNvSpPr txBox="1"/>
          <p:nvPr/>
        </p:nvSpPr>
        <p:spPr>
          <a:xfrm>
            <a:off x="6829943" y="1691231"/>
            <a:ext cx="4981959" cy="4215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농림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Agriculture)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농림수산품 소폭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(0.01 → 0.03),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소폭 확대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(0.02 → 0.09)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의존성 점진적 확대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산업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Industry)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광산품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(0.07 → 0.14),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(0.04 → 0.15),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(0.15 → 0.50),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(0.09 → 0.41)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모두 확대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건설 투입도 큰 폭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(0.07 → 0.33),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투입 상승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(0.27 → 1.09)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전력 투입 거의 정체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(0.08 → 0.09)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산업 구조의 기초 확대 →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원자재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가공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전반 확대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초기 산업화 양상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부문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Services)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증가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(0.19 → 0.61)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 모두 소규모지만 상승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산업 내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투입 구조 다변화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동반 증가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5756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C066-9D57-D036-548C-40786021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EB7B609-0483-488C-2B33-FF75243BE3CF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3A5152E-7416-7477-DDA4-849866961BF2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D3535D-EA95-FE43-2CD2-75B76624A520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28A1087-86E6-DF32-90A0-E33421302783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74BF861-8FC4-631E-A316-A07B9E284F80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5CF5E586-9AAF-A8A7-1E82-64B4C7636A75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3E5577DC-EEE1-3DF4-8E9A-C2DE3CC22600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17D595-D34C-E927-C55E-90DA97E3FE24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50992E0-2623-C7F0-27FE-33CE870183AD}"/>
              </a:ext>
            </a:extLst>
          </p:cNvPr>
          <p:cNvSpPr/>
          <p:nvPr/>
        </p:nvSpPr>
        <p:spPr>
          <a:xfrm>
            <a:off x="380098" y="1633546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06_</a:t>
            </a:r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북한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13231153-8EF9-7C41-AC7C-83CC97108E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6887364"/>
              </p:ext>
            </p:extLst>
          </p:nvPr>
        </p:nvGraphicFramePr>
        <p:xfrm>
          <a:off x="380098" y="2204089"/>
          <a:ext cx="6372394" cy="4337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EC066E-FDC0-3D7F-0433-664E751527E8}"/>
              </a:ext>
            </a:extLst>
          </p:cNvPr>
          <p:cNvSpPr txBox="1"/>
          <p:nvPr/>
        </p:nvSpPr>
        <p:spPr>
          <a:xfrm>
            <a:off x="6952687" y="1856603"/>
            <a:ext cx="4859215" cy="47689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농림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Agriculture)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농림수산품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(0.0029 → 0.0019),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(0.0106 → 0.0074)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규모 자체가 극히 작고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오히려 투입 축소 →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농업 구조 정체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산업 부문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Industry)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광산품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(0.0926 → 0.0772)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(0.0661 → 0.0299),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(0.0316 → 0.0148)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모두 절반 수준으로 축소 및 서비스 투입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(0.1789 → 0.1179)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원자재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가공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모두 후퇴 →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산업화 정체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서비스 부문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Services)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투입 감소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(1.08 → 0.73)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(0.0659 → 0.0370),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기초소재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(0.0349 → 0.0159),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조립가공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(0.0238 → 0.0111)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모두 축소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(0.0210 → 0.0147),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건설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(0.0136 → 0.0092)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까지 전반적 감소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서비스 산업 전반 위축 →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산업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소비재 연계 약화</a:t>
            </a:r>
          </a:p>
        </p:txBody>
      </p:sp>
    </p:spTree>
    <p:extLst>
      <p:ext uri="{BB962C8B-B14F-4D97-AF65-F5344CB8AC3E}">
        <p14:creationId xmlns:p14="http://schemas.microsoft.com/office/powerpoint/2010/main" val="1501157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B7C6-BA84-4DA9-25A6-A5540734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E6BB6A9C-770F-14A6-67D7-490B62E954BC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3CDF17-1BB6-6770-9761-61A2D2D0A85C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0A69C6-5828-CA02-6809-54D98359A3B1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65D9D5B-E359-513A-44B3-25CDB10346E3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8B2DD6E-9C14-B61F-D33F-B1F825B7A720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400FA151-FB40-C5A2-7E22-BBAE491991CF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DB3F249D-0758-B50F-1732-10E62F6E6B2F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3D90CF-C668-0289-59BE-2C77CF1B6061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IO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D0922B9-E89D-C3C3-91F5-42CF657F68E1}"/>
              </a:ext>
            </a:extLst>
          </p:cNvPr>
          <p:cNvSpPr/>
          <p:nvPr/>
        </p:nvSpPr>
        <p:spPr>
          <a:xfrm>
            <a:off x="380098" y="1633546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종합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3C906E1-C075-E567-1EC5-6C13E5877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70487"/>
              </p:ext>
            </p:extLst>
          </p:nvPr>
        </p:nvGraphicFramePr>
        <p:xfrm>
          <a:off x="631056" y="2204090"/>
          <a:ext cx="10415752" cy="40044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37892">
                  <a:extLst>
                    <a:ext uri="{9D8B030D-6E8A-4147-A177-3AD203B41FA5}">
                      <a16:colId xmlns:a16="http://schemas.microsoft.com/office/drawing/2014/main" val="3568137311"/>
                    </a:ext>
                  </a:extLst>
                </a:gridCol>
                <a:gridCol w="3932459">
                  <a:extLst>
                    <a:ext uri="{9D8B030D-6E8A-4147-A177-3AD203B41FA5}">
                      <a16:colId xmlns:a16="http://schemas.microsoft.com/office/drawing/2014/main" val="2365589680"/>
                    </a:ext>
                  </a:extLst>
                </a:gridCol>
                <a:gridCol w="3426807">
                  <a:extLst>
                    <a:ext uri="{9D8B030D-6E8A-4147-A177-3AD203B41FA5}">
                      <a16:colId xmlns:a16="http://schemas.microsoft.com/office/drawing/2014/main" val="205174704"/>
                    </a:ext>
                  </a:extLst>
                </a:gridCol>
                <a:gridCol w="1618594">
                  <a:extLst>
                    <a:ext uri="{9D8B030D-6E8A-4147-A177-3AD203B41FA5}">
                      <a16:colId xmlns:a16="http://schemas.microsoft.com/office/drawing/2014/main" val="1893922479"/>
                    </a:ext>
                  </a:extLst>
                </a:gridCol>
              </a:tblGrid>
              <a:tr h="389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400" b="0" i="0" dirty="0">
                        <a:latin typeface="NanumSquareOTF_ac" panose="020B0600000101010101" pitchFamily="34" charset="-127"/>
                        <a:ea typeface="NanumSquareOTF_ac" panose="020B0600000101010101" pitchFamily="34" charset="-127"/>
                      </a:endParaRP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선행문헌 내 정합기준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실제 결과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내적 정합성 평가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73714593"/>
                  </a:ext>
                </a:extLst>
              </a:tr>
              <a:tr h="6693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1.</a:t>
                      </a: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 한국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 투입 확대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, </a:t>
                      </a:r>
                      <a:r>
                        <a:rPr lang="ko-KR" altLang="en-US" sz="1200" b="0" i="0" dirty="0" err="1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광산품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 감소 → 서비스화 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+ 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효율화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 크게 확대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, </a:t>
                      </a:r>
                      <a:r>
                        <a:rPr lang="ko-KR" altLang="en-US" sz="1200" b="0" i="0" dirty="0" err="1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광산품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·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전력 감소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정합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685927511"/>
                  </a:ext>
                </a:extLst>
              </a:tr>
              <a:tr h="6693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2.</a:t>
                      </a: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 중국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산업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·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 동반 성장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, </a:t>
                      </a:r>
                      <a:r>
                        <a:rPr lang="ko-KR" altLang="en-US" sz="1200" b="0" i="0" dirty="0" err="1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기초소재→조립가공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 확대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모든 부문 폭발적 증가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, 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산업 고도화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+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서비스화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정합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318366630"/>
                  </a:ext>
                </a:extLst>
              </a:tr>
              <a:tr h="6693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3.</a:t>
                      </a: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 일본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자원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·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에너지 투입 축소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, 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 집중 → 고효율 구조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 err="1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광산품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·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전력 감소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, 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 비중 확대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정합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316400582"/>
                  </a:ext>
                </a:extLst>
              </a:tr>
              <a:tr h="468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4.</a:t>
                      </a: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 러시아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자원 의존 완화 </a:t>
                      </a:r>
                      <a:r>
                        <a:rPr lang="en-US" altLang="ko-KR" sz="1200" b="0" i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+ </a:t>
                      </a:r>
                      <a:r>
                        <a:rPr lang="ko-KR" altLang="en-US" sz="1200" b="0" i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 확대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 err="1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광산품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 투입 고착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서비스 확대 제한적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부분 정합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50743718"/>
                  </a:ext>
                </a:extLst>
              </a:tr>
              <a:tr h="6693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5.</a:t>
                      </a: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 몽골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초기 산업화 → 기초소재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·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가공 확대 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+ 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 진입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절대 규모 작지만 </a:t>
                      </a:r>
                      <a:r>
                        <a:rPr lang="ko-KR" altLang="en-US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기초소재</a:t>
                      </a:r>
                      <a:r>
                        <a:rPr lang="en-US" altLang="ko-KR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·</a:t>
                      </a:r>
                      <a:r>
                        <a:rPr lang="ko-KR" altLang="en-US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가공</a:t>
                      </a:r>
                      <a:r>
                        <a:rPr lang="en-US" altLang="ko-KR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·</a:t>
                      </a:r>
                      <a:r>
                        <a:rPr lang="ko-KR" altLang="en-US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서비스 모두 증가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부분 정합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696300022"/>
                  </a:ext>
                </a:extLst>
              </a:tr>
              <a:tr h="468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6.</a:t>
                      </a:r>
                      <a:r>
                        <a:rPr lang="ko-KR" altLang="en-US" sz="14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 북한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성장</a:t>
                      </a:r>
                      <a:r>
                        <a:rPr lang="en-US" altLang="ko-KR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·</a:t>
                      </a:r>
                      <a:r>
                        <a:rPr lang="ko-KR" altLang="en-US" sz="1200" b="0" i="0" dirty="0">
                          <a:latin typeface="NanumSquareOTF_ac" panose="020B0600000101010101" pitchFamily="34" charset="-127"/>
                          <a:ea typeface="NanumSquareOTF_ac" panose="020B0600000101010101" pitchFamily="34" charset="-127"/>
                        </a:rPr>
                        <a:t>서비스화 진행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전 부문 투입 축소</a:t>
                      </a:r>
                      <a:r>
                        <a:rPr lang="en-US" altLang="ko-KR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, </a:t>
                      </a:r>
                      <a:r>
                        <a:rPr lang="ko-KR" altLang="en-US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산업</a:t>
                      </a:r>
                      <a:r>
                        <a:rPr lang="en-US" altLang="ko-KR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·</a:t>
                      </a:r>
                      <a:r>
                        <a:rPr lang="ko-KR" altLang="en-US" sz="1200" b="1" i="0" dirty="0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서비스 동반 위축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i="0" dirty="0" err="1">
                          <a:latin typeface="NanumSquareOTF_ac Bold" panose="020B0600000101010101" pitchFamily="34" charset="-127"/>
                          <a:ea typeface="NanumSquareOTF_ac Bold" panose="020B0600000101010101" pitchFamily="34" charset="-127"/>
                        </a:rPr>
                        <a:t>비정합</a:t>
                      </a:r>
                      <a:endParaRPr lang="ko-KR" altLang="en-US" sz="1400" b="1" i="0" dirty="0">
                        <a:latin typeface="NanumSquareOTF_ac Bold" panose="020B0600000101010101" pitchFamily="34" charset="-127"/>
                        <a:ea typeface="NanumSquareOTF_ac Bold" panose="020B0600000101010101" pitchFamily="34" charset="-127"/>
                      </a:endParaRP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51381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25996"/>
      </p:ext>
    </p:extLst>
  </p:cSld>
  <p:clrMapOvr>
    <a:masterClrMapping/>
  </p:clrMapOvr>
</p:sld>
</file>

<file path=ppt/theme/theme1.xml><?xml version="1.0" encoding="utf-8"?>
<a:theme xmlns:a="http://schemas.openxmlformats.org/drawingml/2006/main" name="GUIDE_국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UIDE_영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D053D10722644188575BD2C78AF005" ma:contentTypeVersion="16" ma:contentTypeDescription="새 문서를 만듭니다." ma:contentTypeScope="" ma:versionID="c9529d07e5af284fedacb9d1258482c7">
  <xsd:schema xmlns:xsd="http://www.w3.org/2001/XMLSchema" xmlns:xs="http://www.w3.org/2001/XMLSchema" xmlns:p="http://schemas.microsoft.com/office/2006/metadata/properties" xmlns:ns3="5bcc02bb-509a-425a-b41f-7dc2c5cd7755" xmlns:ns4="252bf9ee-d2f4-4a1e-9c28-929a2dfbc213" targetNamespace="http://schemas.microsoft.com/office/2006/metadata/properties" ma:root="true" ma:fieldsID="bb00bcfd29a48aaaaa3cce92a6d1829a" ns3:_="" ns4:_="">
    <xsd:import namespace="5bcc02bb-509a-425a-b41f-7dc2c5cd7755"/>
    <xsd:import namespace="252bf9ee-d2f4-4a1e-9c28-929a2dfbc21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cc02bb-509a-425a-b41f-7dc2c5cd77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f9ee-d2f4-4a1e-9c28-929a2dfbc21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bcc02bb-509a-425a-b41f-7dc2c5cd7755" xsi:nil="true"/>
  </documentManagement>
</p:properties>
</file>

<file path=customXml/itemProps1.xml><?xml version="1.0" encoding="utf-8"?>
<ds:datastoreItem xmlns:ds="http://schemas.openxmlformats.org/officeDocument/2006/customXml" ds:itemID="{BB56DC51-5717-4C38-B98E-3306631306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cc02bb-509a-425a-b41f-7dc2c5cd7755"/>
    <ds:schemaRef ds:uri="252bf9ee-d2f4-4a1e-9c28-929a2dfbc2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1D3DFC-3009-466B-9B79-683949CA2B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2EBBC4-9355-4057-9D3D-A638392C9843}">
  <ds:schemaRefs>
    <ds:schemaRef ds:uri="http://schemas.microsoft.com/office/2006/metadata/properties"/>
    <ds:schemaRef ds:uri="http://schemas.microsoft.com/office/infopath/2007/PartnerControls"/>
    <ds:schemaRef ds:uri="5bcc02bb-509a-425a-b41f-7dc2c5cd775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11755</TotalTime>
  <Words>1506</Words>
  <Application>Microsoft Macintosh PowerPoint</Application>
  <PresentationFormat>와이드스크린</PresentationFormat>
  <Paragraphs>212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NanumGothic</vt:lpstr>
      <vt:lpstr>NanumGothic</vt:lpstr>
      <vt:lpstr>맑은 고딕</vt:lpstr>
      <vt:lpstr>NanumBarunGothicOTF</vt:lpstr>
      <vt:lpstr>NanumSquareOTF_ac</vt:lpstr>
      <vt:lpstr>NanumSquareOTF_ac Bold</vt:lpstr>
      <vt:lpstr>Arial</vt:lpstr>
      <vt:lpstr>GUIDE_국문</vt:lpstr>
      <vt:lpstr>GUIDE_영문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KSS</dc:creator>
  <cp:lastModifiedBy>이한결</cp:lastModifiedBy>
  <cp:revision>343</cp:revision>
  <dcterms:created xsi:type="dcterms:W3CDTF">2018-07-09T07:43:46Z</dcterms:created>
  <dcterms:modified xsi:type="dcterms:W3CDTF">2025-08-26T08:38:14Z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0x01010050D053D10722644188575BD2C78AF005</vt:lpwstr>
  </property>
</Properties>
</file>