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charts/chart8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  <p:sldMasterId id="2147483661" r:id="rId5"/>
  </p:sldMasterIdLst>
  <p:notesMasterIdLst>
    <p:notesMasterId r:id="rId16"/>
  </p:notesMasterIdLst>
  <p:handoutMasterIdLst>
    <p:handoutMasterId r:id="rId17"/>
  </p:handoutMasterIdLst>
  <p:sldIdLst>
    <p:sldId id="3781" r:id="rId6"/>
    <p:sldId id="3771" r:id="rId7"/>
    <p:sldId id="3782" r:id="rId8"/>
    <p:sldId id="3789" r:id="rId9"/>
    <p:sldId id="3783" r:id="rId10"/>
    <p:sldId id="3787" r:id="rId11"/>
    <p:sldId id="3788" r:id="rId12"/>
    <p:sldId id="3790" r:id="rId13"/>
    <p:sldId id="3791" r:id="rId14"/>
    <p:sldId id="3780" r:id="rId15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  <p:ext uri="http://customooxmlschemas.google.com/">
      <go:slidesCustomData xmlns="" xmlns:p15="http://schemas.microsoft.com/office/powerpoint/2012/main" xmlns:go="http://customooxmlschemas.google.com/" roundtripDataSignature="AMtx7mhNA0fD7cqUszQJtVzHpjliEsXVTA==" r:id="rId178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JINTAE KIM" initials="" lastIdx="2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8F5FA"/>
    <a:srgbClr val="E45D5B"/>
    <a:srgbClr val="DBE9F5"/>
    <a:srgbClr val="FCE6FE"/>
    <a:srgbClr val="1E4649"/>
    <a:srgbClr val="385D8A"/>
    <a:srgbClr val="AFAFAF"/>
    <a:srgbClr val="F8FDFF"/>
    <a:srgbClr val="D6EDF6"/>
    <a:srgbClr val="FF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69CF1AB2-1976-4502-BF36-3FF5EA218861}" styleName="보통 스타일 4 - 강조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5FD0F851-EC5A-4D38-B0AD-8093EC10F338}" styleName="밝은 스타일 1 - 강조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68D230F3-CF80-4859-8CE7-A43EE81993B5}" styleName="밝은 스타일 1 - 강조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BC89EF96-8CEA-46FF-86C4-4CE0E7609802}" styleName="밝은 스타일 3 - 강조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8EC20E35-A176-4012-BC5E-935CFFF8708E}" styleName="보통 스타일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E25E649-3F16-4E02-A733-19D2CDBF48F0}" styleName="보통 스타일 3 - 강조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93D81CF-94F2-401A-BA57-92F5A7B2D0C5}" styleName="보통 스타일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6109" autoAdjust="0"/>
    <p:restoredTop sz="94355" autoAdjust="0"/>
  </p:normalViewPr>
  <p:slideViewPr>
    <p:cSldViewPr snapToGrid="0" showGuides="1">
      <p:cViewPr varScale="1">
        <p:scale>
          <a:sx n="108" d="100"/>
          <a:sy n="108" d="100"/>
        </p:scale>
        <p:origin x="224" y="49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 showGuides="1">
      <p:cViewPr varScale="1"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3" Type="http://schemas.openxmlformats.org/officeDocument/2006/relationships/customXml" Target="../customXml/item3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handoutMaster" Target="handoutMasters/handoutMaster1.xml"/><Relationship Id="rId183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179" Type="http://schemas.openxmlformats.org/officeDocument/2006/relationships/commentAuthors" Target="commentAuthors.xml"/><Relationship Id="rId182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178" Type="http://customschemas.google.com/relationships/presentationmetadata" Target="metadata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181" Type="http://schemas.openxmlformats.org/officeDocument/2006/relationships/viewProps" Target="viewProps.xml"/><Relationship Id="rId10" Type="http://schemas.openxmlformats.org/officeDocument/2006/relationships/slide" Target="slides/slide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180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&#53685;&#54633;%20&#47928;&#49436;1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&#53685;&#54633;%20&#47928;&#49436;1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&#53685;&#54633;%20&#47928;&#49436;1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&#53685;&#54633;%20&#47928;&#49436;1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oleObject" Target="&#53685;&#54633;%20&#47928;&#49436;1" TargetMode="External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oleObject" Target="&#53685;&#54633;%20&#47928;&#49436;1" TargetMode="External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oleObject" Target="&#53685;&#54633;%20&#47928;&#49436;1" TargetMode="External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oleObject" Target="&#53685;&#54633;%20&#47928;&#49436;1" TargetMode="External"/><Relationship Id="rId2" Type="http://schemas.microsoft.com/office/2011/relationships/chartColorStyle" Target="colors8.xml"/><Relationship Id="rId1" Type="http://schemas.microsoft.com/office/2011/relationships/chartStyle" Target="style8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소비구조!$N$3</c:f>
              <c:strCache>
                <c:ptCount val="1"/>
                <c:pt idx="0">
                  <c:v>1. 농림수산품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satMod val="103000"/>
                    <a:lumMod val="102000"/>
                    <a:tint val="94000"/>
                  </a:schemeClr>
                </a:gs>
                <a:gs pos="50000">
                  <a:schemeClr val="accent1">
                    <a:satMod val="110000"/>
                    <a:lumMod val="100000"/>
                    <a:shade val="100000"/>
                  </a:schemeClr>
                </a:gs>
                <a:gs pos="100000">
                  <a:schemeClr val="accent1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9.5278311269634361E-2"/>
                  <c:y val="1.2910568138700165E-2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A-14D7-434F-9C34-F8A2E863E2DA}"/>
                </c:ext>
              </c:extLst>
            </c:dLbl>
            <c:dLbl>
              <c:idx val="1"/>
              <c:layout>
                <c:manualLayout>
                  <c:x val="9.5278311269634403E-2"/>
                  <c:y val="2.582113627740033E-2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14D7-434F-9C34-F8A2E863E2DA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2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소비구조!$O$2:$R$2</c:f>
              <c:strCache>
                <c:ptCount val="2"/>
                <c:pt idx="0">
                  <c:v>2019 percent</c:v>
                </c:pt>
                <c:pt idx="1">
                  <c:v>2050 percent</c:v>
                </c:pt>
              </c:strCache>
            </c:strRef>
          </c:cat>
          <c:val>
            <c:numRef>
              <c:f>소비구조!$O$3:$R$3</c:f>
              <c:numCache>
                <c:formatCode>0%</c:formatCode>
                <c:ptCount val="2"/>
                <c:pt idx="0">
                  <c:v>7.9209516770366695E-2</c:v>
                </c:pt>
                <c:pt idx="1">
                  <c:v>0.11689581416430778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4D7-434F-9C34-F8A2E863E2DA}"/>
            </c:ext>
          </c:extLst>
        </c:ser>
        <c:ser>
          <c:idx val="1"/>
          <c:order val="1"/>
          <c:tx>
            <c:strRef>
              <c:f>소비구조!$N$4</c:f>
              <c:strCache>
                <c:ptCount val="1"/>
                <c:pt idx="0">
                  <c:v>2. 광산품</c:v>
                </c:pt>
              </c:strCache>
            </c:strRef>
          </c:tx>
          <c:spPr>
            <a:gradFill rotWithShape="1">
              <a:gsLst>
                <a:gs pos="0">
                  <a:schemeClr val="accent2">
                    <a:satMod val="103000"/>
                    <a:lumMod val="102000"/>
                    <a:tint val="94000"/>
                  </a:schemeClr>
                </a:gs>
                <a:gs pos="50000">
                  <a:schemeClr val="accent2">
                    <a:satMod val="110000"/>
                    <a:lumMod val="100000"/>
                    <a:shade val="100000"/>
                  </a:schemeClr>
                </a:gs>
                <a:gs pos="100000">
                  <a:schemeClr val="accent2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2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소비구조!$O$2:$R$2</c:f>
              <c:strCache>
                <c:ptCount val="2"/>
                <c:pt idx="0">
                  <c:v>2019 percent</c:v>
                </c:pt>
                <c:pt idx="1">
                  <c:v>2050 percent</c:v>
                </c:pt>
              </c:strCache>
            </c:strRef>
          </c:cat>
          <c:val>
            <c:numRef>
              <c:f>소비구조!$O$4:$R$4</c:f>
              <c:numCache>
                <c:formatCode>0%</c:formatCode>
                <c:ptCount val="2"/>
                <c:pt idx="0">
                  <c:v>2.1735863869243393E-3</c:v>
                </c:pt>
                <c:pt idx="1">
                  <c:v>1.4708920160605597E-3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14D7-434F-9C34-F8A2E863E2DA}"/>
            </c:ext>
          </c:extLst>
        </c:ser>
        <c:ser>
          <c:idx val="2"/>
          <c:order val="2"/>
          <c:tx>
            <c:strRef>
              <c:f>소비구조!$N$5</c:f>
              <c:strCache>
                <c:ptCount val="1"/>
                <c:pt idx="0">
                  <c:v>3. 공산품</c:v>
                </c:pt>
              </c:strCache>
            </c:strRef>
          </c:tx>
          <c:spPr>
            <a:gradFill rotWithShape="1">
              <a:gsLst>
                <a:gs pos="0">
                  <a:schemeClr val="accent3">
                    <a:satMod val="103000"/>
                    <a:lumMod val="102000"/>
                    <a:tint val="94000"/>
                  </a:schemeClr>
                </a:gs>
                <a:gs pos="50000">
                  <a:schemeClr val="accent3">
                    <a:satMod val="110000"/>
                    <a:lumMod val="100000"/>
                    <a:shade val="100000"/>
                  </a:schemeClr>
                </a:gs>
                <a:gs pos="100000">
                  <a:schemeClr val="accent3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2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소비구조!$O$2:$R$2</c:f>
              <c:strCache>
                <c:ptCount val="2"/>
                <c:pt idx="0">
                  <c:v>2019 percent</c:v>
                </c:pt>
                <c:pt idx="1">
                  <c:v>2050 percent</c:v>
                </c:pt>
              </c:strCache>
            </c:strRef>
          </c:cat>
          <c:val>
            <c:numRef>
              <c:f>소비구조!$O$5:$R$5</c:f>
              <c:numCache>
                <c:formatCode>0%</c:formatCode>
                <c:ptCount val="2"/>
                <c:pt idx="0">
                  <c:v>0.35250481295188862</c:v>
                </c:pt>
                <c:pt idx="1">
                  <c:v>0.42487504610286714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14D7-434F-9C34-F8A2E863E2DA}"/>
            </c:ext>
          </c:extLst>
        </c:ser>
        <c:ser>
          <c:idx val="3"/>
          <c:order val="3"/>
          <c:tx>
            <c:strRef>
              <c:f>소비구조!$N$6</c:f>
              <c:strCache>
                <c:ptCount val="1"/>
                <c:pt idx="0">
                  <c:v>4. 전력·가스·수도·폐기물</c:v>
                </c:pt>
              </c:strCache>
            </c:strRef>
          </c:tx>
          <c:spPr>
            <a:gradFill rotWithShape="1">
              <a:gsLst>
                <a:gs pos="0">
                  <a:schemeClr val="accent4">
                    <a:satMod val="103000"/>
                    <a:lumMod val="102000"/>
                    <a:tint val="94000"/>
                  </a:schemeClr>
                </a:gs>
                <a:gs pos="50000">
                  <a:schemeClr val="accent4">
                    <a:satMod val="110000"/>
                    <a:lumMod val="100000"/>
                    <a:shade val="100000"/>
                  </a:schemeClr>
                </a:gs>
                <a:gs pos="100000">
                  <a:schemeClr val="accent4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-9.2556073804787739E-2"/>
                  <c:y val="-1.6138210173375207E-2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14D7-434F-9C34-F8A2E863E2DA}"/>
                </c:ext>
              </c:extLst>
            </c:dLbl>
            <c:dLbl>
              <c:idx val="1"/>
              <c:layout>
                <c:manualLayout>
                  <c:x val="4.6278036902393856E-2"/>
                  <c:y val="5.4869914589475703E-2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14D7-434F-9C34-F8A2E863E2DA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2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소비구조!$O$2:$R$2</c:f>
              <c:strCache>
                <c:ptCount val="2"/>
                <c:pt idx="0">
                  <c:v>2019 percent</c:v>
                </c:pt>
                <c:pt idx="1">
                  <c:v>2050 percent</c:v>
                </c:pt>
              </c:strCache>
            </c:strRef>
          </c:cat>
          <c:val>
            <c:numRef>
              <c:f>소비구조!$O$6:$R$6</c:f>
              <c:numCache>
                <c:formatCode>0%</c:formatCode>
                <c:ptCount val="2"/>
                <c:pt idx="0">
                  <c:v>2.5072275267841112E-2</c:v>
                </c:pt>
                <c:pt idx="1">
                  <c:v>2.4112420821961963E-2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14D7-434F-9C34-F8A2E863E2DA}"/>
            </c:ext>
          </c:extLst>
        </c:ser>
        <c:ser>
          <c:idx val="4"/>
          <c:order val="4"/>
          <c:tx>
            <c:strRef>
              <c:f>소비구조!$N$7</c:f>
              <c:strCache>
                <c:ptCount val="1"/>
                <c:pt idx="0">
                  <c:v>5. 건설</c:v>
                </c:pt>
              </c:strCache>
            </c:strRef>
          </c:tx>
          <c:spPr>
            <a:gradFill rotWithShape="1">
              <a:gsLst>
                <a:gs pos="0">
                  <a:schemeClr val="accent5">
                    <a:satMod val="103000"/>
                    <a:lumMod val="102000"/>
                    <a:tint val="94000"/>
                  </a:schemeClr>
                </a:gs>
                <a:gs pos="50000">
                  <a:schemeClr val="accent5">
                    <a:satMod val="110000"/>
                    <a:lumMod val="100000"/>
                    <a:shade val="100000"/>
                  </a:schemeClr>
                </a:gs>
                <a:gs pos="100000">
                  <a:schemeClr val="accent5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2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소비구조!$O$2:$R$2</c:f>
              <c:strCache>
                <c:ptCount val="2"/>
                <c:pt idx="0">
                  <c:v>2019 percent</c:v>
                </c:pt>
                <c:pt idx="1">
                  <c:v>2050 percent</c:v>
                </c:pt>
              </c:strCache>
            </c:strRef>
          </c:cat>
          <c:val>
            <c:numRef>
              <c:f>소비구조!$O$7:$R$7</c:f>
              <c:numCache>
                <c:formatCode>0%</c:formatCode>
                <c:ptCount val="2"/>
                <c:pt idx="0">
                  <c:v>1.5880171671928207E-4</c:v>
                </c:pt>
                <c:pt idx="1">
                  <c:v>1.2946583374551362E-4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14D7-434F-9C34-F8A2E863E2DA}"/>
            </c:ext>
          </c:extLst>
        </c:ser>
        <c:ser>
          <c:idx val="5"/>
          <c:order val="5"/>
          <c:tx>
            <c:strRef>
              <c:f>소비구조!$N$8</c:f>
              <c:strCache>
                <c:ptCount val="1"/>
                <c:pt idx="0">
                  <c:v>6. 서비스</c:v>
                </c:pt>
              </c:strCache>
            </c:strRef>
          </c:tx>
          <c:spPr>
            <a:gradFill rotWithShape="1">
              <a:gsLst>
                <a:gs pos="0">
                  <a:schemeClr val="accent6">
                    <a:satMod val="103000"/>
                    <a:lumMod val="102000"/>
                    <a:tint val="94000"/>
                  </a:schemeClr>
                </a:gs>
                <a:gs pos="50000">
                  <a:schemeClr val="accent6">
                    <a:satMod val="110000"/>
                    <a:lumMod val="100000"/>
                    <a:shade val="100000"/>
                  </a:schemeClr>
                </a:gs>
                <a:gs pos="100000">
                  <a:schemeClr val="accent6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-9.5278311269634403E-2"/>
                  <c:y val="9.6829261040250643E-3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14D7-434F-9C34-F8A2E863E2DA}"/>
                </c:ext>
              </c:extLst>
            </c:dLbl>
            <c:dLbl>
              <c:idx val="1"/>
              <c:layout>
                <c:manualLayout>
                  <c:x val="-8.1667123945400918E-2"/>
                  <c:y val="1.9365852208050247E-2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14D7-434F-9C34-F8A2E863E2DA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2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소비구조!$O$2:$R$2</c:f>
              <c:strCache>
                <c:ptCount val="2"/>
                <c:pt idx="0">
                  <c:v>2019 percent</c:v>
                </c:pt>
                <c:pt idx="1">
                  <c:v>2050 percent</c:v>
                </c:pt>
              </c:strCache>
            </c:strRef>
          </c:cat>
          <c:val>
            <c:numRef>
              <c:f>소비구조!$O$8:$R$8</c:f>
              <c:numCache>
                <c:formatCode>0%</c:formatCode>
                <c:ptCount val="2"/>
                <c:pt idx="0">
                  <c:v>0.54088100690625984</c:v>
                </c:pt>
                <c:pt idx="1">
                  <c:v>0.43251636106105712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14D7-434F-9C34-F8A2E863E2DA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300"/>
        <c:axId val="531183951"/>
        <c:axId val="531100047"/>
      </c:barChart>
      <c:catAx>
        <c:axId val="53118395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2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531100047"/>
        <c:crosses val="autoZero"/>
        <c:auto val="1"/>
        <c:lblAlgn val="ctr"/>
        <c:lblOffset val="100"/>
        <c:noMultiLvlLbl val="0"/>
      </c:catAx>
      <c:valAx>
        <c:axId val="531100047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2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531183951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2"/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소비구조!$E$3</c:f>
              <c:strCache>
                <c:ptCount val="1"/>
                <c:pt idx="0">
                  <c:v>1. 농림수산품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satMod val="103000"/>
                    <a:lumMod val="102000"/>
                    <a:tint val="94000"/>
                  </a:schemeClr>
                </a:gs>
                <a:gs pos="50000">
                  <a:schemeClr val="accent1">
                    <a:satMod val="110000"/>
                    <a:lumMod val="100000"/>
                    <a:shade val="100000"/>
                  </a:schemeClr>
                </a:gs>
                <a:gs pos="100000">
                  <a:schemeClr val="accent1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-4.9726258287623865E-2"/>
                  <c:y val="1.2872882816221742E-2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A-496E-944A-BAED-D604D93033E8}"/>
                </c:ext>
              </c:extLst>
            </c:dLbl>
            <c:dLbl>
              <c:idx val="1"/>
              <c:layout>
                <c:manualLayout>
                  <c:x val="-5.7577772754090775E-2"/>
                  <c:y val="1.287288281622186E-2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496E-944A-BAED-D604D93033E8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2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소비구조!$F$2:$I$2</c:f>
              <c:strCache>
                <c:ptCount val="2"/>
                <c:pt idx="0">
                  <c:v>2019 percent</c:v>
                </c:pt>
                <c:pt idx="1">
                  <c:v>2050 percent</c:v>
                </c:pt>
              </c:strCache>
            </c:strRef>
          </c:cat>
          <c:val>
            <c:numRef>
              <c:f>소비구조!$F$3:$I$3</c:f>
              <c:numCache>
                <c:formatCode>0.00%</c:formatCode>
                <c:ptCount val="2"/>
                <c:pt idx="0">
                  <c:v>1.852341042346262E-2</c:v>
                </c:pt>
                <c:pt idx="1">
                  <c:v>1.7342972632611749E-2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96E-944A-BAED-D604D93033E8}"/>
            </c:ext>
          </c:extLst>
        </c:ser>
        <c:ser>
          <c:idx val="1"/>
          <c:order val="1"/>
          <c:tx>
            <c:strRef>
              <c:f>소비구조!$E$4</c:f>
              <c:strCache>
                <c:ptCount val="1"/>
                <c:pt idx="0">
                  <c:v>2. 광산품</c:v>
                </c:pt>
              </c:strCache>
            </c:strRef>
          </c:tx>
          <c:spPr>
            <a:gradFill rotWithShape="1">
              <a:gsLst>
                <a:gs pos="0">
                  <a:schemeClr val="accent2">
                    <a:satMod val="103000"/>
                    <a:lumMod val="102000"/>
                    <a:tint val="94000"/>
                  </a:schemeClr>
                </a:gs>
                <a:gs pos="50000">
                  <a:schemeClr val="accent2">
                    <a:satMod val="110000"/>
                    <a:lumMod val="100000"/>
                    <a:shade val="100000"/>
                  </a:schemeClr>
                </a:gs>
                <a:gs pos="100000">
                  <a:schemeClr val="accent2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5.4913294797687862E-2"/>
                  <c:y val="-1.0536276751464822E-16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496E-944A-BAED-D604D93033E8}"/>
                </c:ext>
              </c:extLst>
            </c:dLbl>
            <c:dLbl>
              <c:idx val="1"/>
              <c:layout>
                <c:manualLayout>
                  <c:x val="0.1069364161849711"/>
                  <c:y val="1.1313241006750355E-7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1383380365026626"/>
                      <c:h val="4.0186894741605569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2-496E-944A-BAED-D604D93033E8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2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소비구조!$F$2:$I$2</c:f>
              <c:strCache>
                <c:ptCount val="2"/>
                <c:pt idx="0">
                  <c:v>2019 percent</c:v>
                </c:pt>
                <c:pt idx="1">
                  <c:v>2050 percent</c:v>
                </c:pt>
              </c:strCache>
            </c:strRef>
          </c:cat>
          <c:val>
            <c:numRef>
              <c:f>소비구조!$F$4:$I$4</c:f>
              <c:numCache>
                <c:formatCode>0.00%</c:formatCode>
                <c:ptCount val="2"/>
                <c:pt idx="0">
                  <c:v>6.1491822749009479E-3</c:v>
                </c:pt>
                <c:pt idx="1">
                  <c:v>6.9812539546863228E-3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496E-944A-BAED-D604D93033E8}"/>
            </c:ext>
          </c:extLst>
        </c:ser>
        <c:ser>
          <c:idx val="2"/>
          <c:order val="2"/>
          <c:tx>
            <c:strRef>
              <c:f>소비구조!$E$5</c:f>
              <c:strCache>
                <c:ptCount val="1"/>
                <c:pt idx="0">
                  <c:v>3. 공산품</c:v>
                </c:pt>
              </c:strCache>
            </c:strRef>
          </c:tx>
          <c:spPr>
            <a:gradFill rotWithShape="1">
              <a:gsLst>
                <a:gs pos="0">
                  <a:schemeClr val="accent3">
                    <a:satMod val="103000"/>
                    <a:lumMod val="102000"/>
                    <a:tint val="94000"/>
                  </a:schemeClr>
                </a:gs>
                <a:gs pos="50000">
                  <a:schemeClr val="accent3">
                    <a:satMod val="110000"/>
                    <a:lumMod val="100000"/>
                    <a:shade val="100000"/>
                  </a:schemeClr>
                </a:gs>
                <a:gs pos="100000">
                  <a:schemeClr val="accent3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2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소비구조!$F$2:$I$2</c:f>
              <c:strCache>
                <c:ptCount val="2"/>
                <c:pt idx="0">
                  <c:v>2019 percent</c:v>
                </c:pt>
                <c:pt idx="1">
                  <c:v>2050 percent</c:v>
                </c:pt>
              </c:strCache>
            </c:strRef>
          </c:cat>
          <c:val>
            <c:numRef>
              <c:f>소비구조!$F$5:$I$5</c:f>
              <c:numCache>
                <c:formatCode>0.00%</c:formatCode>
                <c:ptCount val="2"/>
                <c:pt idx="0">
                  <c:v>0.22524581694470056</c:v>
                </c:pt>
                <c:pt idx="1">
                  <c:v>0.24215956287396254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496E-944A-BAED-D604D93033E8}"/>
            </c:ext>
          </c:extLst>
        </c:ser>
        <c:ser>
          <c:idx val="3"/>
          <c:order val="3"/>
          <c:tx>
            <c:strRef>
              <c:f>소비구조!$E$6</c:f>
              <c:strCache>
                <c:ptCount val="1"/>
                <c:pt idx="0">
                  <c:v>4. 전력·가스·수도·폐기물</c:v>
                </c:pt>
              </c:strCache>
            </c:strRef>
          </c:tx>
          <c:spPr>
            <a:gradFill rotWithShape="1">
              <a:gsLst>
                <a:gs pos="0">
                  <a:schemeClr val="accent4">
                    <a:satMod val="103000"/>
                    <a:lumMod val="102000"/>
                    <a:tint val="94000"/>
                  </a:schemeClr>
                </a:gs>
                <a:gs pos="50000">
                  <a:schemeClr val="accent4">
                    <a:satMod val="110000"/>
                    <a:lumMod val="100000"/>
                    <a:shade val="100000"/>
                  </a:schemeClr>
                </a:gs>
                <a:gs pos="100000">
                  <a:schemeClr val="accent4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-0.10992120253053693"/>
                  <c:y val="-3.2182207040554649E-3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C-496E-944A-BAED-D604D93033E8}"/>
                </c:ext>
              </c:extLst>
            </c:dLbl>
            <c:dLbl>
              <c:idx val="1"/>
              <c:layout>
                <c:manualLayout>
                  <c:x val="8.1132316153491549E-2"/>
                  <c:y val="4.1836869152721043E-2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D-496E-944A-BAED-D604D93033E8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2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소비구조!$F$2:$I$2</c:f>
              <c:strCache>
                <c:ptCount val="2"/>
                <c:pt idx="0">
                  <c:v>2019 percent</c:v>
                </c:pt>
                <c:pt idx="1">
                  <c:v>2050 percent</c:v>
                </c:pt>
              </c:strCache>
            </c:strRef>
          </c:cat>
          <c:val>
            <c:numRef>
              <c:f>소비구조!$F$6:$I$6</c:f>
              <c:numCache>
                <c:formatCode>0.00%</c:formatCode>
                <c:ptCount val="2"/>
                <c:pt idx="0">
                  <c:v>2.0554769724446659E-2</c:v>
                </c:pt>
                <c:pt idx="1">
                  <c:v>2.0371304228935589E-2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496E-944A-BAED-D604D93033E8}"/>
            </c:ext>
          </c:extLst>
        </c:ser>
        <c:ser>
          <c:idx val="4"/>
          <c:order val="4"/>
          <c:tx>
            <c:strRef>
              <c:f>소비구조!$E$7</c:f>
              <c:strCache>
                <c:ptCount val="1"/>
                <c:pt idx="0">
                  <c:v>5. 건설</c:v>
                </c:pt>
              </c:strCache>
            </c:strRef>
          </c:tx>
          <c:spPr>
            <a:gradFill rotWithShape="1">
              <a:gsLst>
                <a:gs pos="0">
                  <a:schemeClr val="accent5">
                    <a:satMod val="103000"/>
                    <a:lumMod val="102000"/>
                    <a:tint val="94000"/>
                  </a:schemeClr>
                </a:gs>
                <a:gs pos="50000">
                  <a:schemeClr val="accent5">
                    <a:satMod val="110000"/>
                    <a:lumMod val="100000"/>
                    <a:shade val="100000"/>
                  </a:schemeClr>
                </a:gs>
                <a:gs pos="100000">
                  <a:schemeClr val="accent5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8.6705316098493468E-2"/>
                  <c:y val="5.7472395691916768E-3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noAutofit/>
                </a:bodyPr>
                <a:lstStyle/>
                <a:p>
                  <a:pPr>
                    <a:defRPr sz="900" b="0" i="0" u="none" strike="noStrike" kern="1200" baseline="0">
                      <a:solidFill>
                        <a:schemeClr val="tx2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ko-KR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10943630239861635"/>
                      <c:h val="2.8692641868042355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6-496E-944A-BAED-D604D93033E8}"/>
                </c:ext>
              </c:extLst>
            </c:dLbl>
            <c:dLbl>
              <c:idx val="1"/>
              <c:layout>
                <c:manualLayout>
                  <c:x val="4.6242774566473986E-2"/>
                  <c:y val="-2.8735632183908046E-3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496E-944A-BAED-D604D93033E8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2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소비구조!$F$2:$I$2</c:f>
              <c:strCache>
                <c:ptCount val="2"/>
                <c:pt idx="0">
                  <c:v>2019 percent</c:v>
                </c:pt>
                <c:pt idx="1">
                  <c:v>2050 percent</c:v>
                </c:pt>
              </c:strCache>
            </c:strRef>
          </c:cat>
          <c:val>
            <c:numRef>
              <c:f>소비구조!$F$7:$I$7</c:f>
              <c:numCache>
                <c:formatCode>0.00%</c:formatCode>
                <c:ptCount val="2"/>
                <c:pt idx="0">
                  <c:v>1.5729342233017027E-4</c:v>
                </c:pt>
                <c:pt idx="1">
                  <c:v>1.4864522051826926E-4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496E-944A-BAED-D604D93033E8}"/>
            </c:ext>
          </c:extLst>
        </c:ser>
        <c:ser>
          <c:idx val="5"/>
          <c:order val="5"/>
          <c:tx>
            <c:strRef>
              <c:f>소비구조!$E$8</c:f>
              <c:strCache>
                <c:ptCount val="1"/>
                <c:pt idx="0">
                  <c:v>6. 서비스</c:v>
                </c:pt>
              </c:strCache>
            </c:strRef>
          </c:tx>
          <c:spPr>
            <a:gradFill rotWithShape="1">
              <a:gsLst>
                <a:gs pos="0">
                  <a:schemeClr val="accent6">
                    <a:satMod val="103000"/>
                    <a:lumMod val="102000"/>
                    <a:tint val="94000"/>
                  </a:schemeClr>
                </a:gs>
                <a:gs pos="50000">
                  <a:schemeClr val="accent6">
                    <a:satMod val="110000"/>
                    <a:lumMod val="100000"/>
                    <a:shade val="100000"/>
                  </a:schemeClr>
                </a:gs>
                <a:gs pos="100000">
                  <a:schemeClr val="accent6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-9.9452516575247729E-2"/>
                  <c:y val="-5.9000031334286883E-17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E-496E-944A-BAED-D604D93033E8}"/>
                </c:ext>
              </c:extLst>
            </c:dLbl>
            <c:dLbl>
              <c:idx val="1"/>
              <c:layout>
                <c:manualLayout>
                  <c:x val="-7.8515144664669231E-2"/>
                  <c:y val="6.4364414081109298E-3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F-496E-944A-BAED-D604D93033E8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2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소비구조!$F$2:$I$2</c:f>
              <c:strCache>
                <c:ptCount val="2"/>
                <c:pt idx="0">
                  <c:v>2019 percent</c:v>
                </c:pt>
                <c:pt idx="1">
                  <c:v>2050 percent</c:v>
                </c:pt>
              </c:strCache>
            </c:strRef>
          </c:cat>
          <c:val>
            <c:numRef>
              <c:f>소비구조!$F$8:$I$8</c:f>
              <c:numCache>
                <c:formatCode>0.00%</c:formatCode>
                <c:ptCount val="2"/>
                <c:pt idx="0">
                  <c:v>0.72936952721015902</c:v>
                </c:pt>
                <c:pt idx="1">
                  <c:v>0.7129962610892856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9-496E-944A-BAED-D604D93033E8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300"/>
        <c:axId val="531183951"/>
        <c:axId val="531100047"/>
      </c:barChart>
      <c:catAx>
        <c:axId val="53118395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2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531100047"/>
        <c:crosses val="autoZero"/>
        <c:auto val="1"/>
        <c:lblAlgn val="ctr"/>
        <c:lblOffset val="100"/>
        <c:noMultiLvlLbl val="0"/>
      </c:catAx>
      <c:valAx>
        <c:axId val="531100047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2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.0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531183951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2"/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소비구조!$E$31</c:f>
              <c:strCache>
                <c:ptCount val="1"/>
                <c:pt idx="0">
                  <c:v>1. 농림수산품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-3.3707865168539339E-2"/>
                  <c:y val="-2.3496892674705071E-2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F-3A94-1C44-B77F-AFE333C07ECF}"/>
                </c:ext>
              </c:extLst>
            </c:dLbl>
            <c:dLbl>
              <c:idx val="1"/>
              <c:layout>
                <c:manualLayout>
                  <c:x val="-3.9325842696629212E-2"/>
                  <c:y val="-1.6783494767646515E-2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E-3A94-1C44-B77F-AFE333C07ECF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소비구조!$H$30:$I$30</c:f>
              <c:strCache>
                <c:ptCount val="2"/>
                <c:pt idx="0">
                  <c:v>2019 percent</c:v>
                </c:pt>
                <c:pt idx="1">
                  <c:v>2050 percent</c:v>
                </c:pt>
              </c:strCache>
            </c:strRef>
          </c:cat>
          <c:val>
            <c:numRef>
              <c:f>소비구조!$H$31:$I$31</c:f>
              <c:numCache>
                <c:formatCode>0%</c:formatCode>
                <c:ptCount val="2"/>
                <c:pt idx="0">
                  <c:v>1.2360296859811978E-2</c:v>
                </c:pt>
                <c:pt idx="1">
                  <c:v>1.1420624486717296E-2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A94-1C44-B77F-AFE333C07ECF}"/>
            </c:ext>
          </c:extLst>
        </c:ser>
        <c:ser>
          <c:idx val="1"/>
          <c:order val="1"/>
          <c:tx>
            <c:strRef>
              <c:f>소비구조!$E$32</c:f>
              <c:strCache>
                <c:ptCount val="1"/>
                <c:pt idx="0">
                  <c:v>2. 광산품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소비구조!$H$30:$I$30</c:f>
              <c:strCache>
                <c:ptCount val="2"/>
                <c:pt idx="0">
                  <c:v>2019 percent</c:v>
                </c:pt>
                <c:pt idx="1">
                  <c:v>2050 percent</c:v>
                </c:pt>
              </c:strCache>
            </c:strRef>
          </c:cat>
          <c:val>
            <c:numRef>
              <c:f>소비구조!$H$32:$I$32</c:f>
              <c:numCache>
                <c:formatCode>0%</c:formatCode>
                <c:ptCount val="2"/>
                <c:pt idx="0">
                  <c:v>1.6692270194969851E-3</c:v>
                </c:pt>
                <c:pt idx="1">
                  <c:v>1.4869763657194468E-3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3A94-1C44-B77F-AFE333C07ECF}"/>
            </c:ext>
          </c:extLst>
        </c:ser>
        <c:ser>
          <c:idx val="2"/>
          <c:order val="2"/>
          <c:tx>
            <c:strRef>
              <c:f>소비구조!$E$33</c:f>
              <c:strCache>
                <c:ptCount val="1"/>
                <c:pt idx="0">
                  <c:v>3. 공산품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9.2592592592592532E-2"/>
                  <c:y val="-1.1866098089028343E-16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3A94-1C44-B77F-AFE333C07ECF}"/>
                </c:ext>
              </c:extLst>
            </c:dLbl>
            <c:dLbl>
              <c:idx val="1"/>
              <c:layout>
                <c:manualLayout>
                  <c:x val="8.6419753086419748E-2"/>
                  <c:y val="3.2362459546925568E-3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3A94-1C44-B77F-AFE333C07ECF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소비구조!$H$30:$I$30</c:f>
              <c:strCache>
                <c:ptCount val="2"/>
                <c:pt idx="0">
                  <c:v>2019 percent</c:v>
                </c:pt>
                <c:pt idx="1">
                  <c:v>2050 percent</c:v>
                </c:pt>
              </c:strCache>
            </c:strRef>
          </c:cat>
          <c:val>
            <c:numRef>
              <c:f>소비구조!$H$33:$I$33</c:f>
              <c:numCache>
                <c:formatCode>0%</c:formatCode>
                <c:ptCount val="2"/>
                <c:pt idx="0">
                  <c:v>0.19216559460199359</c:v>
                </c:pt>
                <c:pt idx="1">
                  <c:v>0.19369258480552659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3A94-1C44-B77F-AFE333C07ECF}"/>
            </c:ext>
          </c:extLst>
        </c:ser>
        <c:ser>
          <c:idx val="3"/>
          <c:order val="3"/>
          <c:tx>
            <c:strRef>
              <c:f>소비구조!$E$34</c:f>
              <c:strCache>
                <c:ptCount val="1"/>
                <c:pt idx="0">
                  <c:v>4. 전력·가스·수도·폐기물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7.716049382716049E-2"/>
                  <c:y val="1.9417475728155338E-2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3A94-1C44-B77F-AFE333C07ECF}"/>
                </c:ext>
              </c:extLst>
            </c:dLbl>
            <c:dLbl>
              <c:idx val="1"/>
              <c:layout>
                <c:manualLayout>
                  <c:x val="5.8641975308641972E-2"/>
                  <c:y val="2.5889967637540454E-2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3A94-1C44-B77F-AFE333C07ECF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소비구조!$H$30:$I$30</c:f>
              <c:strCache>
                <c:ptCount val="2"/>
                <c:pt idx="0">
                  <c:v>2019 percent</c:v>
                </c:pt>
                <c:pt idx="1">
                  <c:v>2050 percent</c:v>
                </c:pt>
              </c:strCache>
            </c:strRef>
          </c:cat>
          <c:val>
            <c:numRef>
              <c:f>소비구조!$H$34:$I$34</c:f>
              <c:numCache>
                <c:formatCode>0%</c:formatCode>
                <c:ptCount val="2"/>
                <c:pt idx="0">
                  <c:v>2.7087972700419443E-2</c:v>
                </c:pt>
                <c:pt idx="1">
                  <c:v>2.5597925826116235E-2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7-3A94-1C44-B77F-AFE333C07ECF}"/>
            </c:ext>
          </c:extLst>
        </c:ser>
        <c:ser>
          <c:idx val="4"/>
          <c:order val="4"/>
          <c:tx>
            <c:strRef>
              <c:f>소비구조!$E$35</c:f>
              <c:strCache>
                <c:ptCount val="1"/>
                <c:pt idx="0">
                  <c:v>5. 건설</c:v>
                </c:pt>
              </c:strCache>
            </c:strRef>
          </c:tx>
          <c:spPr>
            <a:solidFill>
              <a:schemeClr val="accent5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8.9506172839506112E-2"/>
                  <c:y val="9.7087378640775511E-3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3A94-1C44-B77F-AFE333C07ECF}"/>
                </c:ext>
              </c:extLst>
            </c:dLbl>
            <c:dLbl>
              <c:idx val="1"/>
              <c:layout>
                <c:manualLayout>
                  <c:x val="0.13580246913580246"/>
                  <c:y val="1.2944983818770227E-2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3A94-1C44-B77F-AFE333C07ECF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소비구조!$H$30:$I$30</c:f>
              <c:strCache>
                <c:ptCount val="2"/>
                <c:pt idx="0">
                  <c:v>2019 percent</c:v>
                </c:pt>
                <c:pt idx="1">
                  <c:v>2050 percent</c:v>
                </c:pt>
              </c:strCache>
            </c:strRef>
          </c:cat>
          <c:val>
            <c:numRef>
              <c:f>소비구조!$H$35:$I$35</c:f>
              <c:numCache>
                <c:formatCode>0%</c:formatCode>
                <c:ptCount val="2"/>
                <c:pt idx="0">
                  <c:v>2.4452271282975508E-4</c:v>
                </c:pt>
                <c:pt idx="1">
                  <c:v>2.3180747915041566E-4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3A94-1C44-B77F-AFE333C07ECF}"/>
            </c:ext>
          </c:extLst>
        </c:ser>
        <c:ser>
          <c:idx val="5"/>
          <c:order val="5"/>
          <c:tx>
            <c:strRef>
              <c:f>소비구조!$E$36</c:f>
              <c:strCache>
                <c:ptCount val="1"/>
                <c:pt idx="0">
                  <c:v>6. 서비스</c:v>
                </c:pt>
              </c:strCache>
            </c:strRef>
          </c:tx>
          <c:spPr>
            <a:solidFill>
              <a:schemeClr val="accent6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6.4814814814814811E-2"/>
                  <c:y val="-9.7087378640777298E-3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3A94-1C44-B77F-AFE333C07ECF}"/>
                </c:ext>
              </c:extLst>
            </c:dLbl>
            <c:dLbl>
              <c:idx val="1"/>
              <c:layout>
                <c:manualLayout>
                  <c:x val="6.1728395061728392E-2"/>
                  <c:y val="-1.2944983818770345E-2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C-3A94-1C44-B77F-AFE333C07ECF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소비구조!$H$30:$I$30</c:f>
              <c:strCache>
                <c:ptCount val="2"/>
                <c:pt idx="0">
                  <c:v>2019 percent</c:v>
                </c:pt>
                <c:pt idx="1">
                  <c:v>2050 percent</c:v>
                </c:pt>
              </c:strCache>
            </c:strRef>
          </c:cat>
          <c:val>
            <c:numRef>
              <c:f>소비구조!$H$36:$I$36</c:f>
              <c:numCache>
                <c:formatCode>0%</c:formatCode>
                <c:ptCount val="2"/>
                <c:pt idx="0">
                  <c:v>0.76647238610544821</c:v>
                </c:pt>
                <c:pt idx="1">
                  <c:v>0.76757008103677005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D-3A94-1C44-B77F-AFE333C07ECF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300"/>
        <c:axId val="531183951"/>
        <c:axId val="531100047"/>
      </c:barChart>
      <c:catAx>
        <c:axId val="53118395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531100047"/>
        <c:crosses val="autoZero"/>
        <c:auto val="1"/>
        <c:lblAlgn val="ctr"/>
        <c:lblOffset val="100"/>
        <c:noMultiLvlLbl val="0"/>
      </c:catAx>
      <c:valAx>
        <c:axId val="531100047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531183951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소비구조!$N$31</c:f>
              <c:strCache>
                <c:ptCount val="1"/>
                <c:pt idx="0">
                  <c:v>1. 농림수산품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satMod val="103000"/>
                    <a:lumMod val="102000"/>
                    <a:tint val="94000"/>
                  </a:schemeClr>
                </a:gs>
                <a:gs pos="50000">
                  <a:schemeClr val="accent1">
                    <a:satMod val="110000"/>
                    <a:lumMod val="100000"/>
                    <a:shade val="100000"/>
                  </a:schemeClr>
                </a:gs>
                <a:gs pos="100000">
                  <a:schemeClr val="accent1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-4.3555799437547171E-2"/>
                  <c:y val="-2.3745609466191343E-2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ED00-1D42-AD3E-8DCC7030D6DC}"/>
                </c:ext>
              </c:extLst>
            </c:dLbl>
            <c:dLbl>
              <c:idx val="1"/>
              <c:layout>
                <c:manualLayout>
                  <c:x val="-5.1722511832087252E-2"/>
                  <c:y val="-2.3745609466191222E-2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ED00-1D42-AD3E-8DCC7030D6DC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2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소비구조!$O$30:$R$30</c:f>
              <c:strCache>
                <c:ptCount val="2"/>
                <c:pt idx="0">
                  <c:v>2019 percent</c:v>
                </c:pt>
                <c:pt idx="1">
                  <c:v>2050 percent</c:v>
                </c:pt>
              </c:strCache>
            </c:strRef>
          </c:cat>
          <c:val>
            <c:numRef>
              <c:f>소비구조!$O$31:$R$31</c:f>
              <c:numCache>
                <c:formatCode>0%</c:formatCode>
                <c:ptCount val="2"/>
                <c:pt idx="0">
                  <c:v>2.9275704537816614E-2</c:v>
                </c:pt>
                <c:pt idx="1">
                  <c:v>2.3984338320567938E-2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D00-1D42-AD3E-8DCC7030D6DC}"/>
            </c:ext>
          </c:extLst>
        </c:ser>
        <c:ser>
          <c:idx val="1"/>
          <c:order val="1"/>
          <c:tx>
            <c:strRef>
              <c:f>소비구조!$N$32</c:f>
              <c:strCache>
                <c:ptCount val="1"/>
                <c:pt idx="0">
                  <c:v>2. 광산품</c:v>
                </c:pt>
              </c:strCache>
            </c:strRef>
          </c:tx>
          <c:spPr>
            <a:gradFill rotWithShape="1">
              <a:gsLst>
                <a:gs pos="0">
                  <a:schemeClr val="accent2">
                    <a:satMod val="103000"/>
                    <a:lumMod val="102000"/>
                    <a:tint val="94000"/>
                  </a:schemeClr>
                </a:gs>
                <a:gs pos="50000">
                  <a:schemeClr val="accent2">
                    <a:satMod val="110000"/>
                    <a:lumMod val="100000"/>
                    <a:shade val="100000"/>
                  </a:schemeClr>
                </a:gs>
                <a:gs pos="100000">
                  <a:schemeClr val="accent2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2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소비구조!$O$30:$R$30</c:f>
              <c:strCache>
                <c:ptCount val="2"/>
                <c:pt idx="0">
                  <c:v>2019 percent</c:v>
                </c:pt>
                <c:pt idx="1">
                  <c:v>2050 percent</c:v>
                </c:pt>
              </c:strCache>
            </c:strRef>
          </c:cat>
          <c:val>
            <c:numRef>
              <c:f>소비구조!$O$32:$R$32</c:f>
              <c:numCache>
                <c:formatCode>0%</c:formatCode>
                <c:ptCount val="2"/>
                <c:pt idx="0">
                  <c:v>1.1274637851600898E-2</c:v>
                </c:pt>
                <c:pt idx="1">
                  <c:v>8.6128406452601319E-3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ED00-1D42-AD3E-8DCC7030D6DC}"/>
            </c:ext>
          </c:extLst>
        </c:ser>
        <c:ser>
          <c:idx val="2"/>
          <c:order val="2"/>
          <c:tx>
            <c:strRef>
              <c:f>소비구조!$N$33</c:f>
              <c:strCache>
                <c:ptCount val="1"/>
                <c:pt idx="0">
                  <c:v>3. 공산품</c:v>
                </c:pt>
              </c:strCache>
            </c:strRef>
          </c:tx>
          <c:spPr>
            <a:gradFill rotWithShape="1">
              <a:gsLst>
                <a:gs pos="0">
                  <a:schemeClr val="accent3">
                    <a:satMod val="103000"/>
                    <a:lumMod val="102000"/>
                    <a:tint val="94000"/>
                  </a:schemeClr>
                </a:gs>
                <a:gs pos="50000">
                  <a:schemeClr val="accent3">
                    <a:satMod val="110000"/>
                    <a:lumMod val="100000"/>
                    <a:shade val="100000"/>
                  </a:schemeClr>
                </a:gs>
                <a:gs pos="100000">
                  <a:schemeClr val="accent3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2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소비구조!$O$30:$R$30</c:f>
              <c:strCache>
                <c:ptCount val="2"/>
                <c:pt idx="0">
                  <c:v>2019 percent</c:v>
                </c:pt>
                <c:pt idx="1">
                  <c:v>2050 percent</c:v>
                </c:pt>
              </c:strCache>
            </c:strRef>
          </c:cat>
          <c:val>
            <c:numRef>
              <c:f>소비구조!$O$33:$R$33</c:f>
              <c:numCache>
                <c:formatCode>0%</c:formatCode>
                <c:ptCount val="2"/>
                <c:pt idx="0">
                  <c:v>0.27112190274044784</c:v>
                </c:pt>
                <c:pt idx="1">
                  <c:v>0.25487256598953978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ED00-1D42-AD3E-8DCC7030D6DC}"/>
            </c:ext>
          </c:extLst>
        </c:ser>
        <c:ser>
          <c:idx val="3"/>
          <c:order val="3"/>
          <c:tx>
            <c:strRef>
              <c:f>소비구조!$N$34</c:f>
              <c:strCache>
                <c:ptCount val="1"/>
                <c:pt idx="0">
                  <c:v>4. 전력·가스·수도·폐기물</c:v>
                </c:pt>
              </c:strCache>
            </c:strRef>
          </c:tx>
          <c:spPr>
            <a:gradFill rotWithShape="1">
              <a:gsLst>
                <a:gs pos="0">
                  <a:schemeClr val="accent4">
                    <a:satMod val="103000"/>
                    <a:lumMod val="102000"/>
                    <a:tint val="94000"/>
                  </a:schemeClr>
                </a:gs>
                <a:gs pos="50000">
                  <a:schemeClr val="accent4">
                    <a:satMod val="110000"/>
                    <a:lumMod val="100000"/>
                    <a:shade val="100000"/>
                  </a:schemeClr>
                </a:gs>
                <a:gs pos="100000">
                  <a:schemeClr val="accent4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7.8944886480554227E-2"/>
                  <c:y val="3.3922299237416027E-2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ED00-1D42-AD3E-8DCC7030D6DC}"/>
                </c:ext>
              </c:extLst>
            </c:dLbl>
            <c:dLbl>
              <c:idx val="1"/>
              <c:layout>
                <c:manualLayout>
                  <c:x val="8.438936141024761E-2"/>
                  <c:y val="3.0530069313674427E-2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ED00-1D42-AD3E-8DCC7030D6DC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2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소비구조!$O$30:$R$30</c:f>
              <c:strCache>
                <c:ptCount val="2"/>
                <c:pt idx="0">
                  <c:v>2019 percent</c:v>
                </c:pt>
                <c:pt idx="1">
                  <c:v>2050 percent</c:v>
                </c:pt>
              </c:strCache>
            </c:strRef>
          </c:cat>
          <c:val>
            <c:numRef>
              <c:f>소비구조!$O$34:$R$34</c:f>
              <c:numCache>
                <c:formatCode>0%</c:formatCode>
                <c:ptCount val="2"/>
                <c:pt idx="0">
                  <c:v>8.2542018808437811E-2</c:v>
                </c:pt>
                <c:pt idx="1">
                  <c:v>7.721586884383512E-2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ED00-1D42-AD3E-8DCC7030D6DC}"/>
            </c:ext>
          </c:extLst>
        </c:ser>
        <c:ser>
          <c:idx val="4"/>
          <c:order val="4"/>
          <c:tx>
            <c:strRef>
              <c:f>소비구조!$N$35</c:f>
              <c:strCache>
                <c:ptCount val="1"/>
                <c:pt idx="0">
                  <c:v>5. 건설</c:v>
                </c:pt>
              </c:strCache>
            </c:strRef>
          </c:tx>
          <c:spPr>
            <a:gradFill rotWithShape="1">
              <a:gsLst>
                <a:gs pos="0">
                  <a:schemeClr val="accent5">
                    <a:satMod val="103000"/>
                    <a:lumMod val="102000"/>
                    <a:tint val="94000"/>
                  </a:schemeClr>
                </a:gs>
                <a:gs pos="50000">
                  <a:schemeClr val="accent5">
                    <a:satMod val="110000"/>
                    <a:lumMod val="100000"/>
                    <a:shade val="100000"/>
                  </a:schemeClr>
                </a:gs>
                <a:gs pos="100000">
                  <a:schemeClr val="accent5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2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소비구조!$O$30:$R$30</c:f>
              <c:strCache>
                <c:ptCount val="2"/>
                <c:pt idx="0">
                  <c:v>2019 percent</c:v>
                </c:pt>
                <c:pt idx="1">
                  <c:v>2050 percent</c:v>
                </c:pt>
              </c:strCache>
            </c:strRef>
          </c:cat>
          <c:val>
            <c:numRef>
              <c:f>소비구조!$O$35:$R$35</c:f>
              <c:numCache>
                <c:formatCode>0%</c:formatCode>
                <c:ptCount val="2"/>
                <c:pt idx="0">
                  <c:v>4.9602350562765742E-4</c:v>
                </c:pt>
                <c:pt idx="1">
                  <c:v>5.4734748560572252E-4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ED00-1D42-AD3E-8DCC7030D6DC}"/>
            </c:ext>
          </c:extLst>
        </c:ser>
        <c:ser>
          <c:idx val="5"/>
          <c:order val="5"/>
          <c:tx>
            <c:strRef>
              <c:f>소비구조!$N$36</c:f>
              <c:strCache>
                <c:ptCount val="1"/>
                <c:pt idx="0">
                  <c:v>6. 서비스</c:v>
                </c:pt>
              </c:strCache>
            </c:strRef>
          </c:tx>
          <c:spPr>
            <a:gradFill rotWithShape="1">
              <a:gsLst>
                <a:gs pos="0">
                  <a:schemeClr val="accent6">
                    <a:satMod val="103000"/>
                    <a:lumMod val="102000"/>
                    <a:tint val="94000"/>
                  </a:schemeClr>
                </a:gs>
                <a:gs pos="50000">
                  <a:schemeClr val="accent6">
                    <a:satMod val="110000"/>
                    <a:lumMod val="100000"/>
                    <a:shade val="100000"/>
                  </a:schemeClr>
                </a:gs>
                <a:gs pos="100000">
                  <a:schemeClr val="accent6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-0.13066739831264146"/>
                  <c:y val="1.0176689771224809E-2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A-ED00-1D42-AD3E-8DCC7030D6DC}"/>
                </c:ext>
              </c:extLst>
            </c:dLbl>
            <c:dLbl>
              <c:idx val="1"/>
              <c:layout>
                <c:manualLayout>
                  <c:x val="-8.1667123945400918E-2"/>
                  <c:y val="3.3922299237416027E-2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ED00-1D42-AD3E-8DCC7030D6DC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2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소비구조!$O$30:$R$30</c:f>
              <c:strCache>
                <c:ptCount val="2"/>
                <c:pt idx="0">
                  <c:v>2019 percent</c:v>
                </c:pt>
                <c:pt idx="1">
                  <c:v>2050 percent</c:v>
                </c:pt>
              </c:strCache>
            </c:strRef>
          </c:cat>
          <c:val>
            <c:numRef>
              <c:f>소비구조!$O$36:$R$36</c:f>
              <c:numCache>
                <c:formatCode>0%</c:formatCode>
                <c:ptCount val="2"/>
                <c:pt idx="0">
                  <c:v>0.60528971255606923</c:v>
                </c:pt>
                <c:pt idx="1">
                  <c:v>0.63476703871519147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ED00-1D42-AD3E-8DCC7030D6DC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300"/>
        <c:axId val="531183951"/>
        <c:axId val="531100047"/>
      </c:barChart>
      <c:catAx>
        <c:axId val="53118395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2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531100047"/>
        <c:crosses val="autoZero"/>
        <c:auto val="1"/>
        <c:lblAlgn val="ctr"/>
        <c:lblOffset val="100"/>
        <c:noMultiLvlLbl val="0"/>
      </c:catAx>
      <c:valAx>
        <c:axId val="531100047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2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531183951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2"/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소비구조!$W$3</c:f>
              <c:strCache>
                <c:ptCount val="1"/>
                <c:pt idx="0">
                  <c:v>1. 농림수산품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satMod val="103000"/>
                    <a:lumMod val="102000"/>
                    <a:tint val="94000"/>
                  </a:schemeClr>
                </a:gs>
                <a:gs pos="50000">
                  <a:schemeClr val="accent1">
                    <a:satMod val="110000"/>
                    <a:lumMod val="100000"/>
                    <a:shade val="100000"/>
                  </a:schemeClr>
                </a:gs>
                <a:gs pos="100000">
                  <a:schemeClr val="accent1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-4.9310083499540511E-2"/>
                  <c:y val="-2.3102310231023101E-2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C-5D2F-F540-A9E5-147292AB619C}"/>
                </c:ext>
              </c:extLst>
            </c:dLbl>
            <c:dLbl>
              <c:idx val="1"/>
              <c:layout>
                <c:manualLayout>
                  <c:x val="-6.1637604374425635E-2"/>
                  <c:y val="-1.9801980198019802E-2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F-5D2F-F540-A9E5-147292AB619C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2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소비구조!$X$2:$AA$2</c:f>
              <c:strCache>
                <c:ptCount val="2"/>
                <c:pt idx="0">
                  <c:v>2019 percent</c:v>
                </c:pt>
                <c:pt idx="1">
                  <c:v>2050 percent</c:v>
                </c:pt>
              </c:strCache>
            </c:strRef>
          </c:cat>
          <c:val>
            <c:numRef>
              <c:f>소비구조!$X$3:$AA$3</c:f>
              <c:numCache>
                <c:formatCode>0%</c:formatCode>
                <c:ptCount val="2"/>
                <c:pt idx="0">
                  <c:v>4.4706011680403827E-2</c:v>
                </c:pt>
                <c:pt idx="1">
                  <c:v>3.7473697626926247E-2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D2F-F540-A9E5-147292AB619C}"/>
            </c:ext>
          </c:extLst>
        </c:ser>
        <c:ser>
          <c:idx val="1"/>
          <c:order val="1"/>
          <c:tx>
            <c:strRef>
              <c:f>소비구조!$W$4</c:f>
              <c:strCache>
                <c:ptCount val="1"/>
                <c:pt idx="0">
                  <c:v>2. 광산품</c:v>
                </c:pt>
              </c:strCache>
            </c:strRef>
          </c:tx>
          <c:spPr>
            <a:gradFill rotWithShape="1">
              <a:gsLst>
                <a:gs pos="0">
                  <a:schemeClr val="accent2">
                    <a:satMod val="103000"/>
                    <a:lumMod val="102000"/>
                    <a:tint val="94000"/>
                  </a:schemeClr>
                </a:gs>
                <a:gs pos="50000">
                  <a:schemeClr val="accent2">
                    <a:satMod val="110000"/>
                    <a:lumMod val="100000"/>
                    <a:shade val="100000"/>
                  </a:schemeClr>
                </a:gs>
                <a:gs pos="100000">
                  <a:schemeClr val="accent2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6.1637604374425635E-2"/>
                  <c:y val="2.6402640264026282E-2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E-5D2F-F540-A9E5-147292AB619C}"/>
                </c:ext>
              </c:extLst>
            </c:dLbl>
            <c:dLbl>
              <c:idx val="1"/>
              <c:layout>
                <c:manualLayout>
                  <c:x val="0.10786580765524487"/>
                  <c:y val="1.6501650165016382E-2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D-5D2F-F540-A9E5-147292AB619C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2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소비구조!$X$2:$AA$2</c:f>
              <c:strCache>
                <c:ptCount val="2"/>
                <c:pt idx="0">
                  <c:v>2019 percent</c:v>
                </c:pt>
                <c:pt idx="1">
                  <c:v>2050 percent</c:v>
                </c:pt>
              </c:strCache>
            </c:strRef>
          </c:cat>
          <c:val>
            <c:numRef>
              <c:f>소비구조!$X$4:$AA$4</c:f>
              <c:numCache>
                <c:formatCode>0%</c:formatCode>
                <c:ptCount val="2"/>
                <c:pt idx="0">
                  <c:v>9.6107586615490556E-3</c:v>
                </c:pt>
                <c:pt idx="1">
                  <c:v>3.8726951806299353E-3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D2F-F540-A9E5-147292AB619C}"/>
            </c:ext>
          </c:extLst>
        </c:ser>
        <c:ser>
          <c:idx val="2"/>
          <c:order val="2"/>
          <c:tx>
            <c:strRef>
              <c:f>소비구조!$W$5</c:f>
              <c:strCache>
                <c:ptCount val="1"/>
                <c:pt idx="0">
                  <c:v>3. 공산품</c:v>
                </c:pt>
              </c:strCache>
            </c:strRef>
          </c:tx>
          <c:spPr>
            <a:gradFill rotWithShape="1">
              <a:gsLst>
                <a:gs pos="0">
                  <a:schemeClr val="accent3">
                    <a:satMod val="103000"/>
                    <a:lumMod val="102000"/>
                    <a:tint val="94000"/>
                  </a:schemeClr>
                </a:gs>
                <a:gs pos="50000">
                  <a:schemeClr val="accent3">
                    <a:satMod val="110000"/>
                    <a:lumMod val="100000"/>
                    <a:shade val="100000"/>
                  </a:schemeClr>
                </a:gs>
                <a:gs pos="100000">
                  <a:schemeClr val="accent3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7.907742998352553E-2"/>
                  <c:y val="-1.2101070328415043E-16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A-5D2F-F540-A9E5-147292AB619C}"/>
                </c:ext>
              </c:extLst>
            </c:dLbl>
            <c:dLbl>
              <c:idx val="1"/>
              <c:layout>
                <c:manualLayout>
                  <c:x val="8.2372322899505704E-2"/>
                  <c:y val="-2.9702970297029702E-2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5D2F-F540-A9E5-147292AB619C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2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소비구조!$X$2:$AA$2</c:f>
              <c:strCache>
                <c:ptCount val="2"/>
                <c:pt idx="0">
                  <c:v>2019 percent</c:v>
                </c:pt>
                <c:pt idx="1">
                  <c:v>2050 percent</c:v>
                </c:pt>
              </c:strCache>
            </c:strRef>
          </c:cat>
          <c:val>
            <c:numRef>
              <c:f>소비구조!$X$5:$AA$5</c:f>
              <c:numCache>
                <c:formatCode>0%</c:formatCode>
                <c:ptCount val="2"/>
                <c:pt idx="0">
                  <c:v>0.32483470783503493</c:v>
                </c:pt>
                <c:pt idx="1">
                  <c:v>0.29676930878128155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5D2F-F540-A9E5-147292AB619C}"/>
            </c:ext>
          </c:extLst>
        </c:ser>
        <c:ser>
          <c:idx val="3"/>
          <c:order val="3"/>
          <c:tx>
            <c:strRef>
              <c:f>소비구조!$W$6</c:f>
              <c:strCache>
                <c:ptCount val="1"/>
                <c:pt idx="0">
                  <c:v>4. 전력·가스·수도·폐기물</c:v>
                </c:pt>
              </c:strCache>
            </c:strRef>
          </c:tx>
          <c:spPr>
            <a:gradFill rotWithShape="1">
              <a:gsLst>
                <a:gs pos="0">
                  <a:schemeClr val="accent4">
                    <a:satMod val="103000"/>
                    <a:lumMod val="102000"/>
                    <a:tint val="94000"/>
                  </a:schemeClr>
                </a:gs>
                <a:gs pos="50000">
                  <a:schemeClr val="accent4">
                    <a:satMod val="110000"/>
                    <a:lumMod val="100000"/>
                    <a:shade val="100000"/>
                  </a:schemeClr>
                </a:gs>
                <a:gs pos="100000">
                  <a:schemeClr val="accent4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-6.589785831960461E-2"/>
                  <c:y val="-1.3201320132013201E-2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5D2F-F540-A9E5-147292AB619C}"/>
                </c:ext>
              </c:extLst>
            </c:dLbl>
            <c:dLbl>
              <c:idx val="1"/>
              <c:layout>
                <c:manualLayout>
                  <c:x val="-7.248764415156507E-2"/>
                  <c:y val="-9.9009900990100225E-3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5D2F-F540-A9E5-147292AB619C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2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소비구조!$X$2:$AA$2</c:f>
              <c:strCache>
                <c:ptCount val="2"/>
                <c:pt idx="0">
                  <c:v>2019 percent</c:v>
                </c:pt>
                <c:pt idx="1">
                  <c:v>2050 percent</c:v>
                </c:pt>
              </c:strCache>
            </c:strRef>
          </c:cat>
          <c:val>
            <c:numRef>
              <c:f>소비구조!$X$6:$AA$6</c:f>
              <c:numCache>
                <c:formatCode>0%</c:formatCode>
                <c:ptCount val="2"/>
                <c:pt idx="0">
                  <c:v>0.17555139335439149</c:v>
                </c:pt>
                <c:pt idx="1">
                  <c:v>0.15945704976191324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5D2F-F540-A9E5-147292AB619C}"/>
            </c:ext>
          </c:extLst>
        </c:ser>
        <c:ser>
          <c:idx val="4"/>
          <c:order val="4"/>
          <c:tx>
            <c:strRef>
              <c:f>소비구조!$W$7</c:f>
              <c:strCache>
                <c:ptCount val="1"/>
                <c:pt idx="0">
                  <c:v>5. 건설</c:v>
                </c:pt>
              </c:strCache>
            </c:strRef>
          </c:tx>
          <c:spPr>
            <a:gradFill rotWithShape="1">
              <a:gsLst>
                <a:gs pos="0">
                  <a:schemeClr val="accent5">
                    <a:satMod val="103000"/>
                    <a:lumMod val="102000"/>
                    <a:tint val="94000"/>
                  </a:schemeClr>
                </a:gs>
                <a:gs pos="50000">
                  <a:schemeClr val="accent5">
                    <a:satMod val="110000"/>
                    <a:lumMod val="100000"/>
                    <a:shade val="100000"/>
                  </a:schemeClr>
                </a:gs>
                <a:gs pos="100000">
                  <a:schemeClr val="accent5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2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소비구조!$X$2:$AA$2</c:f>
              <c:strCache>
                <c:ptCount val="2"/>
                <c:pt idx="0">
                  <c:v>2019 percent</c:v>
                </c:pt>
                <c:pt idx="1">
                  <c:v>2050 percent</c:v>
                </c:pt>
              </c:strCache>
            </c:strRef>
          </c:cat>
          <c:val>
            <c:numRef>
              <c:f>소비구조!$X$7:$AA$7</c:f>
              <c:numCache>
                <c:formatCode>0%</c:formatCode>
                <c:ptCount val="2"/>
                <c:pt idx="0">
                  <c:v>3.4022764637842753E-4</c:v>
                </c:pt>
                <c:pt idx="1">
                  <c:v>3.1273047750782229E-4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5D2F-F540-A9E5-147292AB619C}"/>
            </c:ext>
          </c:extLst>
        </c:ser>
        <c:ser>
          <c:idx val="5"/>
          <c:order val="5"/>
          <c:tx>
            <c:strRef>
              <c:f>소비구조!$W$8</c:f>
              <c:strCache>
                <c:ptCount val="1"/>
                <c:pt idx="0">
                  <c:v>6. 서비스</c:v>
                </c:pt>
              </c:strCache>
            </c:strRef>
          </c:tx>
          <c:spPr>
            <a:gradFill rotWithShape="1">
              <a:gsLst>
                <a:gs pos="0">
                  <a:schemeClr val="accent6">
                    <a:satMod val="103000"/>
                    <a:lumMod val="102000"/>
                    <a:tint val="94000"/>
                  </a:schemeClr>
                </a:gs>
                <a:gs pos="50000">
                  <a:schemeClr val="accent6">
                    <a:satMod val="110000"/>
                    <a:lumMod val="100000"/>
                    <a:shade val="100000"/>
                  </a:schemeClr>
                </a:gs>
                <a:gs pos="100000">
                  <a:schemeClr val="accent6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-7.907742998352553E-2"/>
                  <c:y val="-9.9009900990099011E-3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5D2F-F540-A9E5-147292AB619C}"/>
                </c:ext>
              </c:extLst>
            </c:dLbl>
            <c:dLbl>
              <c:idx val="1"/>
              <c:layout>
                <c:manualLayout>
                  <c:x val="-8.8962108731466233E-2"/>
                  <c:y val="-1.65016501650165E-2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5D2F-F540-A9E5-147292AB619C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2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소비구조!$X$2:$AA$2</c:f>
              <c:strCache>
                <c:ptCount val="2"/>
                <c:pt idx="0">
                  <c:v>2019 percent</c:v>
                </c:pt>
                <c:pt idx="1">
                  <c:v>2050 percent</c:v>
                </c:pt>
              </c:strCache>
            </c:strRef>
          </c:cat>
          <c:val>
            <c:numRef>
              <c:f>소비구조!$X$8:$AA$8</c:f>
              <c:numCache>
                <c:formatCode>0%</c:formatCode>
                <c:ptCount val="2"/>
                <c:pt idx="0">
                  <c:v>0.44495690082224226</c:v>
                </c:pt>
                <c:pt idx="1">
                  <c:v>0.50211451817174113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5D2F-F540-A9E5-147292AB619C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300"/>
        <c:axId val="531183951"/>
        <c:axId val="531100047"/>
      </c:barChart>
      <c:catAx>
        <c:axId val="53118395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2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531100047"/>
        <c:crosses val="autoZero"/>
        <c:auto val="1"/>
        <c:lblAlgn val="ctr"/>
        <c:lblOffset val="100"/>
        <c:noMultiLvlLbl val="0"/>
      </c:catAx>
      <c:valAx>
        <c:axId val="531100047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2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531183951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0.63860602680019196"/>
          <c:y val="0.23563732751227878"/>
          <c:w val="0.36139389316941289"/>
          <c:h val="0.48582105454639946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2"/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소비구조!$W$3</c:f>
              <c:strCache>
                <c:ptCount val="1"/>
                <c:pt idx="0">
                  <c:v>1. 농림수산품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satMod val="103000"/>
                    <a:lumMod val="102000"/>
                    <a:tint val="94000"/>
                  </a:schemeClr>
                </a:gs>
                <a:gs pos="50000">
                  <a:schemeClr val="accent1">
                    <a:satMod val="110000"/>
                    <a:lumMod val="100000"/>
                    <a:shade val="100000"/>
                  </a:schemeClr>
                </a:gs>
                <a:gs pos="100000">
                  <a:schemeClr val="accent1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7.3258993294526772E-2"/>
                  <c:y val="1.65016501650165E-2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E-DD67-394E-ADA2-140A6CBB24E9}"/>
                </c:ext>
              </c:extLst>
            </c:dLbl>
            <c:dLbl>
              <c:idx val="1"/>
              <c:layout>
                <c:manualLayout>
                  <c:x val="5.6979217006854072E-2"/>
                  <c:y val="1.9801980198019681E-2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F-DD67-394E-ADA2-140A6CBB24E9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2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소비구조!$X$2:$AA$2</c:f>
              <c:strCache>
                <c:ptCount val="2"/>
                <c:pt idx="0">
                  <c:v>2019 percent</c:v>
                </c:pt>
                <c:pt idx="1">
                  <c:v>2050 percent</c:v>
                </c:pt>
              </c:strCache>
            </c:strRef>
          </c:cat>
          <c:val>
            <c:numRef>
              <c:f>소비구조!$X$3:$AA$3</c:f>
              <c:numCache>
                <c:formatCode>0%</c:formatCode>
                <c:ptCount val="2"/>
                <c:pt idx="0">
                  <c:v>4.4706011680403827E-2</c:v>
                </c:pt>
                <c:pt idx="1">
                  <c:v>3.7473697626926247E-2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D67-394E-ADA2-140A6CBB24E9}"/>
            </c:ext>
          </c:extLst>
        </c:ser>
        <c:ser>
          <c:idx val="1"/>
          <c:order val="1"/>
          <c:tx>
            <c:strRef>
              <c:f>소비구조!$W$4</c:f>
              <c:strCache>
                <c:ptCount val="1"/>
                <c:pt idx="0">
                  <c:v>2. 광산품</c:v>
                </c:pt>
              </c:strCache>
            </c:strRef>
          </c:tx>
          <c:spPr>
            <a:gradFill rotWithShape="1">
              <a:gsLst>
                <a:gs pos="0">
                  <a:schemeClr val="accent2">
                    <a:satMod val="103000"/>
                    <a:lumMod val="102000"/>
                    <a:tint val="94000"/>
                  </a:schemeClr>
                </a:gs>
                <a:gs pos="50000">
                  <a:schemeClr val="accent2">
                    <a:satMod val="110000"/>
                    <a:lumMod val="100000"/>
                    <a:shade val="100000"/>
                  </a:schemeClr>
                </a:gs>
                <a:gs pos="100000">
                  <a:schemeClr val="accent2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-4.0699440719181551E-2"/>
                  <c:y val="-1.9801980198019924E-2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C-DD67-394E-ADA2-140A6CBB24E9}"/>
                </c:ext>
              </c:extLst>
            </c:dLbl>
            <c:dLbl>
              <c:idx val="1"/>
              <c:layout>
                <c:manualLayout>
                  <c:x val="-4.06994407191816E-2"/>
                  <c:y val="-2.3102310231023101E-2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D-DD67-394E-ADA2-140A6CBB24E9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2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소비구조!$X$2:$AA$2</c:f>
              <c:strCache>
                <c:ptCount val="2"/>
                <c:pt idx="0">
                  <c:v>2019 percent</c:v>
                </c:pt>
                <c:pt idx="1">
                  <c:v>2050 percent</c:v>
                </c:pt>
              </c:strCache>
            </c:strRef>
          </c:cat>
          <c:val>
            <c:numRef>
              <c:f>소비구조!$X$4:$AA$4</c:f>
              <c:numCache>
                <c:formatCode>0%</c:formatCode>
                <c:ptCount val="2"/>
                <c:pt idx="0">
                  <c:v>9.6107586615490556E-3</c:v>
                </c:pt>
                <c:pt idx="1">
                  <c:v>3.8726951806299353E-3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DD67-394E-ADA2-140A6CBB24E9}"/>
            </c:ext>
          </c:extLst>
        </c:ser>
        <c:ser>
          <c:idx val="2"/>
          <c:order val="2"/>
          <c:tx>
            <c:strRef>
              <c:f>소비구조!$W$5</c:f>
              <c:strCache>
                <c:ptCount val="1"/>
                <c:pt idx="0">
                  <c:v>3. 공산품</c:v>
                </c:pt>
              </c:strCache>
            </c:strRef>
          </c:tx>
          <c:spPr>
            <a:gradFill rotWithShape="1">
              <a:gsLst>
                <a:gs pos="0">
                  <a:schemeClr val="accent3">
                    <a:satMod val="103000"/>
                    <a:lumMod val="102000"/>
                    <a:tint val="94000"/>
                  </a:schemeClr>
                </a:gs>
                <a:gs pos="50000">
                  <a:schemeClr val="accent3">
                    <a:satMod val="110000"/>
                    <a:lumMod val="100000"/>
                    <a:shade val="100000"/>
                  </a:schemeClr>
                </a:gs>
                <a:gs pos="100000">
                  <a:schemeClr val="accent3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-5.9692513054799605E-2"/>
                  <c:y val="-1.65016501650165E-2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A-DD67-394E-ADA2-140A6CBB24E9}"/>
                </c:ext>
              </c:extLst>
            </c:dLbl>
            <c:dLbl>
              <c:idx val="1"/>
              <c:layout>
                <c:manualLayout>
                  <c:x val="-6.5119105150690526E-2"/>
                  <c:y val="-9.9009900990099011E-3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DD67-394E-ADA2-140A6CBB24E9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2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소비구조!$X$2:$AA$2</c:f>
              <c:strCache>
                <c:ptCount val="2"/>
                <c:pt idx="0">
                  <c:v>2019 percent</c:v>
                </c:pt>
                <c:pt idx="1">
                  <c:v>2050 percent</c:v>
                </c:pt>
              </c:strCache>
            </c:strRef>
          </c:cat>
          <c:val>
            <c:numRef>
              <c:f>소비구조!$X$5:$AA$5</c:f>
              <c:numCache>
                <c:formatCode>0%</c:formatCode>
                <c:ptCount val="2"/>
                <c:pt idx="0">
                  <c:v>0.32483470783503493</c:v>
                </c:pt>
                <c:pt idx="1">
                  <c:v>0.29676930878128155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DD67-394E-ADA2-140A6CBB24E9}"/>
            </c:ext>
          </c:extLst>
        </c:ser>
        <c:ser>
          <c:idx val="3"/>
          <c:order val="3"/>
          <c:tx>
            <c:strRef>
              <c:f>소비구조!$W$6</c:f>
              <c:strCache>
                <c:ptCount val="1"/>
                <c:pt idx="0">
                  <c:v>4. 전력·가스·수도·폐기물</c:v>
                </c:pt>
              </c:strCache>
            </c:strRef>
          </c:tx>
          <c:spPr>
            <a:gradFill rotWithShape="1">
              <a:gsLst>
                <a:gs pos="0">
                  <a:schemeClr val="accent4">
                    <a:satMod val="103000"/>
                    <a:lumMod val="102000"/>
                    <a:tint val="94000"/>
                  </a:schemeClr>
                </a:gs>
                <a:gs pos="50000">
                  <a:schemeClr val="accent4">
                    <a:satMod val="110000"/>
                    <a:lumMod val="100000"/>
                    <a:shade val="100000"/>
                  </a:schemeClr>
                </a:gs>
                <a:gs pos="100000">
                  <a:schemeClr val="accent4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-8.6825473534253975E-2"/>
                  <c:y val="-9.9009900990099011E-3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DD67-394E-ADA2-140A6CBB24E9}"/>
                </c:ext>
              </c:extLst>
            </c:dLbl>
            <c:dLbl>
              <c:idx val="1"/>
              <c:layout>
                <c:manualLayout>
                  <c:x val="-8.4112177486308531E-2"/>
                  <c:y val="-2.6402640264026403E-2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DD67-394E-ADA2-140A6CBB24E9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2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소비구조!$X$2:$AA$2</c:f>
              <c:strCache>
                <c:ptCount val="2"/>
                <c:pt idx="0">
                  <c:v>2019 percent</c:v>
                </c:pt>
                <c:pt idx="1">
                  <c:v>2050 percent</c:v>
                </c:pt>
              </c:strCache>
            </c:strRef>
          </c:cat>
          <c:val>
            <c:numRef>
              <c:f>소비구조!$X$6:$AA$6</c:f>
              <c:numCache>
                <c:formatCode>0%</c:formatCode>
                <c:ptCount val="2"/>
                <c:pt idx="0">
                  <c:v>0.17555139335439149</c:v>
                </c:pt>
                <c:pt idx="1">
                  <c:v>0.15945704976191324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DD67-394E-ADA2-140A6CBB24E9}"/>
            </c:ext>
          </c:extLst>
        </c:ser>
        <c:ser>
          <c:idx val="4"/>
          <c:order val="4"/>
          <c:tx>
            <c:strRef>
              <c:f>소비구조!$W$7</c:f>
              <c:strCache>
                <c:ptCount val="1"/>
                <c:pt idx="0">
                  <c:v>5. 건설</c:v>
                </c:pt>
              </c:strCache>
            </c:strRef>
          </c:tx>
          <c:spPr>
            <a:gradFill rotWithShape="1">
              <a:gsLst>
                <a:gs pos="0">
                  <a:schemeClr val="accent5">
                    <a:satMod val="103000"/>
                    <a:lumMod val="102000"/>
                    <a:tint val="94000"/>
                  </a:schemeClr>
                </a:gs>
                <a:gs pos="50000">
                  <a:schemeClr val="accent5">
                    <a:satMod val="110000"/>
                    <a:lumMod val="100000"/>
                    <a:shade val="100000"/>
                  </a:schemeClr>
                </a:gs>
                <a:gs pos="100000">
                  <a:schemeClr val="accent5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2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소비구조!$X$2:$AA$2</c:f>
              <c:strCache>
                <c:ptCount val="2"/>
                <c:pt idx="0">
                  <c:v>2019 percent</c:v>
                </c:pt>
                <c:pt idx="1">
                  <c:v>2050 percent</c:v>
                </c:pt>
              </c:strCache>
            </c:strRef>
          </c:cat>
          <c:val>
            <c:numRef>
              <c:f>소비구조!$X$7:$AA$7</c:f>
              <c:numCache>
                <c:formatCode>0%</c:formatCode>
                <c:ptCount val="2"/>
                <c:pt idx="0">
                  <c:v>3.4022764637842753E-4</c:v>
                </c:pt>
                <c:pt idx="1">
                  <c:v>3.1273047750782229E-4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DD67-394E-ADA2-140A6CBB24E9}"/>
            </c:ext>
          </c:extLst>
        </c:ser>
        <c:ser>
          <c:idx val="5"/>
          <c:order val="5"/>
          <c:tx>
            <c:strRef>
              <c:f>소비구조!$W$8</c:f>
              <c:strCache>
                <c:ptCount val="1"/>
                <c:pt idx="0">
                  <c:v>6. 서비스</c:v>
                </c:pt>
              </c:strCache>
            </c:strRef>
          </c:tx>
          <c:spPr>
            <a:gradFill rotWithShape="1">
              <a:gsLst>
                <a:gs pos="0">
                  <a:schemeClr val="accent6">
                    <a:satMod val="103000"/>
                    <a:lumMod val="102000"/>
                    <a:tint val="94000"/>
                  </a:schemeClr>
                </a:gs>
                <a:gs pos="50000">
                  <a:schemeClr val="accent6">
                    <a:satMod val="110000"/>
                    <a:lumMod val="100000"/>
                    <a:shade val="100000"/>
                  </a:schemeClr>
                </a:gs>
                <a:gs pos="100000">
                  <a:schemeClr val="accent6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-8.9538769582199432E-2"/>
                  <c:y val="-6.6006600660066007E-3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DD67-394E-ADA2-140A6CBB24E9}"/>
                </c:ext>
              </c:extLst>
            </c:dLbl>
            <c:dLbl>
              <c:idx val="1"/>
              <c:layout>
                <c:manualLayout>
                  <c:x val="-8.9538769582199515E-2"/>
                  <c:y val="-9.9009900990099618E-3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DD67-394E-ADA2-140A6CBB24E9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2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소비구조!$X$2:$AA$2</c:f>
              <c:strCache>
                <c:ptCount val="2"/>
                <c:pt idx="0">
                  <c:v>2019 percent</c:v>
                </c:pt>
                <c:pt idx="1">
                  <c:v>2050 percent</c:v>
                </c:pt>
              </c:strCache>
            </c:strRef>
          </c:cat>
          <c:val>
            <c:numRef>
              <c:f>소비구조!$X$8:$AA$8</c:f>
              <c:numCache>
                <c:formatCode>0%</c:formatCode>
                <c:ptCount val="2"/>
                <c:pt idx="0">
                  <c:v>0.44495690082224226</c:v>
                </c:pt>
                <c:pt idx="1">
                  <c:v>0.50211451817174113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DD67-394E-ADA2-140A6CBB24E9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300"/>
        <c:axId val="531183951"/>
        <c:axId val="531100047"/>
      </c:barChart>
      <c:catAx>
        <c:axId val="53118395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2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531100047"/>
        <c:crosses val="autoZero"/>
        <c:auto val="1"/>
        <c:lblAlgn val="ctr"/>
        <c:lblOffset val="100"/>
        <c:noMultiLvlLbl val="0"/>
      </c:catAx>
      <c:valAx>
        <c:axId val="531100047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2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531183951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2"/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/>
              <a:t>가계저축률</a:t>
            </a:r>
            <a:r>
              <a:rPr lang="en-US" altLang="ko-KR"/>
              <a:t>(SH/YDH)</a:t>
            </a:r>
            <a:endParaRPr lang="ko-KR" altLang="en-US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 alt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SH!$J$2</c:f>
              <c:strCache>
                <c:ptCount val="1"/>
                <c:pt idx="0">
                  <c:v>2019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SH!$I$3:$I$8</c:f>
              <c:strCache>
                <c:ptCount val="6"/>
                <c:pt idx="0">
                  <c:v>01_KOR</c:v>
                </c:pt>
                <c:pt idx="1">
                  <c:v>02_CHN</c:v>
                </c:pt>
                <c:pt idx="2">
                  <c:v>03_JPN</c:v>
                </c:pt>
                <c:pt idx="3">
                  <c:v>04_RUS</c:v>
                </c:pt>
                <c:pt idx="4">
                  <c:v>05_MNG</c:v>
                </c:pt>
                <c:pt idx="5">
                  <c:v>06_PRK</c:v>
                </c:pt>
              </c:strCache>
            </c:strRef>
          </c:cat>
          <c:val>
            <c:numRef>
              <c:f>SH!$J$3:$J$8</c:f>
              <c:numCache>
                <c:formatCode>0%</c:formatCode>
                <c:ptCount val="6"/>
                <c:pt idx="0">
                  <c:v>0.38484101076048849</c:v>
                </c:pt>
                <c:pt idx="1">
                  <c:v>0.52053156200870843</c:v>
                </c:pt>
                <c:pt idx="2">
                  <c:v>0.18741922269149994</c:v>
                </c:pt>
                <c:pt idx="3">
                  <c:v>0.37131199977254309</c:v>
                </c:pt>
                <c:pt idx="4">
                  <c:v>0.43923822564952619</c:v>
                </c:pt>
                <c:pt idx="5">
                  <c:v>0.51067312278098675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B1E-D044-95E3-9292EB8C5684}"/>
            </c:ext>
          </c:extLst>
        </c:ser>
        <c:ser>
          <c:idx val="1"/>
          <c:order val="1"/>
          <c:tx>
            <c:strRef>
              <c:f>SH!$K$2</c:f>
              <c:strCache>
                <c:ptCount val="1"/>
                <c:pt idx="0">
                  <c:v>2050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SH!$I$3:$I$8</c:f>
              <c:strCache>
                <c:ptCount val="6"/>
                <c:pt idx="0">
                  <c:v>01_KOR</c:v>
                </c:pt>
                <c:pt idx="1">
                  <c:v>02_CHN</c:v>
                </c:pt>
                <c:pt idx="2">
                  <c:v>03_JPN</c:v>
                </c:pt>
                <c:pt idx="3">
                  <c:v>04_RUS</c:v>
                </c:pt>
                <c:pt idx="4">
                  <c:v>05_MNG</c:v>
                </c:pt>
                <c:pt idx="5">
                  <c:v>06_PRK</c:v>
                </c:pt>
              </c:strCache>
            </c:strRef>
          </c:cat>
          <c:val>
            <c:numRef>
              <c:f>SH!$K$3:$K$8</c:f>
              <c:numCache>
                <c:formatCode>0%</c:formatCode>
                <c:ptCount val="6"/>
                <c:pt idx="0">
                  <c:v>0.41587619978159662</c:v>
                </c:pt>
                <c:pt idx="1">
                  <c:v>0.71931478088391998</c:v>
                </c:pt>
                <c:pt idx="2">
                  <c:v>0.16557231204692627</c:v>
                </c:pt>
                <c:pt idx="3">
                  <c:v>0.23512110391809643</c:v>
                </c:pt>
                <c:pt idx="4">
                  <c:v>0.60601018890401059</c:v>
                </c:pt>
                <c:pt idx="5">
                  <c:v>0.5149507586527774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BB1E-D044-95E3-9292EB8C568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358633183"/>
        <c:axId val="1358634895"/>
      </c:barChart>
      <c:catAx>
        <c:axId val="135863318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1358634895"/>
        <c:crosses val="autoZero"/>
        <c:auto val="1"/>
        <c:lblAlgn val="ctr"/>
        <c:lblOffset val="100"/>
        <c:noMultiLvlLbl val="0"/>
      </c:catAx>
      <c:valAx>
        <c:axId val="135863489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1358633183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4.9748412471416877E-2"/>
          <c:y val="0.11764705882352941"/>
          <c:w val="0.93160657665722046"/>
          <c:h val="0.8365407666287703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SH!$B$13:$B$14</c:f>
              <c:strCache>
                <c:ptCount val="2"/>
                <c:pt idx="0">
                  <c:v>BAU</c:v>
                </c:pt>
                <c:pt idx="1">
                  <c:v>2019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dLbl>
              <c:idx val="1"/>
              <c:layout>
                <c:manualLayout>
                  <c:x val="-1.5255008894751249E-2"/>
                  <c:y val="-7.1301247771836003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DE51-8B43-A1EB-7DF267AA42EC}"/>
                </c:ext>
              </c:extLst>
            </c:dLbl>
            <c:dLbl>
              <c:idx val="2"/>
              <c:layout>
                <c:manualLayout>
                  <c:x val="3.3900019766113267E-3"/>
                  <c:y val="-7.4866310160427801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DE51-8B43-A1EB-7DF267AA42EC}"/>
                </c:ext>
              </c:extLst>
            </c:dLbl>
            <c:dLbl>
              <c:idx val="4"/>
              <c:layout>
                <c:manualLayout>
                  <c:x val="-5.0850029649170828E-3"/>
                  <c:y val="-4.991087344028524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DE51-8B43-A1EB-7DF267AA42EC}"/>
                </c:ext>
              </c:extLst>
            </c:dLbl>
            <c:dLbl>
              <c:idx val="5"/>
              <c:layout>
                <c:manualLayout>
                  <c:x val="0"/>
                  <c:y val="-8.5561497326203204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DE51-8B43-A1EB-7DF267AA42EC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SH!$A$15:$A$20</c:f>
              <c:strCache>
                <c:ptCount val="6"/>
                <c:pt idx="0">
                  <c:v>01_KOR</c:v>
                </c:pt>
                <c:pt idx="1">
                  <c:v>02_CHN</c:v>
                </c:pt>
                <c:pt idx="2">
                  <c:v>03_JPN</c:v>
                </c:pt>
                <c:pt idx="3">
                  <c:v>04_RUS</c:v>
                </c:pt>
                <c:pt idx="4">
                  <c:v>05_MNG</c:v>
                </c:pt>
                <c:pt idx="5">
                  <c:v>06_PRK</c:v>
                </c:pt>
              </c:strCache>
            </c:strRef>
          </c:cat>
          <c:val>
            <c:numRef>
              <c:f>SH!$B$15:$B$20</c:f>
              <c:numCache>
                <c:formatCode>General</c:formatCode>
                <c:ptCount val="6"/>
                <c:pt idx="0">
                  <c:v>-12.806699999999999</c:v>
                </c:pt>
                <c:pt idx="1">
                  <c:v>-21.968800000000002</c:v>
                </c:pt>
                <c:pt idx="2">
                  <c:v>0.76536400000000004</c:v>
                </c:pt>
                <c:pt idx="3">
                  <c:v>-14.6761</c:v>
                </c:pt>
                <c:pt idx="4">
                  <c:v>-0.42427100000000001</c:v>
                </c:pt>
                <c:pt idx="5">
                  <c:v>-0.15629999999999999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E51-8B43-A1EB-7DF267AA42EC}"/>
            </c:ext>
          </c:extLst>
        </c:ser>
        <c:ser>
          <c:idx val="1"/>
          <c:order val="1"/>
          <c:tx>
            <c:strRef>
              <c:f>SH!$C$13:$C$14</c:f>
              <c:strCache>
                <c:ptCount val="2"/>
                <c:pt idx="0">
                  <c:v>BAU</c:v>
                </c:pt>
                <c:pt idx="1">
                  <c:v>2050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dLbl>
              <c:idx val="2"/>
              <c:layout>
                <c:manualLayout>
                  <c:x val="1.8645010871362638E-2"/>
                  <c:y val="-7.4866310160427801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DE51-8B43-A1EB-7DF267AA42EC}"/>
                </c:ext>
              </c:extLst>
            </c:dLbl>
            <c:dLbl>
              <c:idx val="4"/>
              <c:layout>
                <c:manualLayout>
                  <c:x val="5.0850029649170828E-3"/>
                  <c:y val="-0.13547237076648841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DE51-8B43-A1EB-7DF267AA42EC}"/>
                </c:ext>
              </c:extLst>
            </c:dLbl>
            <c:dLbl>
              <c:idx val="5"/>
              <c:layout>
                <c:manualLayout>
                  <c:x val="2.373001383627972E-2"/>
                  <c:y val="-7.8431372549019607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DE51-8B43-A1EB-7DF267AA42EC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SH!$A$15:$A$20</c:f>
              <c:strCache>
                <c:ptCount val="6"/>
                <c:pt idx="0">
                  <c:v>01_KOR</c:v>
                </c:pt>
                <c:pt idx="1">
                  <c:v>02_CHN</c:v>
                </c:pt>
                <c:pt idx="2">
                  <c:v>03_JPN</c:v>
                </c:pt>
                <c:pt idx="3">
                  <c:v>04_RUS</c:v>
                </c:pt>
                <c:pt idx="4">
                  <c:v>05_MNG</c:v>
                </c:pt>
                <c:pt idx="5">
                  <c:v>06_PRK</c:v>
                </c:pt>
              </c:strCache>
            </c:strRef>
          </c:cat>
          <c:val>
            <c:numRef>
              <c:f>SH!$C$15:$C$20</c:f>
              <c:numCache>
                <c:formatCode>General</c:formatCode>
                <c:ptCount val="6"/>
                <c:pt idx="0">
                  <c:v>-15.0535</c:v>
                </c:pt>
                <c:pt idx="1">
                  <c:v>-61.497399999999999</c:v>
                </c:pt>
                <c:pt idx="2">
                  <c:v>0.88855499999999998</c:v>
                </c:pt>
                <c:pt idx="3">
                  <c:v>-17.564599999999999</c:v>
                </c:pt>
                <c:pt idx="4">
                  <c:v>-0.79931200000000002</c:v>
                </c:pt>
                <c:pt idx="5">
                  <c:v>-8.5813200000000006E-2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DE51-8B43-A1EB-7DF267AA42EC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75"/>
        <c:axId val="1194582271"/>
        <c:axId val="721809423"/>
      </c:barChart>
      <c:catAx>
        <c:axId val="119458227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721809423"/>
        <c:crosses val="autoZero"/>
        <c:auto val="0"/>
        <c:lblAlgn val="ctr"/>
        <c:lblOffset val="0"/>
        <c:tickLblSkip val="1"/>
        <c:noMultiLvlLbl val="0"/>
      </c:catAx>
      <c:valAx>
        <c:axId val="721809423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1194582271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302">
  <cs:axisTitle>
    <cs:lnRef idx="0"/>
    <cs:fillRef idx="0"/>
    <cs:effectRef idx="0"/>
    <cs:fontRef idx="minor">
      <a:schemeClr val="tx2"/>
    </cs:fontRef>
    <cs:defRPr sz="900" b="1" kern="1200"/>
  </cs:axisTitle>
  <cs:categoryAxis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2"/>
    </cs:fontRef>
    <cs:defRPr sz="900" kern="1200"/>
  </cs:dataLabel>
  <cs:dataLabelCallout>
    <cs:lnRef idx="0"/>
    <cs:fillRef idx="0"/>
    <cs:effectRef idx="0"/>
    <cs:fontRef idx="minor">
      <a:schemeClr val="dk2">
        <a:lumMod val="7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2"/>
    <cs:fontRef idx="minor">
      <a:schemeClr val="tx2"/>
    </cs:fontRef>
  </cs:dataPoint>
  <cs:dataPoint3D>
    <cs:lnRef idx="0"/>
    <cs:fillRef idx="3">
      <cs:styleClr val="auto"/>
    </cs:fillRef>
    <cs:effectRef idx="2"/>
    <cs:fontRef idx="minor">
      <a:schemeClr val="tx2"/>
    </cs:fontRef>
  </cs:dataPoint3D>
  <cs:dataPointLine>
    <cs:lnRef idx="0">
      <cs:styleClr val="auto"/>
    </cs:lnRef>
    <cs:fillRef idx="3"/>
    <cs:effectRef idx="2"/>
    <cs:fontRef idx="minor">
      <a:schemeClr val="tx2"/>
    </cs:fontRef>
    <cs:spPr>
      <a:ln w="31750" cap="rnd">
        <a:solidFill>
          <a:schemeClr val="phClr"/>
        </a:solidFill>
        <a:round/>
      </a:ln>
    </cs:spPr>
  </cs:dataPointLine>
  <cs:dataPointMarker>
    <cs:lnRef idx="0"/>
    <cs:fillRef idx="3">
      <cs:styleClr val="auto"/>
    </cs:fillRef>
    <cs:effectRef idx="2"/>
    <cs:fontRef idx="minor">
      <a:schemeClr val="tx2"/>
    </cs:fontRef>
    <cs:spPr>
      <a:ln w="12700">
        <a:solidFill>
          <a:schemeClr val="lt2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2"/>
    <cs:fontRef idx="minor">
      <a:schemeClr val="tx2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2"/>
    </cs:fontRef>
    <cs:spPr>
      <a:ln w="9525">
        <a:solidFill>
          <a:schemeClr val="tx2">
            <a:lumMod val="15000"/>
            <a:lumOff val="8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tx2"/>
    </cs:fontRef>
    <cs:spPr>
      <a:ln w="9525">
        <a:solidFill>
          <a:schemeClr val="tx2">
            <a:lumMod val="75000"/>
          </a:schemeClr>
        </a:solidFill>
        <a:round/>
      </a:ln>
    </cs:spPr>
  </cs:errorBar>
  <cs:floor>
    <cs:lnRef idx="0"/>
    <cs:fillRef idx="0"/>
    <cs:effectRef idx="0"/>
    <cs:fontRef idx="minor">
      <a:schemeClr val="tx2"/>
    </cs:fontRef>
  </cs:floor>
  <cs:gridlineMajor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2"/>
    </cs:fontRef>
    <cs:spPr>
      <a:ln>
        <a:solidFill>
          <a:schemeClr val="tx2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2"/>
    </cs:fontRef>
    <cs:defRPr sz="900" kern="1200"/>
  </cs:legend>
  <cs:plotArea>
    <cs:lnRef idx="0"/>
    <cs:fillRef idx="0"/>
    <cs:effectRef idx="0"/>
    <cs:fontRef idx="minor">
      <a:schemeClr val="tx2"/>
    </cs:fontRef>
  </cs:plotArea>
  <cs:plotArea3D>
    <cs:lnRef idx="0"/>
    <cs:fillRef idx="0"/>
    <cs:effectRef idx="0"/>
    <cs:fontRef idx="minor">
      <a:schemeClr val="tx2"/>
    </cs:fontRef>
  </cs:plotArea3D>
  <cs:seriesAxis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tx2"/>
    </cs:fontRef>
    <cs:defRPr sz="1600" b="1" kern="1200"/>
  </cs:title>
  <cs:trendline>
    <cs:lnRef idx="0">
      <cs:styleClr val="auto"/>
    </cs:lnRef>
    <cs:fillRef idx="0"/>
    <cs:effectRef idx="0"/>
    <cs:fontRef idx="minor">
      <a:schemeClr val="tx2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2"/>
    </cs:fontRef>
    <cs:defRPr sz="900" kern="1200"/>
  </cs:trendlineLabel>
  <cs:upBar>
    <cs:lnRef idx="0"/>
    <cs:fillRef idx="0"/>
    <cs:effectRef idx="0"/>
    <cs:fontRef idx="minor">
      <a:schemeClr val="tx2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2"/>
    </cs:fontRef>
    <cs:defRPr sz="900" kern="1200"/>
  </cs:valueAxis>
  <cs:wall>
    <cs:lnRef idx="0"/>
    <cs:fillRef idx="0"/>
    <cs:effectRef idx="0"/>
    <cs:fontRef idx="minor">
      <a:schemeClr val="tx2"/>
    </cs:fontRef>
  </cs:wall>
</cs:chartStyle>
</file>

<file path=ppt/charts/style2.xml><?xml version="1.0" encoding="utf-8"?>
<cs:chartStyle xmlns:cs="http://schemas.microsoft.com/office/drawing/2012/chartStyle" xmlns:a="http://schemas.openxmlformats.org/drawingml/2006/main" id="302">
  <cs:axisTitle>
    <cs:lnRef idx="0"/>
    <cs:fillRef idx="0"/>
    <cs:effectRef idx="0"/>
    <cs:fontRef idx="minor">
      <a:schemeClr val="tx2"/>
    </cs:fontRef>
    <cs:defRPr sz="900" b="1" kern="1200"/>
  </cs:axisTitle>
  <cs:categoryAxis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2"/>
    </cs:fontRef>
    <cs:defRPr sz="900" kern="1200"/>
  </cs:dataLabel>
  <cs:dataLabelCallout>
    <cs:lnRef idx="0"/>
    <cs:fillRef idx="0"/>
    <cs:effectRef idx="0"/>
    <cs:fontRef idx="minor">
      <a:schemeClr val="dk2">
        <a:lumMod val="7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2"/>
    <cs:fontRef idx="minor">
      <a:schemeClr val="tx2"/>
    </cs:fontRef>
  </cs:dataPoint>
  <cs:dataPoint3D>
    <cs:lnRef idx="0"/>
    <cs:fillRef idx="3">
      <cs:styleClr val="auto"/>
    </cs:fillRef>
    <cs:effectRef idx="2"/>
    <cs:fontRef idx="minor">
      <a:schemeClr val="tx2"/>
    </cs:fontRef>
  </cs:dataPoint3D>
  <cs:dataPointLine>
    <cs:lnRef idx="0">
      <cs:styleClr val="auto"/>
    </cs:lnRef>
    <cs:fillRef idx="3"/>
    <cs:effectRef idx="2"/>
    <cs:fontRef idx="minor">
      <a:schemeClr val="tx2"/>
    </cs:fontRef>
    <cs:spPr>
      <a:ln w="31750" cap="rnd">
        <a:solidFill>
          <a:schemeClr val="phClr"/>
        </a:solidFill>
        <a:round/>
      </a:ln>
    </cs:spPr>
  </cs:dataPointLine>
  <cs:dataPointMarker>
    <cs:lnRef idx="0"/>
    <cs:fillRef idx="3">
      <cs:styleClr val="auto"/>
    </cs:fillRef>
    <cs:effectRef idx="2"/>
    <cs:fontRef idx="minor">
      <a:schemeClr val="tx2"/>
    </cs:fontRef>
    <cs:spPr>
      <a:ln w="12700">
        <a:solidFill>
          <a:schemeClr val="lt2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2"/>
    <cs:fontRef idx="minor">
      <a:schemeClr val="tx2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2"/>
    </cs:fontRef>
    <cs:spPr>
      <a:ln w="9525">
        <a:solidFill>
          <a:schemeClr val="tx2">
            <a:lumMod val="15000"/>
            <a:lumOff val="8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tx2"/>
    </cs:fontRef>
    <cs:spPr>
      <a:ln w="9525">
        <a:solidFill>
          <a:schemeClr val="tx2">
            <a:lumMod val="75000"/>
          </a:schemeClr>
        </a:solidFill>
        <a:round/>
      </a:ln>
    </cs:spPr>
  </cs:errorBar>
  <cs:floor>
    <cs:lnRef idx="0"/>
    <cs:fillRef idx="0"/>
    <cs:effectRef idx="0"/>
    <cs:fontRef idx="minor">
      <a:schemeClr val="tx2"/>
    </cs:fontRef>
  </cs:floor>
  <cs:gridlineMajor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2"/>
    </cs:fontRef>
    <cs:spPr>
      <a:ln>
        <a:solidFill>
          <a:schemeClr val="tx2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2"/>
    </cs:fontRef>
    <cs:defRPr sz="900" kern="1200"/>
  </cs:legend>
  <cs:plotArea>
    <cs:lnRef idx="0"/>
    <cs:fillRef idx="0"/>
    <cs:effectRef idx="0"/>
    <cs:fontRef idx="minor">
      <a:schemeClr val="tx2"/>
    </cs:fontRef>
  </cs:plotArea>
  <cs:plotArea3D>
    <cs:lnRef idx="0"/>
    <cs:fillRef idx="0"/>
    <cs:effectRef idx="0"/>
    <cs:fontRef idx="minor">
      <a:schemeClr val="tx2"/>
    </cs:fontRef>
  </cs:plotArea3D>
  <cs:seriesAxis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tx2"/>
    </cs:fontRef>
    <cs:defRPr sz="1600" b="1" kern="1200"/>
  </cs:title>
  <cs:trendline>
    <cs:lnRef idx="0">
      <cs:styleClr val="auto"/>
    </cs:lnRef>
    <cs:fillRef idx="0"/>
    <cs:effectRef idx="0"/>
    <cs:fontRef idx="minor">
      <a:schemeClr val="tx2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2"/>
    </cs:fontRef>
    <cs:defRPr sz="900" kern="1200"/>
  </cs:trendlineLabel>
  <cs:upBar>
    <cs:lnRef idx="0"/>
    <cs:fillRef idx="0"/>
    <cs:effectRef idx="0"/>
    <cs:fontRef idx="minor">
      <a:schemeClr val="tx2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2"/>
    </cs:fontRef>
    <cs:defRPr sz="900" kern="1200"/>
  </cs:valueAxis>
  <cs:wall>
    <cs:lnRef idx="0"/>
    <cs:fillRef idx="0"/>
    <cs:effectRef idx="0"/>
    <cs:fontRef idx="minor">
      <a:schemeClr val="tx2"/>
    </cs:fontRef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302">
  <cs:axisTitle>
    <cs:lnRef idx="0"/>
    <cs:fillRef idx="0"/>
    <cs:effectRef idx="0"/>
    <cs:fontRef idx="minor">
      <a:schemeClr val="tx2"/>
    </cs:fontRef>
    <cs:defRPr sz="900" b="1" kern="1200"/>
  </cs:axisTitle>
  <cs:categoryAxis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2"/>
    </cs:fontRef>
    <cs:defRPr sz="900" kern="1200"/>
  </cs:dataLabel>
  <cs:dataLabelCallout>
    <cs:lnRef idx="0"/>
    <cs:fillRef idx="0"/>
    <cs:effectRef idx="0"/>
    <cs:fontRef idx="minor">
      <a:schemeClr val="dk2">
        <a:lumMod val="7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2"/>
    <cs:fontRef idx="minor">
      <a:schemeClr val="tx2"/>
    </cs:fontRef>
  </cs:dataPoint>
  <cs:dataPoint3D>
    <cs:lnRef idx="0"/>
    <cs:fillRef idx="3">
      <cs:styleClr val="auto"/>
    </cs:fillRef>
    <cs:effectRef idx="2"/>
    <cs:fontRef idx="minor">
      <a:schemeClr val="tx2"/>
    </cs:fontRef>
  </cs:dataPoint3D>
  <cs:dataPointLine>
    <cs:lnRef idx="0">
      <cs:styleClr val="auto"/>
    </cs:lnRef>
    <cs:fillRef idx="3"/>
    <cs:effectRef idx="2"/>
    <cs:fontRef idx="minor">
      <a:schemeClr val="tx2"/>
    </cs:fontRef>
    <cs:spPr>
      <a:ln w="31750" cap="rnd">
        <a:solidFill>
          <a:schemeClr val="phClr"/>
        </a:solidFill>
        <a:round/>
      </a:ln>
    </cs:spPr>
  </cs:dataPointLine>
  <cs:dataPointMarker>
    <cs:lnRef idx="0"/>
    <cs:fillRef idx="3">
      <cs:styleClr val="auto"/>
    </cs:fillRef>
    <cs:effectRef idx="2"/>
    <cs:fontRef idx="minor">
      <a:schemeClr val="tx2"/>
    </cs:fontRef>
    <cs:spPr>
      <a:ln w="12700">
        <a:solidFill>
          <a:schemeClr val="lt2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2"/>
    <cs:fontRef idx="minor">
      <a:schemeClr val="tx2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2"/>
    </cs:fontRef>
    <cs:spPr>
      <a:ln w="9525">
        <a:solidFill>
          <a:schemeClr val="tx2">
            <a:lumMod val="15000"/>
            <a:lumOff val="8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tx2"/>
    </cs:fontRef>
    <cs:spPr>
      <a:ln w="9525">
        <a:solidFill>
          <a:schemeClr val="tx2">
            <a:lumMod val="75000"/>
          </a:schemeClr>
        </a:solidFill>
        <a:round/>
      </a:ln>
    </cs:spPr>
  </cs:errorBar>
  <cs:floor>
    <cs:lnRef idx="0"/>
    <cs:fillRef idx="0"/>
    <cs:effectRef idx="0"/>
    <cs:fontRef idx="minor">
      <a:schemeClr val="tx2"/>
    </cs:fontRef>
  </cs:floor>
  <cs:gridlineMajor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2"/>
    </cs:fontRef>
    <cs:spPr>
      <a:ln>
        <a:solidFill>
          <a:schemeClr val="tx2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2"/>
    </cs:fontRef>
    <cs:defRPr sz="900" kern="1200"/>
  </cs:legend>
  <cs:plotArea>
    <cs:lnRef idx="0"/>
    <cs:fillRef idx="0"/>
    <cs:effectRef idx="0"/>
    <cs:fontRef idx="minor">
      <a:schemeClr val="tx2"/>
    </cs:fontRef>
  </cs:plotArea>
  <cs:plotArea3D>
    <cs:lnRef idx="0"/>
    <cs:fillRef idx="0"/>
    <cs:effectRef idx="0"/>
    <cs:fontRef idx="minor">
      <a:schemeClr val="tx2"/>
    </cs:fontRef>
  </cs:plotArea3D>
  <cs:seriesAxis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tx2"/>
    </cs:fontRef>
    <cs:defRPr sz="1600" b="1" kern="1200"/>
  </cs:title>
  <cs:trendline>
    <cs:lnRef idx="0">
      <cs:styleClr val="auto"/>
    </cs:lnRef>
    <cs:fillRef idx="0"/>
    <cs:effectRef idx="0"/>
    <cs:fontRef idx="minor">
      <a:schemeClr val="tx2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2"/>
    </cs:fontRef>
    <cs:defRPr sz="900" kern="1200"/>
  </cs:trendlineLabel>
  <cs:upBar>
    <cs:lnRef idx="0"/>
    <cs:fillRef idx="0"/>
    <cs:effectRef idx="0"/>
    <cs:fontRef idx="minor">
      <a:schemeClr val="tx2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2"/>
    </cs:fontRef>
    <cs:defRPr sz="900" kern="1200"/>
  </cs:valueAxis>
  <cs:wall>
    <cs:lnRef idx="0"/>
    <cs:fillRef idx="0"/>
    <cs:effectRef idx="0"/>
    <cs:fontRef idx="minor">
      <a:schemeClr val="tx2"/>
    </cs:fontRef>
  </cs:wall>
</cs:chartStyle>
</file>

<file path=ppt/charts/style5.xml><?xml version="1.0" encoding="utf-8"?>
<cs:chartStyle xmlns:cs="http://schemas.microsoft.com/office/drawing/2012/chartStyle" xmlns:a="http://schemas.openxmlformats.org/drawingml/2006/main" id="302">
  <cs:axisTitle>
    <cs:lnRef idx="0"/>
    <cs:fillRef idx="0"/>
    <cs:effectRef idx="0"/>
    <cs:fontRef idx="minor">
      <a:schemeClr val="tx2"/>
    </cs:fontRef>
    <cs:defRPr sz="900" b="1" kern="1200"/>
  </cs:axisTitle>
  <cs:categoryAxis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2"/>
    </cs:fontRef>
    <cs:defRPr sz="900" kern="1200"/>
  </cs:dataLabel>
  <cs:dataLabelCallout>
    <cs:lnRef idx="0"/>
    <cs:fillRef idx="0"/>
    <cs:effectRef idx="0"/>
    <cs:fontRef idx="minor">
      <a:schemeClr val="dk2">
        <a:lumMod val="7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2"/>
    <cs:fontRef idx="minor">
      <a:schemeClr val="tx2"/>
    </cs:fontRef>
  </cs:dataPoint>
  <cs:dataPoint3D>
    <cs:lnRef idx="0"/>
    <cs:fillRef idx="3">
      <cs:styleClr val="auto"/>
    </cs:fillRef>
    <cs:effectRef idx="2"/>
    <cs:fontRef idx="minor">
      <a:schemeClr val="tx2"/>
    </cs:fontRef>
  </cs:dataPoint3D>
  <cs:dataPointLine>
    <cs:lnRef idx="0">
      <cs:styleClr val="auto"/>
    </cs:lnRef>
    <cs:fillRef idx="3"/>
    <cs:effectRef idx="2"/>
    <cs:fontRef idx="minor">
      <a:schemeClr val="tx2"/>
    </cs:fontRef>
    <cs:spPr>
      <a:ln w="31750" cap="rnd">
        <a:solidFill>
          <a:schemeClr val="phClr"/>
        </a:solidFill>
        <a:round/>
      </a:ln>
    </cs:spPr>
  </cs:dataPointLine>
  <cs:dataPointMarker>
    <cs:lnRef idx="0"/>
    <cs:fillRef idx="3">
      <cs:styleClr val="auto"/>
    </cs:fillRef>
    <cs:effectRef idx="2"/>
    <cs:fontRef idx="minor">
      <a:schemeClr val="tx2"/>
    </cs:fontRef>
    <cs:spPr>
      <a:ln w="12700">
        <a:solidFill>
          <a:schemeClr val="lt2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2"/>
    <cs:fontRef idx="minor">
      <a:schemeClr val="tx2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2"/>
    </cs:fontRef>
    <cs:spPr>
      <a:ln w="9525">
        <a:solidFill>
          <a:schemeClr val="tx2">
            <a:lumMod val="15000"/>
            <a:lumOff val="8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tx2"/>
    </cs:fontRef>
    <cs:spPr>
      <a:ln w="9525">
        <a:solidFill>
          <a:schemeClr val="tx2">
            <a:lumMod val="75000"/>
          </a:schemeClr>
        </a:solidFill>
        <a:round/>
      </a:ln>
    </cs:spPr>
  </cs:errorBar>
  <cs:floor>
    <cs:lnRef idx="0"/>
    <cs:fillRef idx="0"/>
    <cs:effectRef idx="0"/>
    <cs:fontRef idx="minor">
      <a:schemeClr val="tx2"/>
    </cs:fontRef>
  </cs:floor>
  <cs:gridlineMajor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2"/>
    </cs:fontRef>
    <cs:spPr>
      <a:ln>
        <a:solidFill>
          <a:schemeClr val="tx2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2"/>
    </cs:fontRef>
    <cs:defRPr sz="900" kern="1200"/>
  </cs:legend>
  <cs:plotArea>
    <cs:lnRef idx="0"/>
    <cs:fillRef idx="0"/>
    <cs:effectRef idx="0"/>
    <cs:fontRef idx="minor">
      <a:schemeClr val="tx2"/>
    </cs:fontRef>
  </cs:plotArea>
  <cs:plotArea3D>
    <cs:lnRef idx="0"/>
    <cs:fillRef idx="0"/>
    <cs:effectRef idx="0"/>
    <cs:fontRef idx="minor">
      <a:schemeClr val="tx2"/>
    </cs:fontRef>
  </cs:plotArea3D>
  <cs:seriesAxis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tx2"/>
    </cs:fontRef>
    <cs:defRPr sz="1600" b="1" kern="1200"/>
  </cs:title>
  <cs:trendline>
    <cs:lnRef idx="0">
      <cs:styleClr val="auto"/>
    </cs:lnRef>
    <cs:fillRef idx="0"/>
    <cs:effectRef idx="0"/>
    <cs:fontRef idx="minor">
      <a:schemeClr val="tx2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2"/>
    </cs:fontRef>
    <cs:defRPr sz="900" kern="1200"/>
  </cs:trendlineLabel>
  <cs:upBar>
    <cs:lnRef idx="0"/>
    <cs:fillRef idx="0"/>
    <cs:effectRef idx="0"/>
    <cs:fontRef idx="minor">
      <a:schemeClr val="tx2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2"/>
    </cs:fontRef>
    <cs:defRPr sz="900" kern="1200"/>
  </cs:valueAxis>
  <cs:wall>
    <cs:lnRef idx="0"/>
    <cs:fillRef idx="0"/>
    <cs:effectRef idx="0"/>
    <cs:fontRef idx="minor">
      <a:schemeClr val="tx2"/>
    </cs:fontRef>
  </cs:wall>
</cs:chartStyle>
</file>

<file path=ppt/charts/style6.xml><?xml version="1.0" encoding="utf-8"?>
<cs:chartStyle xmlns:cs="http://schemas.microsoft.com/office/drawing/2012/chartStyle" xmlns:a="http://schemas.openxmlformats.org/drawingml/2006/main" id="302">
  <cs:axisTitle>
    <cs:lnRef idx="0"/>
    <cs:fillRef idx="0"/>
    <cs:effectRef idx="0"/>
    <cs:fontRef idx="minor">
      <a:schemeClr val="tx2"/>
    </cs:fontRef>
    <cs:defRPr sz="900" b="1" kern="1200"/>
  </cs:axisTitle>
  <cs:categoryAxis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2"/>
    </cs:fontRef>
    <cs:defRPr sz="900" kern="1200"/>
  </cs:dataLabel>
  <cs:dataLabelCallout>
    <cs:lnRef idx="0"/>
    <cs:fillRef idx="0"/>
    <cs:effectRef idx="0"/>
    <cs:fontRef idx="minor">
      <a:schemeClr val="dk2">
        <a:lumMod val="7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2"/>
    <cs:fontRef idx="minor">
      <a:schemeClr val="tx2"/>
    </cs:fontRef>
  </cs:dataPoint>
  <cs:dataPoint3D>
    <cs:lnRef idx="0"/>
    <cs:fillRef idx="3">
      <cs:styleClr val="auto"/>
    </cs:fillRef>
    <cs:effectRef idx="2"/>
    <cs:fontRef idx="minor">
      <a:schemeClr val="tx2"/>
    </cs:fontRef>
  </cs:dataPoint3D>
  <cs:dataPointLine>
    <cs:lnRef idx="0">
      <cs:styleClr val="auto"/>
    </cs:lnRef>
    <cs:fillRef idx="3"/>
    <cs:effectRef idx="2"/>
    <cs:fontRef idx="minor">
      <a:schemeClr val="tx2"/>
    </cs:fontRef>
    <cs:spPr>
      <a:ln w="31750" cap="rnd">
        <a:solidFill>
          <a:schemeClr val="phClr"/>
        </a:solidFill>
        <a:round/>
      </a:ln>
    </cs:spPr>
  </cs:dataPointLine>
  <cs:dataPointMarker>
    <cs:lnRef idx="0"/>
    <cs:fillRef idx="3">
      <cs:styleClr val="auto"/>
    </cs:fillRef>
    <cs:effectRef idx="2"/>
    <cs:fontRef idx="minor">
      <a:schemeClr val="tx2"/>
    </cs:fontRef>
    <cs:spPr>
      <a:ln w="12700">
        <a:solidFill>
          <a:schemeClr val="lt2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2"/>
    <cs:fontRef idx="minor">
      <a:schemeClr val="tx2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2"/>
    </cs:fontRef>
    <cs:spPr>
      <a:ln w="9525">
        <a:solidFill>
          <a:schemeClr val="tx2">
            <a:lumMod val="15000"/>
            <a:lumOff val="8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tx2"/>
    </cs:fontRef>
    <cs:spPr>
      <a:ln w="9525">
        <a:solidFill>
          <a:schemeClr val="tx2">
            <a:lumMod val="75000"/>
          </a:schemeClr>
        </a:solidFill>
        <a:round/>
      </a:ln>
    </cs:spPr>
  </cs:errorBar>
  <cs:floor>
    <cs:lnRef idx="0"/>
    <cs:fillRef idx="0"/>
    <cs:effectRef idx="0"/>
    <cs:fontRef idx="minor">
      <a:schemeClr val="tx2"/>
    </cs:fontRef>
  </cs:floor>
  <cs:gridlineMajor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2"/>
    </cs:fontRef>
    <cs:spPr>
      <a:ln>
        <a:solidFill>
          <a:schemeClr val="tx2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2"/>
    </cs:fontRef>
    <cs:defRPr sz="900" kern="1200"/>
  </cs:legend>
  <cs:plotArea>
    <cs:lnRef idx="0"/>
    <cs:fillRef idx="0"/>
    <cs:effectRef idx="0"/>
    <cs:fontRef idx="minor">
      <a:schemeClr val="tx2"/>
    </cs:fontRef>
  </cs:plotArea>
  <cs:plotArea3D>
    <cs:lnRef idx="0"/>
    <cs:fillRef idx="0"/>
    <cs:effectRef idx="0"/>
    <cs:fontRef idx="minor">
      <a:schemeClr val="tx2"/>
    </cs:fontRef>
  </cs:plotArea3D>
  <cs:seriesAxis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tx2"/>
    </cs:fontRef>
    <cs:defRPr sz="1600" b="1" kern="1200"/>
  </cs:title>
  <cs:trendline>
    <cs:lnRef idx="0">
      <cs:styleClr val="auto"/>
    </cs:lnRef>
    <cs:fillRef idx="0"/>
    <cs:effectRef idx="0"/>
    <cs:fontRef idx="minor">
      <a:schemeClr val="tx2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2"/>
    </cs:fontRef>
    <cs:defRPr sz="900" kern="1200"/>
  </cs:trendlineLabel>
  <cs:upBar>
    <cs:lnRef idx="0"/>
    <cs:fillRef idx="0"/>
    <cs:effectRef idx="0"/>
    <cs:fontRef idx="minor">
      <a:schemeClr val="tx2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2"/>
    </cs:fontRef>
    <cs:defRPr sz="900" kern="1200"/>
  </cs:valueAxis>
  <cs:wall>
    <cs:lnRef idx="0"/>
    <cs:fillRef idx="0"/>
    <cs:effectRef idx="0"/>
    <cs:fontRef idx="minor">
      <a:schemeClr val="tx2"/>
    </cs:fontRef>
  </cs:wall>
</cs:chartStyle>
</file>

<file path=ppt/charts/style7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D8A5589C-7FE6-46B2-B41A-1DB2DFDF580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B482F4BB-4F5B-4789-A545-D50268CAC6A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50B3D99-BD19-4860-B122-7A3464E5579B}" type="datetimeFigureOut">
              <a:rPr lang="ko-KR" altLang="en-US" smtClean="0"/>
              <a:t>2025. 6. 28.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8EF5FCA5-8196-439C-960E-AFB3B7759B5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B2200B7B-F18B-46F2-9F6E-CE315BE8DD8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6C7181D-6B6E-4188-B3F0-7D20B550C9C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1509651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E72406-DC73-4677-AAF9-8F682C9A831A}" type="datetimeFigureOut">
              <a:rPr lang="ko-KR" altLang="en-US" smtClean="0"/>
              <a:t>2025. 6. 28.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5E6E0A0-4D6C-478B-831C-44A69CCC47F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124251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E6E0A0-4D6C-478B-831C-44A69CCC47F4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716575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기관명 없는 레이아웃 (국문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/>
          <p:cNvSpPr/>
          <p:nvPr userDrawn="1"/>
        </p:nvSpPr>
        <p:spPr>
          <a:xfrm>
            <a:off x="0" y="0"/>
            <a:ext cx="12192000" cy="61784"/>
          </a:xfrm>
          <a:prstGeom prst="rect">
            <a:avLst/>
          </a:prstGeom>
          <a:gradFill flip="none" rotWithShape="1">
            <a:gsLst>
              <a:gs pos="16000">
                <a:srgbClr val="193282"/>
              </a:gs>
              <a:gs pos="100000">
                <a:srgbClr val="00C0DA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>
              <a:solidFill>
                <a:prstClr val="white"/>
              </a:solidFill>
            </a:endParaRPr>
          </a:p>
        </p:txBody>
      </p:sp>
      <p:sp>
        <p:nvSpPr>
          <p:cNvPr id="6" name="모서리가 둥근 직사각형 5"/>
          <p:cNvSpPr/>
          <p:nvPr userDrawn="1"/>
        </p:nvSpPr>
        <p:spPr>
          <a:xfrm>
            <a:off x="11723078" y="6606279"/>
            <a:ext cx="342087" cy="171024"/>
          </a:xfrm>
          <a:prstGeom prst="roundRect">
            <a:avLst>
              <a:gd name="adj" fmla="val 15728"/>
            </a:avLst>
          </a:prstGeom>
          <a:solidFill>
            <a:srgbClr val="E4E4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000"/>
          </a:p>
        </p:txBody>
      </p:sp>
      <p:sp>
        <p:nvSpPr>
          <p:cNvPr id="7" name="직사각형 6"/>
          <p:cNvSpPr/>
          <p:nvPr userDrawn="1"/>
        </p:nvSpPr>
        <p:spPr>
          <a:xfrm>
            <a:off x="0" y="349441"/>
            <a:ext cx="463296" cy="45719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/>
          </a:p>
        </p:txBody>
      </p:sp>
      <p:sp>
        <p:nvSpPr>
          <p:cNvPr id="10" name="TextBox 9"/>
          <p:cNvSpPr txBox="1"/>
          <p:nvPr userDrawn="1"/>
        </p:nvSpPr>
        <p:spPr>
          <a:xfrm>
            <a:off x="420549" y="252993"/>
            <a:ext cx="375615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5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</a:rPr>
              <a:t>글로벌</a:t>
            </a:r>
            <a:r>
              <a:rPr lang="en-US" altLang="ko-KR" sz="900" spc="-5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</a:rPr>
              <a:t>(</a:t>
            </a:r>
            <a:r>
              <a:rPr lang="ko-KR" altLang="en-US" sz="900" spc="-5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</a:rPr>
              <a:t>동북아</a:t>
            </a:r>
            <a:r>
              <a:rPr lang="en-US" altLang="ko-KR" sz="900" spc="-5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</a:rPr>
              <a:t>) </a:t>
            </a:r>
            <a:r>
              <a:rPr lang="ko-KR" altLang="en-US" sz="900" spc="-5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</a:rPr>
              <a:t>기후변화</a:t>
            </a:r>
            <a:r>
              <a:rPr lang="en-US" altLang="ko-KR" sz="900" spc="-5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</a:rPr>
              <a:t>-</a:t>
            </a:r>
            <a:r>
              <a:rPr lang="ko-KR" altLang="en-US" sz="900" spc="-5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</a:rPr>
              <a:t>대기오염 원인물질 통합관리 모델링 시스템 개발</a:t>
            </a:r>
          </a:p>
        </p:txBody>
      </p:sp>
      <p:sp>
        <p:nvSpPr>
          <p:cNvPr id="8" name="슬라이드 번호 개체 틀 5"/>
          <p:cNvSpPr txBox="1">
            <a:spLocks/>
          </p:cNvSpPr>
          <p:nvPr userDrawn="1"/>
        </p:nvSpPr>
        <p:spPr>
          <a:xfrm>
            <a:off x="11537344" y="6570208"/>
            <a:ext cx="710544" cy="243169"/>
          </a:xfrm>
          <a:prstGeom prst="rect">
            <a:avLst/>
          </a:prstGeom>
        </p:spPr>
        <p:txBody>
          <a:bodyPr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fld id="{9E6E609A-B78F-41B4-AD79-1EA184FB106E}" type="slidenum">
              <a:rPr lang="ko-KR" altLang="en-US" sz="1000" b="1" spc="0" baseline="0" smtClean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</a:rPr>
              <a:pPr algn="ctr">
                <a:defRPr/>
              </a:pPr>
              <a:t>‹#›</a:t>
            </a:fld>
            <a:endParaRPr lang="ko-KR" altLang="en-US" sz="900" b="1" spc="0" baseline="0">
              <a:ln>
                <a:solidFill>
                  <a:schemeClr val="bg1">
                    <a:lumMod val="75000"/>
                    <a:alpha val="0"/>
                  </a:schemeClr>
                </a:solidFill>
              </a:ln>
              <a:solidFill>
                <a:schemeClr val="tx1">
                  <a:lumMod val="65000"/>
                  <a:lumOff val="3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358250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서울대학교-경희대학교 (국문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/>
          <p:cNvSpPr/>
          <p:nvPr userDrawn="1"/>
        </p:nvSpPr>
        <p:spPr>
          <a:xfrm>
            <a:off x="0" y="0"/>
            <a:ext cx="12192000" cy="61784"/>
          </a:xfrm>
          <a:prstGeom prst="rect">
            <a:avLst/>
          </a:prstGeom>
          <a:gradFill flip="none" rotWithShape="1">
            <a:gsLst>
              <a:gs pos="16000">
                <a:srgbClr val="193282"/>
              </a:gs>
              <a:gs pos="100000">
                <a:srgbClr val="00C0DA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>
              <a:solidFill>
                <a:prstClr val="white"/>
              </a:solidFill>
            </a:endParaRPr>
          </a:p>
        </p:txBody>
      </p:sp>
      <p:sp>
        <p:nvSpPr>
          <p:cNvPr id="6" name="모서리가 둥근 직사각형 5"/>
          <p:cNvSpPr/>
          <p:nvPr userDrawn="1"/>
        </p:nvSpPr>
        <p:spPr>
          <a:xfrm>
            <a:off x="11723078" y="6606279"/>
            <a:ext cx="342087" cy="171024"/>
          </a:xfrm>
          <a:prstGeom prst="roundRect">
            <a:avLst>
              <a:gd name="adj" fmla="val 15728"/>
            </a:avLst>
          </a:prstGeom>
          <a:solidFill>
            <a:srgbClr val="E4E4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000"/>
          </a:p>
        </p:txBody>
      </p:sp>
      <p:sp>
        <p:nvSpPr>
          <p:cNvPr id="7" name="직사각형 6"/>
          <p:cNvSpPr/>
          <p:nvPr userDrawn="1"/>
        </p:nvSpPr>
        <p:spPr>
          <a:xfrm>
            <a:off x="0" y="349441"/>
            <a:ext cx="463296" cy="45719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/>
          </a:p>
        </p:txBody>
      </p:sp>
      <p:sp>
        <p:nvSpPr>
          <p:cNvPr id="10" name="TextBox 9"/>
          <p:cNvSpPr txBox="1"/>
          <p:nvPr userDrawn="1"/>
        </p:nvSpPr>
        <p:spPr>
          <a:xfrm>
            <a:off x="420549" y="252993"/>
            <a:ext cx="375615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spc="-5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</a:rPr>
              <a:t>글로벌</a:t>
            </a:r>
            <a:r>
              <a:rPr lang="en-US" altLang="ko-KR" sz="900" spc="-5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</a:rPr>
              <a:t>(</a:t>
            </a:r>
            <a:r>
              <a:rPr lang="ko-KR" altLang="en-US" sz="900" spc="-5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</a:rPr>
              <a:t>동북아</a:t>
            </a:r>
            <a:r>
              <a:rPr lang="en-US" altLang="ko-KR" sz="900" spc="-5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</a:rPr>
              <a:t>) </a:t>
            </a:r>
            <a:r>
              <a:rPr lang="ko-KR" altLang="en-US" sz="900" spc="-5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</a:rPr>
              <a:t>기후변화</a:t>
            </a:r>
            <a:r>
              <a:rPr lang="en-US" altLang="ko-KR" sz="900" spc="-5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</a:rPr>
              <a:t>-</a:t>
            </a:r>
            <a:r>
              <a:rPr lang="ko-KR" altLang="en-US" sz="900" spc="-5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</a:rPr>
              <a:t>대기오염 원인물질 통합관리 모델링 시스템 개발</a:t>
            </a:r>
          </a:p>
        </p:txBody>
      </p:sp>
      <p:sp>
        <p:nvSpPr>
          <p:cNvPr id="8" name="슬라이드 번호 개체 틀 5"/>
          <p:cNvSpPr txBox="1">
            <a:spLocks/>
          </p:cNvSpPr>
          <p:nvPr userDrawn="1"/>
        </p:nvSpPr>
        <p:spPr>
          <a:xfrm>
            <a:off x="11537344" y="6570208"/>
            <a:ext cx="710544" cy="243169"/>
          </a:xfrm>
          <a:prstGeom prst="rect">
            <a:avLst/>
          </a:prstGeom>
        </p:spPr>
        <p:txBody>
          <a:bodyPr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fld id="{9E6E609A-B78F-41B4-AD79-1EA184FB106E}" type="slidenum">
              <a:rPr lang="ko-KR" altLang="en-US" sz="1000" b="1" spc="0" baseline="0" smtClean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</a:rPr>
              <a:pPr algn="ctr">
                <a:defRPr/>
              </a:pPr>
              <a:t>‹#›</a:t>
            </a:fld>
            <a:endParaRPr lang="ko-KR" altLang="en-US" sz="900" b="1" spc="0" baseline="0">
              <a:ln>
                <a:solidFill>
                  <a:schemeClr val="bg1">
                    <a:lumMod val="75000"/>
                    <a:alpha val="0"/>
                  </a:schemeClr>
                </a:solidFill>
              </a:ln>
              <a:solidFill>
                <a:schemeClr val="tx1">
                  <a:lumMod val="65000"/>
                  <a:lumOff val="3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Arial" pitchFamily="34" charset="0"/>
            </a:endParaRPr>
          </a:p>
        </p:txBody>
      </p:sp>
      <p:pic>
        <p:nvPicPr>
          <p:cNvPr id="13" name="Picture 4">
            <a:extLst>
              <a:ext uri="{FF2B5EF4-FFF2-40B4-BE49-F238E27FC236}">
                <a16:creationId xmlns:a16="http://schemas.microsoft.com/office/drawing/2014/main" id="{ED79192D-6169-EF5C-CE03-C0F8CC45397E}"/>
              </a:ext>
            </a:extLst>
          </p:cNvPr>
          <p:cNvPicPr preferRelativeResize="0">
            <a:picLocks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08580" y="113903"/>
            <a:ext cx="518400" cy="54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그림 16" descr="텍스트이(가) 표시된 사진&#10;&#10;자동 생성된 설명">
            <a:extLst>
              <a:ext uri="{FF2B5EF4-FFF2-40B4-BE49-F238E27FC236}">
                <a16:creationId xmlns:a16="http://schemas.microsoft.com/office/drawing/2014/main" id="{C1E0800A-E80D-444E-F6B0-241D1D860FE5}"/>
              </a:ext>
            </a:extLst>
          </p:cNvPr>
          <p:cNvPicPr preferRelativeResize="0">
            <a:picLocks/>
          </p:cNvPicPr>
          <p:nvPr userDrawn="1"/>
        </p:nvPicPr>
        <p:blipFill rotWithShape="1">
          <a:blip r:embed="rId3"/>
          <a:srcRect l="31181" t="29052" r="32236" b="33289"/>
          <a:stretch/>
        </p:blipFill>
        <p:spPr>
          <a:xfrm>
            <a:off x="11295015" y="124165"/>
            <a:ext cx="741600" cy="54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66771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무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5483157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기관명 없는 레이아웃 (영문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/>
          <p:cNvSpPr/>
          <p:nvPr userDrawn="1"/>
        </p:nvSpPr>
        <p:spPr>
          <a:xfrm>
            <a:off x="0" y="0"/>
            <a:ext cx="12192000" cy="61784"/>
          </a:xfrm>
          <a:prstGeom prst="rect">
            <a:avLst/>
          </a:prstGeom>
          <a:gradFill flip="none" rotWithShape="1">
            <a:gsLst>
              <a:gs pos="16000">
                <a:srgbClr val="193282"/>
              </a:gs>
              <a:gs pos="100000">
                <a:srgbClr val="00C0DA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>
              <a:solidFill>
                <a:prstClr val="white"/>
              </a:solidFill>
            </a:endParaRPr>
          </a:p>
        </p:txBody>
      </p:sp>
      <p:sp>
        <p:nvSpPr>
          <p:cNvPr id="6" name="모서리가 둥근 직사각형 5"/>
          <p:cNvSpPr/>
          <p:nvPr userDrawn="1"/>
        </p:nvSpPr>
        <p:spPr>
          <a:xfrm>
            <a:off x="11723078" y="6606279"/>
            <a:ext cx="342087" cy="171024"/>
          </a:xfrm>
          <a:prstGeom prst="roundRect">
            <a:avLst>
              <a:gd name="adj" fmla="val 15728"/>
            </a:avLst>
          </a:prstGeom>
          <a:solidFill>
            <a:srgbClr val="E4E4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000"/>
          </a:p>
        </p:txBody>
      </p:sp>
      <p:sp>
        <p:nvSpPr>
          <p:cNvPr id="7" name="직사각형 6"/>
          <p:cNvSpPr/>
          <p:nvPr userDrawn="1"/>
        </p:nvSpPr>
        <p:spPr>
          <a:xfrm>
            <a:off x="0" y="349441"/>
            <a:ext cx="463296" cy="45719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/>
          </a:p>
        </p:txBody>
      </p:sp>
      <p:sp>
        <p:nvSpPr>
          <p:cNvPr id="10" name="TextBox 9"/>
          <p:cNvSpPr txBox="1"/>
          <p:nvPr userDrawn="1"/>
        </p:nvSpPr>
        <p:spPr>
          <a:xfrm>
            <a:off x="420550" y="252993"/>
            <a:ext cx="6723957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spc="-30" baseline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</a:rPr>
              <a:t>Development of Global Integrated Assessment Modeling Systems for Climate-Air pollutants Management Focused on Northeast Asia</a:t>
            </a:r>
          </a:p>
        </p:txBody>
      </p:sp>
      <p:sp>
        <p:nvSpPr>
          <p:cNvPr id="8" name="슬라이드 번호 개체 틀 5"/>
          <p:cNvSpPr txBox="1">
            <a:spLocks/>
          </p:cNvSpPr>
          <p:nvPr userDrawn="1"/>
        </p:nvSpPr>
        <p:spPr>
          <a:xfrm>
            <a:off x="11537344" y="6570208"/>
            <a:ext cx="710544" cy="243169"/>
          </a:xfrm>
          <a:prstGeom prst="rect">
            <a:avLst/>
          </a:prstGeom>
        </p:spPr>
        <p:txBody>
          <a:bodyPr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fld id="{9E6E609A-B78F-41B4-AD79-1EA184FB106E}" type="slidenum">
              <a:rPr lang="ko-KR" altLang="en-US" sz="1000" b="1" spc="0" baseline="0" smtClean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</a:rPr>
              <a:pPr algn="ctr">
                <a:defRPr/>
              </a:pPr>
              <a:t>‹#›</a:t>
            </a:fld>
            <a:endParaRPr lang="ko-KR" altLang="en-US" sz="900" b="1" spc="0" baseline="0">
              <a:ln>
                <a:solidFill>
                  <a:schemeClr val="bg1">
                    <a:lumMod val="75000"/>
                    <a:alpha val="0"/>
                  </a:schemeClr>
                </a:solidFill>
              </a:ln>
              <a:solidFill>
                <a:schemeClr val="tx1">
                  <a:lumMod val="65000"/>
                  <a:lumOff val="3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6322691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서울대학교-경희대학교 (영문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/>
          <p:cNvSpPr/>
          <p:nvPr userDrawn="1"/>
        </p:nvSpPr>
        <p:spPr>
          <a:xfrm>
            <a:off x="0" y="0"/>
            <a:ext cx="12192000" cy="61784"/>
          </a:xfrm>
          <a:prstGeom prst="rect">
            <a:avLst/>
          </a:prstGeom>
          <a:gradFill flip="none" rotWithShape="1">
            <a:gsLst>
              <a:gs pos="16000">
                <a:srgbClr val="193282"/>
              </a:gs>
              <a:gs pos="100000">
                <a:srgbClr val="00C0DA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>
              <a:solidFill>
                <a:prstClr val="white"/>
              </a:solidFill>
            </a:endParaRPr>
          </a:p>
        </p:txBody>
      </p:sp>
      <p:sp>
        <p:nvSpPr>
          <p:cNvPr id="6" name="모서리가 둥근 직사각형 5"/>
          <p:cNvSpPr/>
          <p:nvPr userDrawn="1"/>
        </p:nvSpPr>
        <p:spPr>
          <a:xfrm>
            <a:off x="11723078" y="6606279"/>
            <a:ext cx="342087" cy="171024"/>
          </a:xfrm>
          <a:prstGeom prst="roundRect">
            <a:avLst>
              <a:gd name="adj" fmla="val 15728"/>
            </a:avLst>
          </a:prstGeom>
          <a:solidFill>
            <a:srgbClr val="E4E4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000"/>
          </a:p>
        </p:txBody>
      </p:sp>
      <p:sp>
        <p:nvSpPr>
          <p:cNvPr id="7" name="직사각형 6"/>
          <p:cNvSpPr/>
          <p:nvPr userDrawn="1"/>
        </p:nvSpPr>
        <p:spPr>
          <a:xfrm>
            <a:off x="0" y="349441"/>
            <a:ext cx="463296" cy="45719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/>
          </a:p>
        </p:txBody>
      </p:sp>
      <p:sp>
        <p:nvSpPr>
          <p:cNvPr id="8" name="슬라이드 번호 개체 틀 5"/>
          <p:cNvSpPr txBox="1">
            <a:spLocks/>
          </p:cNvSpPr>
          <p:nvPr userDrawn="1"/>
        </p:nvSpPr>
        <p:spPr>
          <a:xfrm>
            <a:off x="11537344" y="6570208"/>
            <a:ext cx="710544" cy="243169"/>
          </a:xfrm>
          <a:prstGeom prst="rect">
            <a:avLst/>
          </a:prstGeom>
        </p:spPr>
        <p:txBody>
          <a:bodyPr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fld id="{9E6E609A-B78F-41B4-AD79-1EA184FB106E}" type="slidenum">
              <a:rPr lang="ko-KR" altLang="en-US" sz="1000" b="1" spc="0" baseline="0" smtClean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</a:rPr>
              <a:pPr algn="ctr">
                <a:defRPr/>
              </a:pPr>
              <a:t>‹#›</a:t>
            </a:fld>
            <a:endParaRPr lang="ko-KR" altLang="en-US" sz="900" b="1" spc="0" baseline="0">
              <a:ln>
                <a:solidFill>
                  <a:schemeClr val="bg1">
                    <a:lumMod val="75000"/>
                    <a:alpha val="0"/>
                  </a:schemeClr>
                </a:solidFill>
              </a:ln>
              <a:solidFill>
                <a:schemeClr val="tx1">
                  <a:lumMod val="65000"/>
                  <a:lumOff val="3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Arial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D9ACA41-8780-3CCD-7837-4AD0B8DDD6FC}"/>
              </a:ext>
            </a:extLst>
          </p:cNvPr>
          <p:cNvSpPr txBox="1"/>
          <p:nvPr userDrawn="1"/>
        </p:nvSpPr>
        <p:spPr>
          <a:xfrm>
            <a:off x="420550" y="252993"/>
            <a:ext cx="6723957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spc="-30" baseline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</a:rPr>
              <a:t>Development of Global Integrated Assessment Modeling Systems for Climate-Air pollutants Management Focused on Northeast Asia</a:t>
            </a:r>
          </a:p>
        </p:txBody>
      </p:sp>
      <p:pic>
        <p:nvPicPr>
          <p:cNvPr id="3" name="Picture 4">
            <a:extLst>
              <a:ext uri="{FF2B5EF4-FFF2-40B4-BE49-F238E27FC236}">
                <a16:creationId xmlns:a16="http://schemas.microsoft.com/office/drawing/2014/main" id="{17FA241B-9DAB-9048-1FEB-64B809174475}"/>
              </a:ext>
            </a:extLst>
          </p:cNvPr>
          <p:cNvPicPr preferRelativeResize="0">
            <a:picLocks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08580" y="113903"/>
            <a:ext cx="518400" cy="54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그림 3" descr="텍스트이(가) 표시된 사진&#10;&#10;자동 생성된 설명">
            <a:extLst>
              <a:ext uri="{FF2B5EF4-FFF2-40B4-BE49-F238E27FC236}">
                <a16:creationId xmlns:a16="http://schemas.microsoft.com/office/drawing/2014/main" id="{AA12F19C-525E-D79A-3C57-9545A2AF1229}"/>
              </a:ext>
            </a:extLst>
          </p:cNvPr>
          <p:cNvPicPr preferRelativeResize="0">
            <a:picLocks/>
          </p:cNvPicPr>
          <p:nvPr userDrawn="1"/>
        </p:nvPicPr>
        <p:blipFill rotWithShape="1">
          <a:blip r:embed="rId3"/>
          <a:srcRect l="31181" t="29052" r="32236" b="33289"/>
          <a:stretch/>
        </p:blipFill>
        <p:spPr>
          <a:xfrm>
            <a:off x="11295015" y="124165"/>
            <a:ext cx="741600" cy="54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291028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5.xml"/><Relationship Id="rId1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083680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4" r:id="rId2"/>
    <p:sldLayoutId id="2147483651" r:id="rId3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712683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5" r:id="rId2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502F164-7362-259C-0BC7-9F0158B969AF}"/>
              </a:ext>
            </a:extLst>
          </p:cNvPr>
          <p:cNvSpPr txBox="1"/>
          <p:nvPr/>
        </p:nvSpPr>
        <p:spPr>
          <a:xfrm>
            <a:off x="5270293" y="3244334"/>
            <a:ext cx="16514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b="1" dirty="0"/>
              <a:t>이한결 연구원</a:t>
            </a:r>
          </a:p>
        </p:txBody>
      </p:sp>
    </p:spTree>
    <p:extLst>
      <p:ext uri="{BB962C8B-B14F-4D97-AF65-F5344CB8AC3E}">
        <p14:creationId xmlns:p14="http://schemas.microsoft.com/office/powerpoint/2010/main" val="33168194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그룹 7">
            <a:extLst>
              <a:ext uri="{FF2B5EF4-FFF2-40B4-BE49-F238E27FC236}">
                <a16:creationId xmlns:a16="http://schemas.microsoft.com/office/drawing/2014/main" id="{B680956F-9091-4DA5-BF81-80BA3437F908}"/>
              </a:ext>
            </a:extLst>
          </p:cNvPr>
          <p:cNvGrpSpPr/>
          <p:nvPr/>
        </p:nvGrpSpPr>
        <p:grpSpPr>
          <a:xfrm>
            <a:off x="280800" y="491352"/>
            <a:ext cx="8089700" cy="977190"/>
            <a:chOff x="278836" y="391603"/>
            <a:chExt cx="8089700" cy="977190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F307C8B5-4060-4135-AE5D-02C4DF49E01A}"/>
                </a:ext>
              </a:extLst>
            </p:cNvPr>
            <p:cNvSpPr txBox="1"/>
            <p:nvPr/>
          </p:nvSpPr>
          <p:spPr>
            <a:xfrm>
              <a:off x="278836" y="391603"/>
              <a:ext cx="700513" cy="5693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3100" b="1" spc="-13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2">
                      <a:lumMod val="50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01.</a:t>
              </a:r>
              <a:endParaRPr lang="ko-KR" altLang="en-US" sz="3100" b="1" spc="-13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2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80481547-1A2B-4354-A575-8E21CB9D35CC}"/>
                </a:ext>
              </a:extLst>
            </p:cNvPr>
            <p:cNvSpPr txBox="1"/>
            <p:nvPr/>
          </p:nvSpPr>
          <p:spPr>
            <a:xfrm>
              <a:off x="908667" y="414686"/>
              <a:ext cx="7459869" cy="954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2800" b="1" spc="-150" dirty="0">
                  <a:latin typeface="+mn-ea"/>
                </a:rPr>
                <a:t>AQ Linkage</a:t>
              </a:r>
              <a:r>
                <a:rPr lang="ko-KR" altLang="en-US" sz="2800" b="1" spc="-150" dirty="0">
                  <a:latin typeface="+mn-ea"/>
                </a:rPr>
                <a:t> 결과 검증</a:t>
              </a:r>
              <a:endParaRPr lang="en-US" altLang="ko-KR" sz="2800" b="1" spc="-150" dirty="0">
                <a:latin typeface="+mn-ea"/>
              </a:endParaRPr>
            </a:p>
            <a:p>
              <a:endParaRPr lang="en-US" altLang="ko-KR" sz="2800" b="1" spc="-1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D6F21D57-C3A6-4ED8-A617-153349474AED}"/>
              </a:ext>
            </a:extLst>
          </p:cNvPr>
          <p:cNvGrpSpPr/>
          <p:nvPr/>
        </p:nvGrpSpPr>
        <p:grpSpPr>
          <a:xfrm>
            <a:off x="414000" y="1149913"/>
            <a:ext cx="140400" cy="313200"/>
            <a:chOff x="3767328" y="1146994"/>
            <a:chExt cx="1609344" cy="1334252"/>
          </a:xfrm>
        </p:grpSpPr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08F28E8E-36C5-464A-8D1B-946EFF9AD50B}"/>
                </a:ext>
              </a:extLst>
            </p:cNvPr>
            <p:cNvSpPr/>
            <p:nvPr/>
          </p:nvSpPr>
          <p:spPr>
            <a:xfrm>
              <a:off x="3767328" y="1146994"/>
              <a:ext cx="1609344" cy="1334252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" name="직사각형 27">
              <a:extLst>
                <a:ext uri="{FF2B5EF4-FFF2-40B4-BE49-F238E27FC236}">
                  <a16:creationId xmlns:a16="http://schemas.microsoft.com/office/drawing/2014/main" id="{B055F994-D7EF-433D-B179-0E26FE68B408}"/>
                </a:ext>
              </a:extLst>
            </p:cNvPr>
            <p:cNvSpPr/>
            <p:nvPr/>
          </p:nvSpPr>
          <p:spPr>
            <a:xfrm>
              <a:off x="3767328" y="1146994"/>
              <a:ext cx="927337" cy="1334252"/>
            </a:xfrm>
            <a:custGeom>
              <a:avLst/>
              <a:gdLst/>
              <a:ahLst/>
              <a:cxnLst/>
              <a:rect l="l" t="t" r="r" b="b"/>
              <a:pathLst>
                <a:path w="927337" h="1334252">
                  <a:moveTo>
                    <a:pt x="0" y="0"/>
                  </a:moveTo>
                  <a:lnTo>
                    <a:pt x="927337" y="0"/>
                  </a:lnTo>
                  <a:lnTo>
                    <a:pt x="269673" y="1334252"/>
                  </a:lnTo>
                  <a:lnTo>
                    <a:pt x="0" y="1334252"/>
                  </a:lnTo>
                  <a:close/>
                </a:path>
              </a:pathLst>
            </a:custGeom>
            <a:solidFill>
              <a:schemeClr val="bg1">
                <a:alpha val="12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FE81B453-3FBD-4A69-983F-600B900B64E3}"/>
              </a:ext>
            </a:extLst>
          </p:cNvPr>
          <p:cNvGrpSpPr/>
          <p:nvPr/>
        </p:nvGrpSpPr>
        <p:grpSpPr>
          <a:xfrm>
            <a:off x="407373" y="1102090"/>
            <a:ext cx="9888962" cy="400110"/>
            <a:chOff x="456760" y="946438"/>
            <a:chExt cx="9888962" cy="400110"/>
          </a:xfrm>
        </p:grpSpPr>
        <p:sp>
          <p:nvSpPr>
            <p:cNvPr id="17" name="직사각형 16">
              <a:extLst>
                <a:ext uri="{FF2B5EF4-FFF2-40B4-BE49-F238E27FC236}">
                  <a16:creationId xmlns:a16="http://schemas.microsoft.com/office/drawing/2014/main" id="{A18168AB-0E41-4DC8-A862-60072E142495}"/>
                </a:ext>
              </a:extLst>
            </p:cNvPr>
            <p:cNvSpPr/>
            <p:nvPr/>
          </p:nvSpPr>
          <p:spPr>
            <a:xfrm>
              <a:off x="611559" y="946438"/>
              <a:ext cx="9734163" cy="400110"/>
            </a:xfrm>
            <a:prstGeom prst="rect">
              <a:avLst/>
            </a:prstGeom>
          </p:spPr>
          <p:txBody>
            <a:bodyPr wrap="square" anchor="ctr" anchorCtr="0">
              <a:spAutoFit/>
            </a:bodyPr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ko-KR" altLang="en-US" sz="2000" b="1" kern="0" spc="-150" dirty="0">
                  <a:ln>
                    <a:solidFill>
                      <a:srgbClr val="4472C4">
                        <a:alpha val="0"/>
                      </a:srgbClr>
                    </a:solidFill>
                  </a:ln>
                  <a:solidFill>
                    <a:prstClr val="black"/>
                  </a:solidFill>
                  <a:latin typeface="맑은 고딕"/>
                  <a:ea typeface="맑은 고딕" panose="020B0503020000020004" pitchFamily="50" charset="-127"/>
                </a:rPr>
                <a:t>연구 진행방향</a:t>
              </a:r>
              <a:endParaRPr kumimoji="0" lang="ko-KR" altLang="en-US" sz="1400" b="1" i="0" u="none" strike="noStrike" kern="0" cap="none" spc="-150" normalizeH="0" baseline="0" noProof="0" dirty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1F497D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20" name="직사각형 27">
              <a:extLst>
                <a:ext uri="{FF2B5EF4-FFF2-40B4-BE49-F238E27FC236}">
                  <a16:creationId xmlns:a16="http://schemas.microsoft.com/office/drawing/2014/main" id="{27924238-A541-49B8-918C-61E19D7AE3D8}"/>
                </a:ext>
              </a:extLst>
            </p:cNvPr>
            <p:cNvSpPr/>
            <p:nvPr/>
          </p:nvSpPr>
          <p:spPr>
            <a:xfrm>
              <a:off x="456760" y="1024183"/>
              <a:ext cx="80901" cy="313200"/>
            </a:xfrm>
            <a:custGeom>
              <a:avLst/>
              <a:gdLst/>
              <a:ahLst/>
              <a:cxnLst/>
              <a:rect l="l" t="t" r="r" b="b"/>
              <a:pathLst>
                <a:path w="927337" h="1334252">
                  <a:moveTo>
                    <a:pt x="0" y="0"/>
                  </a:moveTo>
                  <a:lnTo>
                    <a:pt x="927337" y="0"/>
                  </a:lnTo>
                  <a:lnTo>
                    <a:pt x="269673" y="1334252"/>
                  </a:lnTo>
                  <a:lnTo>
                    <a:pt x="0" y="1334252"/>
                  </a:lnTo>
                  <a:close/>
                </a:path>
              </a:pathLst>
            </a:custGeom>
            <a:solidFill>
              <a:schemeClr val="bg1">
                <a:alpha val="12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46" name="내용 개체 틀 2">
            <a:extLst>
              <a:ext uri="{FF2B5EF4-FFF2-40B4-BE49-F238E27FC236}">
                <a16:creationId xmlns:a16="http://schemas.microsoft.com/office/drawing/2014/main" id="{1010A98C-74BB-4677-AB4A-2EEDB7ABBE8F}"/>
              </a:ext>
            </a:extLst>
          </p:cNvPr>
          <p:cNvSpPr txBox="1">
            <a:spLocks/>
          </p:cNvSpPr>
          <p:nvPr/>
        </p:nvSpPr>
        <p:spPr bwMode="auto">
          <a:xfrm>
            <a:off x="407373" y="1631956"/>
            <a:ext cx="11555900" cy="7906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>
            <a:lvl1pPr marL="457200" indent="-457200" algn="l" rtl="0" eaLnBrk="1" fontAlgn="base" latinLnBrk="1" hangingPunct="1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•"/>
              <a:defRPr sz="1800" b="1" kern="1200" spc="-60">
                <a:solidFill>
                  <a:schemeClr val="tx1"/>
                </a:solidFill>
                <a:latin typeface="+mn-lt"/>
                <a:ea typeface="맑은 고딕" pitchFamily="50" charset="-127"/>
                <a:cs typeface="+mn-cs"/>
              </a:defRPr>
            </a:lvl1pPr>
            <a:lvl2pPr marL="742950" indent="-285750" algn="l" rtl="0" eaLnBrk="1" fontAlgn="base" latinLnBrk="1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1600" kern="1200" spc="-60">
                <a:solidFill>
                  <a:schemeClr val="tx1"/>
                </a:solidFill>
                <a:latin typeface="+mn-lt"/>
                <a:ea typeface="맑은 고딕" pitchFamily="50" charset="-127"/>
                <a:cs typeface="+mn-cs"/>
              </a:defRPr>
            </a:lvl2pPr>
            <a:lvl3pPr marL="1143000" indent="-228600" algn="l" rtl="0" eaLnBrk="1" fontAlgn="base" latinLnBrk="1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1400" kern="1200" spc="-60">
                <a:solidFill>
                  <a:schemeClr val="tx1"/>
                </a:solidFill>
                <a:latin typeface="+mn-lt"/>
                <a:ea typeface="맑은 고딕" pitchFamily="50" charset="-127"/>
                <a:cs typeface="+mn-cs"/>
              </a:defRPr>
            </a:lvl3pPr>
            <a:lvl4pPr marL="1600200" indent="-228600" algn="l" rtl="0" eaLnBrk="1" fontAlgn="base" latinLnBrk="1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1200" kern="1200" spc="-60">
                <a:solidFill>
                  <a:schemeClr val="tx1"/>
                </a:solidFill>
                <a:latin typeface="+mn-lt"/>
                <a:ea typeface="맑은 고딕" pitchFamily="50" charset="-127"/>
                <a:cs typeface="+mn-cs"/>
              </a:defRPr>
            </a:lvl4pPr>
            <a:lvl5pPr marL="2057400" indent="-228600" algn="l" rtl="0" eaLnBrk="1" fontAlgn="base" latinLnBrk="1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1200" kern="1200" spc="-60">
                <a:solidFill>
                  <a:schemeClr val="tx1"/>
                </a:solidFill>
                <a:latin typeface="+mn-lt"/>
                <a:ea typeface="맑은 고딕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6213" indent="-176213" defTabSz="457200">
              <a:lnSpc>
                <a:spcPct val="150000"/>
              </a:lnSpc>
              <a:defRPr/>
            </a:pPr>
            <a:r>
              <a:rPr lang="ko-KR" altLang="en-US" sz="1500" kern="0" spc="-150" dirty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지난 월례회 보고 이후 </a:t>
            </a:r>
            <a:r>
              <a:rPr lang="en-US" altLang="ko-KR" sz="1500" kern="0" spc="-150" dirty="0" err="1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Britz&amp;Roson</a:t>
            </a:r>
            <a:r>
              <a:rPr lang="en-US" altLang="ko-KR" sz="1500" kern="0" spc="-150" dirty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(2019, G-RDEM) </a:t>
            </a:r>
            <a:r>
              <a:rPr lang="ko-KR" altLang="en-US" sz="1500" kern="0" spc="-150" dirty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문헌을 참고하여 내적 정합성 검증 지속 진행</a:t>
            </a:r>
            <a:r>
              <a:rPr lang="en-US" altLang="ko-KR" sz="1500" kern="0" spc="-150" dirty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</a:p>
          <a:p>
            <a:pPr marL="176213" indent="-176213" defTabSz="457200">
              <a:lnSpc>
                <a:spcPct val="150000"/>
              </a:lnSpc>
              <a:defRPr/>
            </a:pPr>
            <a:r>
              <a:rPr lang="ko-KR" altLang="en-US" sz="1500" kern="0" spc="-150" dirty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가계소비구조를 한국은행 기준 </a:t>
            </a:r>
            <a:r>
              <a:rPr lang="en-US" altLang="ko-KR" sz="1500" kern="0" spc="-150" dirty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6</a:t>
            </a:r>
            <a:r>
              <a:rPr lang="ko-KR" altLang="en-US" sz="1500" kern="0" spc="-150" dirty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대 부문으로 나누어 </a:t>
            </a:r>
            <a:r>
              <a:rPr lang="ko-KR" altLang="en-US" sz="1500" kern="0" spc="-150" dirty="0" err="1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재진행</a:t>
            </a:r>
            <a:r>
              <a:rPr lang="en-US" altLang="ko-KR" sz="1500" kern="0" spc="-150" dirty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+</a:t>
            </a:r>
            <a:r>
              <a:rPr lang="ko-KR" altLang="en-US" sz="1500" kern="0" spc="-150" dirty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가계 저축률 및 국가추이 검증</a:t>
            </a:r>
            <a:endParaRPr lang="en-US" altLang="ko-KR" sz="1500" kern="0" spc="-150" dirty="0">
              <a:ln>
                <a:solidFill>
                  <a:srgbClr val="4472C4">
                    <a:alpha val="0"/>
                  </a:srgbClr>
                </a:solidFill>
              </a:ln>
              <a:solidFill>
                <a:prstClr val="black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3AC46BF0-CACE-1288-171F-988A22BE462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50205122"/>
              </p:ext>
            </p:extLst>
          </p:nvPr>
        </p:nvGraphicFramePr>
        <p:xfrm>
          <a:off x="312764" y="2820956"/>
          <a:ext cx="11745118" cy="3309255"/>
        </p:xfrm>
        <a:graphic>
          <a:graphicData uri="http://schemas.openxmlformats.org/drawingml/2006/table">
            <a:tbl>
              <a:tblPr/>
              <a:tblGrid>
                <a:gridCol w="2626083">
                  <a:extLst>
                    <a:ext uri="{9D8B030D-6E8A-4147-A177-3AD203B41FA5}">
                      <a16:colId xmlns:a16="http://schemas.microsoft.com/office/drawing/2014/main" val="1706116315"/>
                    </a:ext>
                  </a:extLst>
                </a:gridCol>
                <a:gridCol w="1475112">
                  <a:extLst>
                    <a:ext uri="{9D8B030D-6E8A-4147-A177-3AD203B41FA5}">
                      <a16:colId xmlns:a16="http://schemas.microsoft.com/office/drawing/2014/main" val="3287463926"/>
                    </a:ext>
                  </a:extLst>
                </a:gridCol>
                <a:gridCol w="2173184">
                  <a:extLst>
                    <a:ext uri="{9D8B030D-6E8A-4147-A177-3AD203B41FA5}">
                      <a16:colId xmlns:a16="http://schemas.microsoft.com/office/drawing/2014/main" val="1069079506"/>
                    </a:ext>
                  </a:extLst>
                </a:gridCol>
                <a:gridCol w="5470739">
                  <a:extLst>
                    <a:ext uri="{9D8B030D-6E8A-4147-A177-3AD203B41FA5}">
                      <a16:colId xmlns:a16="http://schemas.microsoft.com/office/drawing/2014/main" val="1195805325"/>
                    </a:ext>
                  </a:extLst>
                </a:gridCol>
              </a:tblGrid>
              <a:tr h="32352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500" b="1" i="0" dirty="0"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  <a:t>문헌 </a:t>
                      </a:r>
                      <a:r>
                        <a:rPr lang="en-US" altLang="ko-KR" sz="1500" b="1" i="0" dirty="0"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  <a:t>/ </a:t>
                      </a:r>
                      <a:r>
                        <a:rPr lang="ko-KR" altLang="en-US" sz="1500" b="1" i="0" dirty="0"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  <a:t>모델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500" b="1" i="0" dirty="0"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  <a:t>검증 유형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500" b="1" i="0" dirty="0"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  <a:t>주요 검증 항목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500" b="1" i="0" dirty="0"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  <a:t>AQ Linkage validation </a:t>
                      </a:r>
                      <a:r>
                        <a:rPr lang="ko-KR" altLang="en-US" sz="1500" b="1" i="0" dirty="0"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  <a:t>적용 예시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75732768"/>
                  </a:ext>
                </a:extLst>
              </a:tr>
              <a:tr h="87433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200" b="1" i="0" dirty="0"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  <a:t>① </a:t>
                      </a:r>
                      <a:r>
                        <a:rPr lang="ko-KR" altLang="en-US" sz="1200" b="1" i="0" dirty="0"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  <a:t>국가 온실가스 인벤토리 보고서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200" b="1" i="0" dirty="0"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  <a:t>내적 정합성 </a:t>
                      </a:r>
                      <a:endParaRPr lang="en-US" altLang="ko-KR" sz="1200" b="1" i="0" dirty="0">
                        <a:latin typeface="Malgun Gothic" panose="020B0503020000020004" pitchFamily="34" charset="-127"/>
                        <a:ea typeface="Malgun Gothic" panose="020B0503020000020004" pitchFamily="34" charset="-127"/>
                      </a:endParaRPr>
                    </a:p>
                    <a:p>
                      <a:pPr>
                        <a:buNone/>
                      </a:pPr>
                      <a:r>
                        <a:rPr lang="en-US" altLang="ko-KR" sz="1200" b="1" i="0" dirty="0"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  <a:t>(</a:t>
                      </a:r>
                      <a:r>
                        <a:rPr lang="en" sz="1200" b="1" i="0" dirty="0"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  <a:t>QA/QC)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Tx/>
                        <a:buChar char="-"/>
                      </a:pPr>
                      <a:r>
                        <a:rPr lang="ko-KR" altLang="en-US" sz="1200" b="1" i="0" dirty="0"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  <a:t>활동자료</a:t>
                      </a:r>
                      <a:r>
                        <a:rPr lang="en-US" altLang="ko-KR" sz="1200" b="1" i="0" dirty="0"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  <a:t>·</a:t>
                      </a:r>
                      <a:r>
                        <a:rPr lang="ko-KR" altLang="en-US" sz="1200" b="1" i="0" dirty="0"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  <a:t>배출계수 검증</a:t>
                      </a:r>
                      <a:endParaRPr lang="en-US" altLang="ko-KR" sz="1200" b="1" i="0" dirty="0">
                        <a:latin typeface="Malgun Gothic" panose="020B0503020000020004" pitchFamily="34" charset="-127"/>
                        <a:ea typeface="Malgun Gothic" panose="020B0503020000020004" pitchFamily="34" charset="-127"/>
                      </a:endParaRP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ko-KR" altLang="en-US" sz="1200" b="1" i="0" dirty="0"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  <a:t>단위</a:t>
                      </a:r>
                      <a:r>
                        <a:rPr lang="en-US" altLang="ko-KR" sz="1200" b="1" i="0" dirty="0"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  <a:t>·</a:t>
                      </a:r>
                      <a:r>
                        <a:rPr lang="ko-KR" altLang="en-US" sz="1200" b="1" i="0" dirty="0" err="1"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  <a:t>산정식</a:t>
                      </a:r>
                      <a:r>
                        <a:rPr lang="ko-KR" altLang="en-US" sz="1200" b="1" i="0" dirty="0"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  <a:t> 오류 점검</a:t>
                      </a:r>
                      <a:endParaRPr lang="en-US" altLang="ko-KR" sz="1200" b="1" i="0" dirty="0">
                        <a:latin typeface="Malgun Gothic" panose="020B0503020000020004" pitchFamily="34" charset="-127"/>
                        <a:ea typeface="Malgun Gothic" panose="020B0503020000020004" pitchFamily="34" charset="-127"/>
                      </a:endParaRP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ko-KR" altLang="en-US" sz="1200" b="1" i="0" dirty="0"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  <a:t>내부</a:t>
                      </a:r>
                      <a:r>
                        <a:rPr lang="en-US" altLang="ko-KR" sz="1200" b="1" i="0" dirty="0"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  <a:t>/</a:t>
                      </a:r>
                      <a:r>
                        <a:rPr lang="ko-KR" altLang="en-US" sz="1200" b="1" i="0" dirty="0"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  <a:t>외부 전문가 검토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en" sz="1400" b="1" i="0" dirty="0"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  <a:t>Emissions </a:t>
                      </a:r>
                      <a:r>
                        <a:rPr lang="ko-KR" altLang="en-US" sz="1400" b="1" i="0" dirty="0"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  <a:t>변수와 실제 배출통계 비교</a:t>
                      </a:r>
                      <a:endParaRPr lang="en-US" altLang="ko-KR" sz="1400" b="1" i="0" dirty="0">
                        <a:latin typeface="Malgun Gothic" panose="020B0503020000020004" pitchFamily="34" charset="-127"/>
                        <a:ea typeface="Malgun Gothic" panose="020B0503020000020004" pitchFamily="34" charset="-127"/>
                      </a:endParaRPr>
                    </a:p>
                    <a:p>
                      <a:pPr marL="285750" marR="0" lvl="0" indent="-2857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en" sz="1400" b="1" i="0" dirty="0"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  <a:t>QC </a:t>
                      </a:r>
                      <a:r>
                        <a:rPr lang="ko-KR" altLang="en-US" sz="1400" b="1" i="0" dirty="0"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  <a:t>체크리스트 작성</a:t>
                      </a:r>
                      <a:endParaRPr lang="en-US" altLang="ko-KR" sz="1400" b="1" i="0" dirty="0">
                        <a:latin typeface="Malgun Gothic" panose="020B0503020000020004" pitchFamily="34" charset="-127"/>
                        <a:ea typeface="Malgun Gothic" panose="020B0503020000020004" pitchFamily="34" charset="-127"/>
                      </a:endParaRPr>
                    </a:p>
                    <a:p>
                      <a:pPr marL="285750" marR="0" lvl="0" indent="-2857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en-US" altLang="ko-KR" sz="1200" b="1" i="0" dirty="0"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  <a:t>(EX) </a:t>
                      </a:r>
                      <a:r>
                        <a:rPr lang="en" altLang="ko-KR" sz="1200" dirty="0"/>
                        <a:t>CO2 (</a:t>
                      </a:r>
                      <a:r>
                        <a:rPr lang="ko-KR" altLang="en-US" sz="1200" dirty="0"/>
                        <a:t>전체 및 부문별</a:t>
                      </a:r>
                      <a:r>
                        <a:rPr lang="en-US" altLang="ko-KR" sz="1200" dirty="0"/>
                        <a:t>)</a:t>
                      </a:r>
                      <a:r>
                        <a:rPr lang="ko-KR" altLang="en-US" sz="1200" dirty="0"/>
                        <a:t>와 국가 인벤토리 수치</a:t>
                      </a:r>
                      <a:r>
                        <a:rPr lang="en-US" altLang="ko-KR" sz="1200" dirty="0"/>
                        <a:t>(2019–2020) </a:t>
                      </a:r>
                      <a:r>
                        <a:rPr lang="ko-KR" altLang="en-US" sz="1200" dirty="0"/>
                        <a:t>직접 비교</a:t>
                      </a:r>
                      <a:endParaRPr lang="en-US" altLang="ko-KR" sz="1200" dirty="0"/>
                    </a:p>
                    <a:p>
                      <a:pPr marL="285750" marR="0" lvl="0" indent="-2857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1200" dirty="0"/>
                        <a:t>단위</a:t>
                      </a:r>
                      <a:r>
                        <a:rPr lang="en-US" altLang="ko-KR" sz="1200" dirty="0"/>
                        <a:t> </a:t>
                      </a:r>
                      <a:r>
                        <a:rPr lang="ko-KR" altLang="en-US" sz="1200" dirty="0"/>
                        <a:t>환산 후 오차율 계산</a:t>
                      </a:r>
                      <a:endParaRPr lang="en-US" altLang="ko-KR" sz="1200" dirty="0"/>
                    </a:p>
                    <a:p>
                      <a:pPr marL="285750" marR="0" lvl="0" indent="-2857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en" altLang="ko-KR" sz="1200" dirty="0"/>
                        <a:t>GDP </a:t>
                      </a:r>
                      <a:r>
                        <a:rPr lang="ko-KR" altLang="en-US" sz="1200" dirty="0"/>
                        <a:t>대비 배출량</a:t>
                      </a:r>
                      <a:r>
                        <a:rPr lang="en-US" altLang="ko-KR" sz="1200" dirty="0"/>
                        <a:t>(</a:t>
                      </a:r>
                      <a:r>
                        <a:rPr lang="en" altLang="ko-KR" sz="1200" dirty="0"/>
                        <a:t>GHG intensity) </a:t>
                      </a:r>
                      <a:r>
                        <a:rPr lang="ko-KR" altLang="en-US" sz="1200" dirty="0"/>
                        <a:t>계산</a:t>
                      </a:r>
                      <a:endParaRPr lang="en-US" altLang="ko-KR" sz="1200" dirty="0"/>
                    </a:p>
                    <a:p>
                      <a:pPr marL="285750" marR="0" lvl="0" indent="-2857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1200" dirty="0"/>
                        <a:t>계산식</a:t>
                      </a:r>
                      <a:r>
                        <a:rPr lang="en-US" altLang="ko-KR" sz="1200" dirty="0"/>
                        <a:t>, </a:t>
                      </a:r>
                      <a:r>
                        <a:rPr lang="ko-KR" altLang="en-US" sz="1200" dirty="0"/>
                        <a:t>단위</a:t>
                      </a:r>
                      <a:r>
                        <a:rPr lang="en-US" altLang="ko-KR" sz="1200" dirty="0"/>
                        <a:t>, </a:t>
                      </a:r>
                      <a:r>
                        <a:rPr lang="ko-KR" altLang="en-US" sz="1200" dirty="0"/>
                        <a:t>부호</a:t>
                      </a:r>
                      <a:r>
                        <a:rPr lang="en-US" altLang="ko-KR" sz="1200" dirty="0"/>
                        <a:t>(±) </a:t>
                      </a:r>
                      <a:r>
                        <a:rPr lang="ko-KR" altLang="en-US" sz="1200" dirty="0"/>
                        <a:t>오류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24914227"/>
                  </a:ext>
                </a:extLst>
              </a:tr>
              <a:tr h="87433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200" b="1" i="0"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  <a:t>② Britz &amp; Roson (2019, G-RDEM)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200" b="1" i="0" dirty="0"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  <a:t>내적 정합성 </a:t>
                      </a:r>
                      <a:endParaRPr lang="en-US" altLang="ko-KR" sz="1200" b="1" i="0" dirty="0">
                        <a:latin typeface="Malgun Gothic" panose="020B0503020000020004" pitchFamily="34" charset="-127"/>
                        <a:ea typeface="Malgun Gothic" panose="020B0503020000020004" pitchFamily="34" charset="-127"/>
                      </a:endParaRPr>
                    </a:p>
                    <a:p>
                      <a:pPr>
                        <a:buNone/>
                      </a:pPr>
                      <a:r>
                        <a:rPr lang="en-US" altLang="ko-KR" sz="1200" b="1" i="0" dirty="0"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  <a:t>(</a:t>
                      </a:r>
                      <a:r>
                        <a:rPr lang="ko-KR" altLang="en-US" sz="1200" b="1" i="0" dirty="0"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  <a:t>구조 기반</a:t>
                      </a:r>
                      <a:r>
                        <a:rPr lang="en-US" altLang="ko-KR" sz="1200" b="1" i="0" dirty="0"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  <a:t>)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Tx/>
                        <a:buChar char="-"/>
                      </a:pPr>
                      <a:r>
                        <a:rPr lang="ko-KR" altLang="en-US" sz="1200" b="1" i="0" dirty="0"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  <a:t>산업구조 변화</a:t>
                      </a:r>
                      <a:endParaRPr lang="en-US" altLang="ko-KR" sz="1200" b="1" i="0" dirty="0">
                        <a:latin typeface="Malgun Gothic" panose="020B0503020000020004" pitchFamily="34" charset="-127"/>
                        <a:ea typeface="Malgun Gothic" panose="020B0503020000020004" pitchFamily="34" charset="-127"/>
                      </a:endParaRP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ko-KR" altLang="en-US" sz="1200" b="1" i="0" dirty="0"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  <a:t>소비패턴 변화</a:t>
                      </a:r>
                      <a:endParaRPr lang="en-US" altLang="ko-KR" sz="1200" b="1" i="0" dirty="0">
                        <a:latin typeface="Malgun Gothic" panose="020B0503020000020004" pitchFamily="34" charset="-127"/>
                        <a:ea typeface="Malgun Gothic" panose="020B0503020000020004" pitchFamily="34" charset="-127"/>
                      </a:endParaRP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ko-KR" altLang="en-US" sz="1200" b="1" i="0" dirty="0"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  <a:t>저축률</a:t>
                      </a:r>
                      <a:r>
                        <a:rPr lang="en-US" altLang="ko-KR" sz="1200" b="1" i="0" dirty="0"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  <a:t>/</a:t>
                      </a:r>
                      <a:r>
                        <a:rPr lang="ko-KR" altLang="en-US" sz="1200" b="1" i="0" dirty="0"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  <a:t>생산성 경로</a:t>
                      </a:r>
                      <a:endParaRPr lang="en-US" altLang="ko-KR" sz="1200" b="1" i="0" dirty="0">
                        <a:latin typeface="Malgun Gothic" panose="020B0503020000020004" pitchFamily="34" charset="-127"/>
                        <a:ea typeface="Malgun Gothic" panose="020B0503020000020004" pitchFamily="34" charset="-127"/>
                      </a:endParaRP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en" sz="1200" b="1" i="0" dirty="0"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  <a:t>I-O </a:t>
                      </a:r>
                      <a:r>
                        <a:rPr lang="ko-KR" altLang="en-US" sz="1200" b="1" i="0" dirty="0"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  <a:t>구조 변화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Tx/>
                        <a:buChar char="-"/>
                      </a:pPr>
                      <a:r>
                        <a:rPr lang="en-US" sz="1400" b="1" i="0" dirty="0"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  <a:t>Value added</a:t>
                      </a:r>
                      <a:r>
                        <a:rPr lang="en" sz="1400" b="1" i="0" dirty="0"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  <a:t> </a:t>
                      </a:r>
                      <a:r>
                        <a:rPr lang="ko-KR" altLang="en-US" sz="1400" b="1" i="0" dirty="0"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  <a:t>비중 시계열 분석</a:t>
                      </a:r>
                      <a:endParaRPr lang="en-US" altLang="ko-KR" sz="1400" b="1" i="0" dirty="0">
                        <a:latin typeface="Malgun Gothic" panose="020B0503020000020004" pitchFamily="34" charset="-127"/>
                        <a:ea typeface="Malgun Gothic" panose="020B0503020000020004" pitchFamily="34" charset="-127"/>
                      </a:endParaRPr>
                    </a:p>
                    <a:p>
                      <a:pPr marL="285750" marR="0" lvl="0" indent="-2857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en" altLang="ko-KR" sz="1200" b="1" dirty="0"/>
                        <a:t>(EX) </a:t>
                      </a:r>
                      <a:r>
                        <a:rPr lang="en" altLang="ko-KR" sz="1200" dirty="0"/>
                        <a:t>Agriculture, Industry, Services → GDP </a:t>
                      </a:r>
                      <a:r>
                        <a:rPr lang="ko-KR" altLang="en-US" sz="1200" dirty="0"/>
                        <a:t>대비 비중 시계열화 </a:t>
                      </a:r>
                      <a:r>
                        <a:rPr lang="en-US" altLang="ko-KR" sz="1200" dirty="0"/>
                        <a:t>(2019~2050)</a:t>
                      </a:r>
                    </a:p>
                    <a:p>
                      <a:pPr marL="285750" marR="0" lvl="0" indent="-2857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1200" dirty="0"/>
                        <a:t>소비</a:t>
                      </a:r>
                      <a:r>
                        <a:rPr lang="en-US" altLang="ko-KR" sz="1200" dirty="0"/>
                        <a:t>·</a:t>
                      </a:r>
                      <a:r>
                        <a:rPr lang="ko-KR" altLang="en-US" sz="1200" dirty="0"/>
                        <a:t>저축 구조 변화 여부 점검 </a:t>
                      </a:r>
                      <a:r>
                        <a:rPr lang="en-US" altLang="ko-KR" sz="1200" dirty="0"/>
                        <a:t>(</a:t>
                      </a:r>
                      <a:r>
                        <a:rPr lang="ko-KR" altLang="en-US" sz="1200" dirty="0"/>
                        <a:t>소득 증가 → 서비스 소비 비중↑</a:t>
                      </a:r>
                      <a:r>
                        <a:rPr lang="en-US" altLang="ko-KR" sz="1200" dirty="0"/>
                        <a:t>)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31178397"/>
                  </a:ext>
                </a:extLst>
              </a:tr>
              <a:tr h="87813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200" b="1" i="0" dirty="0"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  <a:t>③ Dixon &amp; Rimmer (2009)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200" b="1" i="0" dirty="0"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  <a:t>외적 정합성 </a:t>
                      </a:r>
                      <a:endParaRPr lang="en-US" altLang="ko-KR" sz="1200" b="1" i="0" dirty="0">
                        <a:latin typeface="Malgun Gothic" panose="020B0503020000020004" pitchFamily="34" charset="-127"/>
                        <a:ea typeface="Malgun Gothic" panose="020B0503020000020004" pitchFamily="34" charset="-127"/>
                      </a:endParaRPr>
                    </a:p>
                    <a:p>
                      <a:pPr>
                        <a:buNone/>
                      </a:pPr>
                      <a:r>
                        <a:rPr lang="en-US" altLang="ko-KR" sz="1200" b="1" i="0" dirty="0"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  <a:t>(</a:t>
                      </a:r>
                      <a:r>
                        <a:rPr lang="ko-KR" altLang="en-US" sz="1200" b="1" i="0" dirty="0"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  <a:t>실측 비교</a:t>
                      </a:r>
                      <a:r>
                        <a:rPr lang="en-US" altLang="ko-KR" sz="1200" b="1" i="0" dirty="0"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  <a:t>)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Tx/>
                        <a:buChar char="-"/>
                      </a:pPr>
                      <a:r>
                        <a:rPr lang="ko-KR" altLang="en-US" sz="1200" b="1" i="0" dirty="0"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  <a:t>순수 예측 </a:t>
                      </a:r>
                      <a:r>
                        <a:rPr lang="en" sz="1200" b="1" i="0" dirty="0"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  <a:t>vs. </a:t>
                      </a:r>
                      <a:r>
                        <a:rPr lang="ko-KR" altLang="en-US" sz="1200" b="1" i="0" dirty="0"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  <a:t>통계 비교</a:t>
                      </a:r>
                      <a:endParaRPr lang="en-US" altLang="ko-KR" sz="1200" b="1" i="0" dirty="0">
                        <a:latin typeface="Malgun Gothic" panose="020B0503020000020004" pitchFamily="34" charset="-127"/>
                        <a:ea typeface="Malgun Gothic" panose="020B0503020000020004" pitchFamily="34" charset="-127"/>
                      </a:endParaRP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en" sz="1200" b="1" i="0" dirty="0"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  <a:t>AE / M </a:t>
                      </a:r>
                      <a:r>
                        <a:rPr lang="ko-KR" altLang="en-US" sz="1200" b="1" i="0" dirty="0"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  <a:t>지표 계산</a:t>
                      </a:r>
                      <a:endParaRPr lang="en-US" altLang="ko-KR" sz="1200" b="1" i="0" dirty="0">
                        <a:latin typeface="Malgun Gothic" panose="020B0503020000020004" pitchFamily="34" charset="-127"/>
                        <a:ea typeface="Malgun Gothic" panose="020B0503020000020004" pitchFamily="34" charset="-127"/>
                      </a:endParaRP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ko-KR" altLang="en-US" sz="1200" b="1" i="0" dirty="0"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  <a:t>변수별 오차 추적 </a:t>
                      </a:r>
                      <a:endParaRPr lang="en-US" altLang="ko-KR" sz="1200" b="1" i="0" dirty="0">
                        <a:latin typeface="Malgun Gothic" panose="020B0503020000020004" pitchFamily="34" charset="-127"/>
                        <a:ea typeface="Malgun Gothic" panose="020B0503020000020004" pitchFamily="34" charset="-127"/>
                      </a:endParaRP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Tx/>
                        <a:buChar char="-"/>
                      </a:pPr>
                      <a:r>
                        <a:rPr lang="en" altLang="ko-KR" sz="1400" b="1" i="0" dirty="0"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  <a:t>GDP, Population, VA </a:t>
                      </a:r>
                      <a:r>
                        <a:rPr lang="ko-KR" altLang="en-US" sz="1400" b="1" i="0" dirty="0"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  <a:t>등 주요 변수에 대해 </a:t>
                      </a:r>
                      <a:r>
                        <a:rPr lang="en-US" altLang="ko-KR" sz="1400" b="1" i="0" dirty="0"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  <a:t>2019–2020 </a:t>
                      </a:r>
                      <a:r>
                        <a:rPr lang="ko-KR" altLang="en-US" sz="1400" b="1" i="0" dirty="0"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  <a:t>실제 통계와 오차율</a:t>
                      </a:r>
                      <a:r>
                        <a:rPr lang="en-US" altLang="ko-KR" sz="1400" b="1" i="0" dirty="0"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  <a:t>(%) </a:t>
                      </a:r>
                      <a:r>
                        <a:rPr lang="ko-KR" altLang="en-US" sz="1400" b="1" i="0" dirty="0"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  <a:t>계산</a:t>
                      </a:r>
                      <a:endParaRPr lang="en-US" altLang="ko-KR" sz="1400" b="1" i="0" dirty="0">
                        <a:latin typeface="Malgun Gothic" panose="020B0503020000020004" pitchFamily="34" charset="-127"/>
                        <a:ea typeface="Malgun Gothic" panose="020B0503020000020004" pitchFamily="34" charset="-127"/>
                      </a:endParaRP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en-US" altLang="ko-KR" sz="1200" b="0" i="0" dirty="0"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  <a:t>(EX) </a:t>
                      </a:r>
                      <a:r>
                        <a:rPr lang="ko-KR" altLang="en-US" sz="1200" b="0" i="0" dirty="0"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  <a:t>과거 추세 </a:t>
                      </a:r>
                      <a:r>
                        <a:rPr lang="ko-KR" altLang="en-US" sz="1200" b="0" i="0" dirty="0" err="1"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  <a:t>외삽</a:t>
                      </a:r>
                      <a:r>
                        <a:rPr lang="en-US" altLang="ko-KR" sz="1200" b="0" i="0" dirty="0"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  <a:t>(2010~2018 </a:t>
                      </a:r>
                      <a:r>
                        <a:rPr lang="ko-KR" altLang="en-US" sz="1200" b="0" i="0" dirty="0"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  <a:t>평균</a:t>
                      </a:r>
                      <a:r>
                        <a:rPr lang="en-US" altLang="ko-KR" sz="1200" b="0" i="0" dirty="0"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  <a:t>)</a:t>
                      </a:r>
                      <a:r>
                        <a:rPr lang="ko-KR" altLang="en-US" sz="1200" b="0" i="0" dirty="0"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  <a:t>과 모델 예측치 비교 → </a:t>
                      </a:r>
                      <a:r>
                        <a:rPr lang="en" altLang="ko-KR" sz="1200" b="0" i="0" dirty="0"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  <a:t>M </a:t>
                      </a:r>
                      <a:r>
                        <a:rPr lang="ko-KR" altLang="en-US" sz="1200" b="0" i="0" dirty="0"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  <a:t>계산</a:t>
                      </a:r>
                      <a:endParaRPr lang="en-US" altLang="ko-KR" sz="1200" b="0" i="0" dirty="0">
                        <a:latin typeface="Malgun Gothic" panose="020B0503020000020004" pitchFamily="34" charset="-127"/>
                        <a:ea typeface="Malgun Gothic" panose="020B0503020000020004" pitchFamily="34" charset="-127"/>
                      </a:endParaRP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ko-KR" altLang="en-US" sz="1200" b="0" i="0" dirty="0"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  <a:t>외생 변수</a:t>
                      </a:r>
                      <a:r>
                        <a:rPr lang="en-US" altLang="ko-KR" sz="1200" b="0" i="0" dirty="0"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  <a:t>(</a:t>
                      </a:r>
                      <a:r>
                        <a:rPr lang="ko-KR" altLang="en-US" sz="1200" b="0" i="0" dirty="0"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  <a:t>예</a:t>
                      </a:r>
                      <a:r>
                        <a:rPr lang="en-US" altLang="ko-KR" sz="1200" b="0" i="0" dirty="0"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  <a:t>: </a:t>
                      </a:r>
                      <a:r>
                        <a:rPr lang="ko-KR" altLang="en-US" sz="1200" b="0" i="0" dirty="0"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  <a:t>인구</a:t>
                      </a:r>
                      <a:r>
                        <a:rPr lang="en-US" altLang="ko-KR" sz="1200" b="0" i="0" dirty="0"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  <a:t>, </a:t>
                      </a:r>
                      <a:r>
                        <a:rPr lang="en" altLang="ko-KR" sz="1200" b="0" i="0" dirty="0"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  <a:t>TFP)</a:t>
                      </a:r>
                      <a:r>
                        <a:rPr lang="ko-KR" altLang="en-US" sz="1200" b="0" i="0" dirty="0" err="1"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  <a:t>를</a:t>
                      </a:r>
                      <a:r>
                        <a:rPr lang="ko-KR" altLang="en-US" sz="1200" b="0" i="0" dirty="0"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  <a:t> </a:t>
                      </a:r>
                      <a:r>
                        <a:rPr lang="ko-KR" altLang="en-US" sz="1200" b="0" i="0" dirty="0" err="1"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  <a:t>실제값으로</a:t>
                      </a:r>
                      <a:r>
                        <a:rPr lang="ko-KR" altLang="en-US" sz="1200" b="0" i="0" dirty="0">
                          <a:latin typeface="Malgun Gothic" panose="020B0503020000020004" pitchFamily="34" charset="-127"/>
                          <a:ea typeface="Malgun Gothic" panose="020B0503020000020004" pitchFamily="34" charset="-127"/>
                        </a:rPr>
                        <a:t> 교체하여 결과 민감도 확인</a:t>
                      </a:r>
                      <a:endParaRPr lang="en-US" altLang="ko-KR" sz="1200" b="0" i="0" dirty="0">
                        <a:latin typeface="Malgun Gothic" panose="020B0503020000020004" pitchFamily="34" charset="-127"/>
                        <a:ea typeface="Malgun Gothic" panose="020B0503020000020004" pitchFamily="34" charset="-127"/>
                      </a:endParaRP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74459511"/>
                  </a:ext>
                </a:extLst>
              </a:tr>
            </a:tbl>
          </a:graphicData>
        </a:graphic>
      </p:graphicFrame>
      <p:sp>
        <p:nvSpPr>
          <p:cNvPr id="18" name="직사각형 17">
            <a:extLst>
              <a:ext uri="{FF2B5EF4-FFF2-40B4-BE49-F238E27FC236}">
                <a16:creationId xmlns:a16="http://schemas.microsoft.com/office/drawing/2014/main" id="{B311ACE6-D3D1-EF96-24A2-2A69B89856B3}"/>
              </a:ext>
            </a:extLst>
          </p:cNvPr>
          <p:cNvSpPr/>
          <p:nvPr/>
        </p:nvSpPr>
        <p:spPr>
          <a:xfrm>
            <a:off x="296782" y="4349579"/>
            <a:ext cx="11777082" cy="876466"/>
          </a:xfrm>
          <a:prstGeom prst="rect">
            <a:avLst/>
          </a:prstGeom>
          <a:noFill/>
          <a:ln w="28575" cap="flat" cmpd="sng" algn="ctr">
            <a:solidFill>
              <a:srgbClr val="C0000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7EAE410B-6852-98A7-4DB3-CA370AE9B6CA}"/>
              </a:ext>
            </a:extLst>
          </p:cNvPr>
          <p:cNvSpPr/>
          <p:nvPr/>
        </p:nvSpPr>
        <p:spPr>
          <a:xfrm>
            <a:off x="4425844" y="4641768"/>
            <a:ext cx="2174982" cy="115614"/>
          </a:xfrm>
          <a:prstGeom prst="rect">
            <a:avLst/>
          </a:prstGeom>
          <a:solidFill>
            <a:srgbClr val="FFFF00">
              <a:alpha val="50000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FA670585-0AED-8A4C-585F-EEDCC836EC9A}"/>
              </a:ext>
            </a:extLst>
          </p:cNvPr>
          <p:cNvSpPr/>
          <p:nvPr/>
        </p:nvSpPr>
        <p:spPr>
          <a:xfrm>
            <a:off x="4425844" y="4848186"/>
            <a:ext cx="2174982" cy="115614"/>
          </a:xfrm>
          <a:prstGeom prst="rect">
            <a:avLst/>
          </a:prstGeom>
          <a:solidFill>
            <a:srgbClr val="FFFF00">
              <a:alpha val="50000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0351029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C0C762-A1B2-8D46-AB24-374A697997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그룹 7">
            <a:extLst>
              <a:ext uri="{FF2B5EF4-FFF2-40B4-BE49-F238E27FC236}">
                <a16:creationId xmlns:a16="http://schemas.microsoft.com/office/drawing/2014/main" id="{D89970C2-8549-CC0C-F0A6-6250FD23D7E5}"/>
              </a:ext>
            </a:extLst>
          </p:cNvPr>
          <p:cNvGrpSpPr/>
          <p:nvPr/>
        </p:nvGrpSpPr>
        <p:grpSpPr>
          <a:xfrm>
            <a:off x="280800" y="491352"/>
            <a:ext cx="8089700" cy="977190"/>
            <a:chOff x="278836" y="391603"/>
            <a:chExt cx="8089700" cy="977190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CC384CC7-E64C-C95E-456B-6078A7FE0FA0}"/>
                </a:ext>
              </a:extLst>
            </p:cNvPr>
            <p:cNvSpPr txBox="1"/>
            <p:nvPr/>
          </p:nvSpPr>
          <p:spPr>
            <a:xfrm>
              <a:off x="278836" y="391603"/>
              <a:ext cx="700513" cy="5693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3100" b="1" spc="-13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2">
                      <a:lumMod val="50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01.</a:t>
              </a:r>
              <a:endParaRPr lang="ko-KR" altLang="en-US" sz="3100" b="1" spc="-13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2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8F8319A7-FCFF-3508-7D20-BB4A21784940}"/>
                </a:ext>
              </a:extLst>
            </p:cNvPr>
            <p:cNvSpPr txBox="1"/>
            <p:nvPr/>
          </p:nvSpPr>
          <p:spPr>
            <a:xfrm>
              <a:off x="908667" y="414686"/>
              <a:ext cx="7459869" cy="954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2800" b="1" spc="-150" dirty="0">
                  <a:latin typeface="+mn-ea"/>
                </a:rPr>
                <a:t>AQ Linkage</a:t>
              </a:r>
              <a:r>
                <a:rPr lang="ko-KR" altLang="en-US" sz="2800" b="1" spc="-150" dirty="0">
                  <a:latin typeface="+mn-ea"/>
                </a:rPr>
                <a:t> 결과 검증</a:t>
              </a:r>
              <a:endParaRPr lang="en-US" altLang="ko-KR" sz="2800" b="1" spc="-150" dirty="0">
                <a:latin typeface="+mn-ea"/>
              </a:endParaRPr>
            </a:p>
            <a:p>
              <a:endParaRPr lang="en-US" altLang="ko-KR" sz="2800" b="1" spc="-1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01428BB1-AE5D-A350-5A4C-AA82C1773E33}"/>
              </a:ext>
            </a:extLst>
          </p:cNvPr>
          <p:cNvGrpSpPr/>
          <p:nvPr/>
        </p:nvGrpSpPr>
        <p:grpSpPr>
          <a:xfrm>
            <a:off x="414000" y="1149913"/>
            <a:ext cx="140400" cy="313200"/>
            <a:chOff x="3767328" y="1146994"/>
            <a:chExt cx="1609344" cy="1334252"/>
          </a:xfrm>
        </p:grpSpPr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3C8A441F-9C90-29D6-EC02-4ADEEE9E03A1}"/>
                </a:ext>
              </a:extLst>
            </p:cNvPr>
            <p:cNvSpPr/>
            <p:nvPr/>
          </p:nvSpPr>
          <p:spPr>
            <a:xfrm>
              <a:off x="3767328" y="1146994"/>
              <a:ext cx="1609344" cy="1334252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" name="직사각형 27">
              <a:extLst>
                <a:ext uri="{FF2B5EF4-FFF2-40B4-BE49-F238E27FC236}">
                  <a16:creationId xmlns:a16="http://schemas.microsoft.com/office/drawing/2014/main" id="{79D2F772-45C3-CB94-3A2B-1C07619D2467}"/>
                </a:ext>
              </a:extLst>
            </p:cNvPr>
            <p:cNvSpPr/>
            <p:nvPr/>
          </p:nvSpPr>
          <p:spPr>
            <a:xfrm>
              <a:off x="3767328" y="1146994"/>
              <a:ext cx="927337" cy="1334252"/>
            </a:xfrm>
            <a:custGeom>
              <a:avLst/>
              <a:gdLst/>
              <a:ahLst/>
              <a:cxnLst/>
              <a:rect l="l" t="t" r="r" b="b"/>
              <a:pathLst>
                <a:path w="927337" h="1334252">
                  <a:moveTo>
                    <a:pt x="0" y="0"/>
                  </a:moveTo>
                  <a:lnTo>
                    <a:pt x="927337" y="0"/>
                  </a:lnTo>
                  <a:lnTo>
                    <a:pt x="269673" y="1334252"/>
                  </a:lnTo>
                  <a:lnTo>
                    <a:pt x="0" y="1334252"/>
                  </a:lnTo>
                  <a:close/>
                </a:path>
              </a:pathLst>
            </a:custGeom>
            <a:solidFill>
              <a:schemeClr val="bg1">
                <a:alpha val="12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090F9F0E-0C64-FB8E-87AC-903455EB88EA}"/>
              </a:ext>
            </a:extLst>
          </p:cNvPr>
          <p:cNvGrpSpPr/>
          <p:nvPr/>
        </p:nvGrpSpPr>
        <p:grpSpPr>
          <a:xfrm>
            <a:off x="362396" y="1610462"/>
            <a:ext cx="11612900" cy="2462213"/>
            <a:chOff x="456760" y="810085"/>
            <a:chExt cx="12180538" cy="2576746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7" name="직사각형 16">
                  <a:extLst>
                    <a:ext uri="{FF2B5EF4-FFF2-40B4-BE49-F238E27FC236}">
                      <a16:creationId xmlns:a16="http://schemas.microsoft.com/office/drawing/2014/main" id="{2B8624F9-92E3-D42E-510D-B54D192D72D8}"/>
                    </a:ext>
                  </a:extLst>
                </p:cNvPr>
                <p:cNvSpPr/>
                <p:nvPr/>
              </p:nvSpPr>
              <p:spPr>
                <a:xfrm>
                  <a:off x="456760" y="810085"/>
                  <a:ext cx="12180538" cy="2576746"/>
                </a:xfrm>
                <a:prstGeom prst="rect">
                  <a:avLst/>
                </a:prstGeom>
              </p:spPr>
              <p:txBody>
                <a:bodyPr wrap="square" anchor="ctr" anchorCtr="0">
                  <a:spAutoFit/>
                </a:bodyPr>
                <a:lstStyle/>
                <a:p>
                  <a:pPr marR="0" lvl="0" algn="l" defTabSz="914400" rtl="0" eaLnBrk="1" fontAlgn="auto" latinLnBrk="1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tabLst/>
                    <a:defRPr/>
                  </a:pPr>
                  <a:r>
                    <a:rPr lang="en" altLang="ko-KR" sz="1400" b="1" i="1" kern="0" spc="-150" dirty="0">
                      <a:ln>
                        <a:solidFill>
                          <a:srgbClr val="4472C4">
                            <a:alpha val="0"/>
                          </a:srgbClr>
                        </a:solidFill>
                      </a:ln>
                      <a:solidFill>
                        <a:prstClr val="black"/>
                      </a:solidFill>
                      <a:latin typeface="Malgun Gothic" panose="020B0503020000020004" pitchFamily="34" charset="-127"/>
                      <a:ea typeface="Malgun Gothic" panose="020B0503020000020004" pitchFamily="34" charset="-127"/>
                    </a:rPr>
                    <a:t>Britz &amp; </a:t>
                  </a:r>
                  <a:r>
                    <a:rPr lang="en" altLang="ko-KR" sz="1400" b="1" i="1" kern="0" spc="-150" dirty="0" err="1">
                      <a:ln>
                        <a:solidFill>
                          <a:srgbClr val="4472C4">
                            <a:alpha val="0"/>
                          </a:srgbClr>
                        </a:solidFill>
                      </a:ln>
                      <a:solidFill>
                        <a:prstClr val="black"/>
                      </a:solidFill>
                      <a:latin typeface="Malgun Gothic" panose="020B0503020000020004" pitchFamily="34" charset="-127"/>
                      <a:ea typeface="Malgun Gothic" panose="020B0503020000020004" pitchFamily="34" charset="-127"/>
                    </a:rPr>
                    <a:t>Roson</a:t>
                  </a:r>
                  <a:r>
                    <a:rPr lang="en" altLang="ko-KR" sz="1400" b="1" i="1" kern="0" spc="-150" dirty="0">
                      <a:ln>
                        <a:solidFill>
                          <a:srgbClr val="4472C4">
                            <a:alpha val="0"/>
                          </a:srgbClr>
                        </a:solidFill>
                      </a:ln>
                      <a:solidFill>
                        <a:prstClr val="black"/>
                      </a:solidFill>
                      <a:latin typeface="Malgun Gothic" panose="020B0503020000020004" pitchFamily="34" charset="-127"/>
                      <a:ea typeface="Malgun Gothic" panose="020B0503020000020004" pitchFamily="34" charset="-127"/>
                    </a:rPr>
                    <a:t> (2019), “G-RDEM: A GTAP-Based Recursive Dynamic CGE Model for Long-Term Baseline Generation and Analysis”</a:t>
                  </a:r>
                  <a:endParaRPr lang="en-US" altLang="ko-KR" sz="1400" kern="0" spc="-150" dirty="0">
                    <a:ln>
                      <a:solidFill>
                        <a:srgbClr val="4472C4">
                          <a:alpha val="0"/>
                        </a:srgbClr>
                      </a:solidFill>
                    </a:ln>
                    <a:latin typeface="Malgun Gothic" panose="020B0503020000020004" pitchFamily="34" charset="-127"/>
                    <a:ea typeface="Malgun Gothic" panose="020B0503020000020004" pitchFamily="34" charset="-127"/>
                  </a:endParaRPr>
                </a:p>
                <a:p>
                  <a:pPr>
                    <a:lnSpc>
                      <a:spcPct val="150000"/>
                    </a:lnSpc>
                    <a:defRPr/>
                  </a:pPr>
                  <a:endParaRPr lang="en-US" altLang="ko-KR" sz="600" b="1" kern="0" spc="-150" dirty="0">
                    <a:ln>
                      <a:solidFill>
                        <a:srgbClr val="4472C4">
                          <a:alpha val="0"/>
                        </a:srgbClr>
                      </a:solidFill>
                    </a:ln>
                    <a:latin typeface="NanumBarunGothicOTF" panose="02020603020101020101" pitchFamily="18" charset="-127"/>
                    <a:ea typeface="NanumBarunGothicOTF" panose="02020603020101020101" pitchFamily="18" charset="-127"/>
                  </a:endParaRPr>
                </a:p>
                <a:p>
                  <a:pPr>
                    <a:lnSpc>
                      <a:spcPct val="150000"/>
                    </a:lnSpc>
                    <a:defRPr/>
                  </a:pPr>
                  <a:r>
                    <a:rPr lang="en-US" altLang="ko-KR" sz="1400" b="1" kern="0" spc="-150" dirty="0">
                      <a:ln>
                        <a:solidFill>
                          <a:srgbClr val="4472C4">
                            <a:alpha val="0"/>
                          </a:srgbClr>
                        </a:solidFill>
                      </a:ln>
                      <a:ea typeface="NanumBarunGothicOTF" panose="02020603020101020101" pitchFamily="18" charset="-127"/>
                    </a:rPr>
                    <a:t>1. </a:t>
                  </a:r>
                  <a:r>
                    <a:rPr lang="ko-KR" altLang="en-US" sz="1400" b="1" kern="0" spc="-150" dirty="0">
                      <a:ln>
                        <a:solidFill>
                          <a:srgbClr val="4472C4">
                            <a:alpha val="0"/>
                          </a:srgbClr>
                        </a:solidFill>
                      </a:ln>
                      <a:ea typeface="NanumBarunGothicOTF" panose="02020603020101020101" pitchFamily="18" charset="-127"/>
                    </a:rPr>
                    <a:t>소비구조</a:t>
                  </a:r>
                  <a:endParaRPr lang="en" altLang="ko-KR" sz="1200" dirty="0">
                    <a:ea typeface="NanumBarunGothicOTF" panose="02020603020101020101" pitchFamily="18" charset="-127"/>
                  </a:endParaRPr>
                </a:p>
                <a:p>
                  <a:r>
                    <a:rPr lang="ko-KR" altLang="en-US" sz="1200" b="1" dirty="0">
                      <a:ea typeface="NanumBarunGothicOTF" panose="02020603020101020101" pitchFamily="18" charset="-127"/>
                    </a:rPr>
                    <a:t>소득수준에 따른 소비지출 변화 </a:t>
                  </a:r>
                  <a:r>
                    <a:rPr lang="en-US" altLang="ko-KR" sz="1200" b="1" dirty="0">
                      <a:ea typeface="NanumBarunGothicOTF" panose="02020603020101020101" pitchFamily="18" charset="-127"/>
                    </a:rPr>
                    <a:t>(</a:t>
                  </a:r>
                  <a:r>
                    <a:rPr lang="en" altLang="ko-KR" sz="1200" b="1" dirty="0">
                      <a:ea typeface="NanumBarunGothicOTF" panose="02020603020101020101" pitchFamily="18" charset="-127"/>
                    </a:rPr>
                    <a:t>Engel’s Law)</a:t>
                  </a:r>
                </a:p>
                <a:p>
                  <a:r>
                    <a:rPr lang="ko-KR" altLang="en-US" sz="1200" dirty="0">
                      <a:ea typeface="NanumBarunGothicOTF" panose="02020603020101020101" pitchFamily="18" charset="-127"/>
                    </a:rPr>
                    <a:t>가처분소득이 증가할수록 </a:t>
                  </a:r>
                  <a:r>
                    <a:rPr lang="ko-KR" altLang="en-US" sz="1200" b="1" dirty="0" err="1">
                      <a:ea typeface="NanumBarunGothicOTF" panose="02020603020101020101" pitchFamily="18" charset="-127"/>
                    </a:rPr>
                    <a:t>필수재</a:t>
                  </a:r>
                  <a:r>
                    <a:rPr lang="en-US" altLang="ko-KR" sz="1200" b="1" dirty="0">
                      <a:ea typeface="NanumBarunGothicOTF" panose="02020603020101020101" pitchFamily="18" charset="-127"/>
                    </a:rPr>
                    <a:t>(</a:t>
                  </a:r>
                  <a:r>
                    <a:rPr lang="ko-KR" altLang="en-US" sz="1200" b="1" dirty="0">
                      <a:ea typeface="NanumBarunGothicOTF" panose="02020603020101020101" pitchFamily="18" charset="-127"/>
                    </a:rPr>
                    <a:t>식품 등</a:t>
                  </a:r>
                  <a:r>
                    <a:rPr lang="en-US" altLang="ko-KR" sz="1200" b="1" dirty="0">
                      <a:ea typeface="NanumBarunGothicOTF" panose="02020603020101020101" pitchFamily="18" charset="-127"/>
                    </a:rPr>
                    <a:t>) </a:t>
                  </a:r>
                  <a:r>
                    <a:rPr lang="ko-KR" altLang="en-US" sz="1200" b="1" dirty="0">
                      <a:ea typeface="NanumBarunGothicOTF" panose="02020603020101020101" pitchFamily="18" charset="-127"/>
                    </a:rPr>
                    <a:t>지출의 비중은 감소</a:t>
                  </a:r>
                  <a:r>
                    <a:rPr lang="en-US" altLang="ko-KR" sz="1200" dirty="0">
                      <a:ea typeface="NanumBarunGothicOTF" panose="02020603020101020101" pitchFamily="18" charset="-127"/>
                    </a:rPr>
                    <a:t>, </a:t>
                  </a:r>
                  <a:r>
                    <a:rPr lang="ko-KR" altLang="en-US" sz="1200" dirty="0" err="1">
                      <a:ea typeface="NanumBarunGothicOTF" panose="02020603020101020101" pitchFamily="18" charset="-127"/>
                    </a:rPr>
                    <a:t>선택재</a:t>
                  </a:r>
                  <a:r>
                    <a:rPr lang="en-US" altLang="ko-KR" sz="1200" dirty="0">
                      <a:ea typeface="NanumBarunGothicOTF" panose="02020603020101020101" pitchFamily="18" charset="-127"/>
                    </a:rPr>
                    <a:t>(</a:t>
                  </a:r>
                  <a:r>
                    <a:rPr lang="ko-KR" altLang="en-US" sz="1200" dirty="0">
                      <a:ea typeface="NanumBarunGothicOTF" panose="02020603020101020101" pitchFamily="18" charset="-127"/>
                    </a:rPr>
                    <a:t>서비스</a:t>
                  </a:r>
                  <a:r>
                    <a:rPr lang="en-US" altLang="ko-KR" sz="1200" dirty="0">
                      <a:ea typeface="NanumBarunGothicOTF" panose="02020603020101020101" pitchFamily="18" charset="-127"/>
                    </a:rPr>
                    <a:t>, </a:t>
                  </a:r>
                  <a:r>
                    <a:rPr lang="ko-KR" altLang="en-US" sz="1200" dirty="0">
                      <a:ea typeface="NanumBarunGothicOTF" panose="02020603020101020101" pitchFamily="18" charset="-127"/>
                    </a:rPr>
                    <a:t>외식</a:t>
                  </a:r>
                  <a:r>
                    <a:rPr lang="en-US" altLang="ko-KR" sz="1200" dirty="0">
                      <a:ea typeface="NanumBarunGothicOTF" panose="02020603020101020101" pitchFamily="18" charset="-127"/>
                    </a:rPr>
                    <a:t>, </a:t>
                  </a:r>
                  <a:r>
                    <a:rPr lang="ko-KR" altLang="en-US" sz="1200" dirty="0">
                      <a:ea typeface="NanumBarunGothicOTF" panose="02020603020101020101" pitchFamily="18" charset="-127"/>
                    </a:rPr>
                    <a:t>문화 등</a:t>
                  </a:r>
                  <a:r>
                    <a:rPr lang="en-US" altLang="ko-KR" sz="1200" dirty="0">
                      <a:ea typeface="NanumBarunGothicOTF" panose="02020603020101020101" pitchFamily="18" charset="-127"/>
                    </a:rPr>
                    <a:t>)</a:t>
                  </a:r>
                  <a:r>
                    <a:rPr lang="ko-KR" altLang="en-US" sz="1200" dirty="0">
                      <a:ea typeface="NanumBarunGothicOTF" panose="02020603020101020101" pitchFamily="18" charset="-127"/>
                    </a:rPr>
                    <a:t>의 비중은 증가</a:t>
                  </a:r>
                  <a:r>
                    <a:rPr lang="en-US" altLang="ko-KR" sz="1200" dirty="0">
                      <a:ea typeface="NanumBarunGothicOTF" panose="02020603020101020101" pitchFamily="18" charset="-127"/>
                    </a:rPr>
                    <a:t>.</a:t>
                  </a:r>
                </a:p>
                <a:p>
                  <a:r>
                    <a:rPr lang="en-US" altLang="ko-KR" sz="1200" dirty="0">
                      <a:ea typeface="NanumBarunGothicOTF" panose="02020603020101020101" pitchFamily="18" charset="-127"/>
                      <a:sym typeface="Wingdings" pitchFamily="2" charset="2"/>
                    </a:rPr>
                    <a:t> </a:t>
                  </a:r>
                  <a:r>
                    <a:rPr lang="ko-KR" altLang="en-US" sz="1200" dirty="0">
                      <a:ea typeface="NanumBarunGothicOTF" panose="02020603020101020101" pitchFamily="18" charset="-127"/>
                    </a:rPr>
                    <a:t>이러한 비선형 반응을 반영하기 위해 </a:t>
                  </a:r>
                  <a:r>
                    <a:rPr lang="en" altLang="ko-KR" sz="1200" dirty="0">
                      <a:ea typeface="NanumBarunGothicOTF" panose="02020603020101020101" pitchFamily="18" charset="-127"/>
                    </a:rPr>
                    <a:t>G-RDEM</a:t>
                  </a:r>
                  <a:r>
                    <a:rPr lang="ko-KR" altLang="en-US" sz="1200" dirty="0">
                      <a:ea typeface="NanumBarunGothicOTF" panose="02020603020101020101" pitchFamily="18" charset="-127"/>
                    </a:rPr>
                    <a:t>은 </a:t>
                  </a:r>
                  <a:r>
                    <a:rPr lang="en" altLang="ko-KR" sz="1200" dirty="0">
                      <a:ea typeface="NanumBarunGothicOTF" panose="02020603020101020101" pitchFamily="18" charset="-127"/>
                    </a:rPr>
                    <a:t>AIDADS </a:t>
                  </a:r>
                  <a:r>
                    <a:rPr lang="ko-KR" altLang="en-US" sz="1200" dirty="0">
                      <a:ea typeface="NanumBarunGothicOTF" panose="02020603020101020101" pitchFamily="18" charset="-127"/>
                    </a:rPr>
                    <a:t>수요체계를 채택</a:t>
                  </a:r>
                  <a:r>
                    <a:rPr lang="en-US" altLang="ko-KR" sz="1200" dirty="0">
                      <a:ea typeface="NanumBarunGothicOTF" panose="02020603020101020101" pitchFamily="18" charset="-127"/>
                    </a:rPr>
                    <a:t>.</a:t>
                  </a:r>
                </a:p>
                <a:p>
                  <a:endParaRPr lang="en-US" altLang="ko-KR" sz="1200" dirty="0">
                    <a:ea typeface="NanumBarunGothicOTF" panose="02020603020101020101" pitchFamily="18" charset="-127"/>
                  </a:endParaRPr>
                </a:p>
                <a:p>
                  <a:r>
                    <a:rPr lang="en-US" altLang="ko-KR" sz="1400" b="1" dirty="0">
                      <a:latin typeface="NanumBarunGothicOTF" panose="02020603020101020101" pitchFamily="18" charset="-127"/>
                      <a:ea typeface="NanumBarunGothicOTF" panose="02020603020101020101" pitchFamily="18" charset="-127"/>
                    </a:rPr>
                    <a:t>2. </a:t>
                  </a:r>
                  <a:r>
                    <a:rPr lang="ko-KR" altLang="en-US" sz="1400" b="1" dirty="0">
                      <a:latin typeface="NanumBarunGothicOTF" panose="02020603020101020101" pitchFamily="18" charset="-127"/>
                      <a:ea typeface="NanumBarunGothicOTF" panose="02020603020101020101" pitchFamily="18" charset="-127"/>
                    </a:rPr>
                    <a:t>저축률 설정 방식</a:t>
                  </a:r>
                  <a:r>
                    <a:rPr lang="en-US" altLang="ko-KR" sz="1400" b="1" dirty="0">
                      <a:latin typeface="NanumBarunGothicOTF" panose="02020603020101020101" pitchFamily="18" charset="-127"/>
                      <a:ea typeface="NanumBarunGothicOTF" panose="02020603020101020101" pitchFamily="18" charset="-127"/>
                    </a:rPr>
                    <a:t>: </a:t>
                  </a:r>
                  <a:r>
                    <a:rPr lang="ko-KR" altLang="en-US" sz="1400" b="1" dirty="0">
                      <a:latin typeface="NanumBarunGothicOTF" panose="02020603020101020101" pitchFamily="18" charset="-127"/>
                      <a:ea typeface="NanumBarunGothicOTF" panose="02020603020101020101" pitchFamily="18" charset="-127"/>
                    </a:rPr>
                    <a:t>베이스라인 </a:t>
                  </a:r>
                  <a:r>
                    <a:rPr lang="en-US" altLang="ko-KR" sz="1400" b="1" dirty="0">
                      <a:latin typeface="NanumBarunGothicOTF" panose="02020603020101020101" pitchFamily="18" charset="-127"/>
                      <a:ea typeface="NanumBarunGothicOTF" panose="02020603020101020101" pitchFamily="18" charset="-127"/>
                    </a:rPr>
                    <a:t>+ </a:t>
                  </a:r>
                  <a:r>
                    <a:rPr lang="ko-KR" altLang="en-US" sz="1400" b="1" dirty="0">
                      <a:latin typeface="NanumBarunGothicOTF" panose="02020603020101020101" pitchFamily="18" charset="-127"/>
                      <a:ea typeface="NanumBarunGothicOTF" panose="02020603020101020101" pitchFamily="18" charset="-127"/>
                    </a:rPr>
                    <a:t>점진적 조정</a:t>
                  </a:r>
                </a:p>
                <a:p>
                  <a:endParaRPr lang="ko-KR" altLang="en-US" sz="1200" b="1" dirty="0">
                    <a:ea typeface="NanumBarunGothicOTF" panose="02020603020101020101" pitchFamily="18" charset="-127"/>
                  </a:endParaRPr>
                </a:p>
                <a:p>
                  <a:r>
                    <a:rPr lang="ko-KR" altLang="en-US" sz="1200" dirty="0"/>
                    <a:t>기준연도</a:t>
                  </a:r>
                  <a:r>
                    <a:rPr lang="en-US" altLang="ko-KR" sz="1200" dirty="0"/>
                    <a:t>(</a:t>
                  </a:r>
                  <a:r>
                    <a:rPr lang="en" altLang="ko-KR" sz="1200" dirty="0"/>
                    <a:t>GTAP base year)</a:t>
                  </a:r>
                  <a:r>
                    <a:rPr lang="ko-KR" altLang="en-US" sz="1200" dirty="0"/>
                    <a:t>의 관측된 저축률을 기본값으로 사용</a:t>
                  </a:r>
                  <a:r>
                    <a:rPr lang="en-US" altLang="ko-KR" sz="1200" dirty="0">
                      <a:ea typeface="NanumBarunGothicOTF" panose="02020603020101020101" pitchFamily="18" charset="-127"/>
                    </a:rPr>
                    <a:t>.</a:t>
                  </a:r>
                </a:p>
                <a:p>
                  <a:r>
                    <a:rPr lang="ko-KR" altLang="en-US" sz="1200" dirty="0">
                      <a:ea typeface="NanumBarunGothicOTF" panose="02020603020101020101" pitchFamily="18" charset="-127"/>
                    </a:rPr>
                    <a:t>이후</a:t>
                  </a:r>
                  <a:r>
                    <a:rPr lang="en-US" altLang="ko-KR" sz="1200" dirty="0">
                      <a:ea typeface="NanumBarunGothicOTF" panose="02020603020101020101" pitchFamily="18" charset="-127"/>
                    </a:rPr>
                    <a:t>, </a:t>
                  </a:r>
                  <a:r>
                    <a:rPr lang="ko-KR" altLang="en-US" sz="1200" b="1" dirty="0"/>
                    <a:t>저축 → 투자 → 자본축적 → 생산력 확장</a:t>
                  </a:r>
                  <a:r>
                    <a:rPr lang="ko-KR" altLang="en-US" sz="1200" dirty="0"/>
                    <a:t>의 경로</a:t>
                  </a:r>
                  <a:r>
                    <a:rPr lang="ko-KR" altLang="en-US" sz="1200" dirty="0">
                      <a:ea typeface="NanumBarunGothicOTF" panose="02020603020101020101" pitchFamily="18" charset="-127"/>
                    </a:rPr>
                    <a:t>로 조정</a:t>
                  </a:r>
                  <a:endParaRPr lang="en-US" altLang="ko-KR" sz="1200" dirty="0">
                    <a:ea typeface="NanumBarunGothicOTF" panose="02020603020101020101" pitchFamily="18" charset="-127"/>
                  </a:endParaRPr>
                </a:p>
                <a:p>
                  <a:r>
                    <a:rPr lang="en-US" altLang="ko-KR" sz="1200" dirty="0">
                      <a:sym typeface="Wingdings" pitchFamily="2" charset="2"/>
                    </a:rPr>
                    <a:t> </a:t>
                  </a:r>
                  <a:r>
                    <a:rPr lang="ko-KR" altLang="en-US" sz="1200" dirty="0"/>
                    <a:t>자본축적 메커니즘을 </a:t>
                  </a:r>
                  <a:r>
                    <a:rPr lang="en" altLang="ko-KR" sz="1200" dirty="0"/>
                    <a:t>Solow </a:t>
                  </a:r>
                  <a:r>
                    <a:rPr lang="ko-KR" altLang="en-US" sz="1200" dirty="0"/>
                    <a:t>모형의 기본 구조인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" altLang="ko-KR" sz="1200" i="1" dirty="0" smtClean="0"/>
                          </m:ctrlPr>
                        </m:sSubPr>
                        <m:e>
                          <m:r>
                            <a:rPr lang="en" altLang="ko-KR" sz="1200" i="1" dirty="0"/>
                            <m:t>𝐾</m:t>
                          </m:r>
                        </m:e>
                        <m:sub>
                          <m:r>
                            <a:rPr lang="en" altLang="ko-KR" sz="1200" i="1" dirty="0"/>
                            <m:t>𝑡</m:t>
                          </m:r>
                          <m:r>
                            <a:rPr lang="en" altLang="ko-KR" sz="1200" i="1" dirty="0"/>
                            <m:t>+1</m:t>
                          </m:r>
                        </m:sub>
                      </m:sSub>
                      <m:r>
                        <a:rPr lang="en" altLang="ko-KR" sz="1200" i="1" dirty="0"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" altLang="ko-KR" sz="1200" i="1" dirty="0" smtClean="0"/>
                        <m:t> (1</m:t>
                      </m:r>
                      <m:r>
                        <a:rPr lang="en-US" altLang="ko-KR" sz="1200" b="0" i="1" dirty="0" smtClean="0"/>
                        <m:t>−</m:t>
                      </m:r>
                      <m:r>
                        <a:rPr lang="en-US" altLang="ko-KR" sz="1200" b="0" i="1" dirty="0" smtClean="0">
                          <a:ea typeface="Cambria Math" panose="02040503050406030204" pitchFamily="18" charset="0"/>
                        </a:rPr>
                        <m:t>𝛿</m:t>
                      </m:r>
                      <m:r>
                        <a:rPr lang="en-US" altLang="ko-KR" sz="1200" b="0" i="1" dirty="0" smtClean="0">
                          <a:ea typeface="Cambria Math" panose="02040503050406030204" pitchFamily="18" charset="0"/>
                        </a:rPr>
                        <m:t>)</m:t>
                      </m:r>
                      <m:sSub>
                        <m:sSubPr>
                          <m:ctrlPr>
                            <a:rPr lang="en-US" altLang="ko-KR" sz="1200" b="0" i="1" dirty="0" smtClean="0"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" altLang="ko-KR" sz="1200" i="1" dirty="0"/>
                            <m:t>𝐾</m:t>
                          </m:r>
                        </m:e>
                        <m:sub>
                          <m:r>
                            <a:rPr lang="en" altLang="ko-KR" sz="1200" i="1" dirty="0"/>
                            <m:t>𝑡</m:t>
                          </m:r>
                        </m:sub>
                      </m:sSub>
                      <m:r>
                        <a:rPr lang="en" altLang="ko-KR" sz="1200" i="1" dirty="0" smtClean="0"/>
                        <m:t> + </m:t>
                      </m:r>
                      <m:sSub>
                        <m:sSubPr>
                          <m:ctrlPr>
                            <a:rPr lang="en" altLang="ko-KR" sz="1200" i="1" dirty="0" smtClean="0"/>
                          </m:ctrlPr>
                        </m:sSubPr>
                        <m:e>
                          <m:r>
                            <a:rPr lang="en-US" altLang="ko-KR" sz="1200" b="0" i="1" dirty="0" smtClean="0"/>
                            <m:t>𝐼</m:t>
                          </m:r>
                        </m:e>
                        <m:sub>
                          <m:r>
                            <a:rPr lang="en-US" altLang="ko-KR" sz="1200" b="0" i="1" dirty="0" smtClean="0"/>
                            <m:t>𝑡</m:t>
                          </m:r>
                        </m:sub>
                      </m:sSub>
                      <m:r>
                        <a:rPr lang="en" altLang="ko-KR" sz="1200" i="1" dirty="0" err="1" smtClean="0"/>
                        <m:t>_</m:t>
                      </m:r>
                      <m:r>
                        <a:rPr lang="en" altLang="ko-KR" sz="1200" i="1" dirty="0" smtClean="0"/>
                        <m:t> </m:t>
                      </m:r>
                    </m:oMath>
                  </a14:m>
                  <a:r>
                    <a:rPr lang="ko-KR" altLang="en-US" sz="1200" dirty="0" err="1"/>
                    <a:t>에</a:t>
                  </a:r>
                  <a:r>
                    <a:rPr lang="ko-KR" altLang="en-US" sz="1200" dirty="0"/>
                    <a:t> 따라 구현함으로써</a:t>
                  </a:r>
                  <a:r>
                    <a:rPr lang="en-US" altLang="ko-KR" sz="1200" dirty="0"/>
                    <a:t>, </a:t>
                  </a:r>
                  <a:r>
                    <a:rPr lang="ko-KR" altLang="en-US" sz="1200" dirty="0"/>
                    <a:t>투자와 감가상각을 기반으로 한 동태적 자산 증가 과정</a:t>
                  </a:r>
                  <a:r>
                    <a:rPr lang="en-US" altLang="ko-KR" sz="1200" dirty="0"/>
                    <a:t> </a:t>
                  </a:r>
                  <a:r>
                    <a:rPr lang="ko-KR" altLang="en-US" sz="1200" dirty="0"/>
                    <a:t>모형화</a:t>
                  </a:r>
                  <a:r>
                    <a:rPr lang="en-US" altLang="ko-KR" sz="1200" dirty="0"/>
                    <a:t>.</a:t>
                  </a:r>
                  <a:endParaRPr lang="ko-KR" altLang="en-US" sz="1200" dirty="0"/>
                </a:p>
              </p:txBody>
            </p:sp>
          </mc:Choice>
          <mc:Fallback>
            <p:sp>
              <p:nvSpPr>
                <p:cNvPr id="17" name="직사각형 16">
                  <a:extLst>
                    <a:ext uri="{FF2B5EF4-FFF2-40B4-BE49-F238E27FC236}">
                      <a16:creationId xmlns:a16="http://schemas.microsoft.com/office/drawing/2014/main" id="{2B8624F9-92E3-D42E-510D-B54D192D72D8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56760" y="810085"/>
                  <a:ext cx="12180538" cy="2576746"/>
                </a:xfrm>
                <a:prstGeom prst="rect">
                  <a:avLst/>
                </a:prstGeom>
                <a:blipFill>
                  <a:blip r:embed="rId2"/>
                  <a:stretch>
                    <a:fillRect l="-219" b="-1538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0" name="직사각형 27">
              <a:extLst>
                <a:ext uri="{FF2B5EF4-FFF2-40B4-BE49-F238E27FC236}">
                  <a16:creationId xmlns:a16="http://schemas.microsoft.com/office/drawing/2014/main" id="{6464768A-12F6-D355-5C6B-9453040807B7}"/>
                </a:ext>
              </a:extLst>
            </p:cNvPr>
            <p:cNvSpPr/>
            <p:nvPr/>
          </p:nvSpPr>
          <p:spPr>
            <a:xfrm>
              <a:off x="456760" y="1024183"/>
              <a:ext cx="80901" cy="313200"/>
            </a:xfrm>
            <a:custGeom>
              <a:avLst/>
              <a:gdLst/>
              <a:ahLst/>
              <a:cxnLst/>
              <a:rect l="l" t="t" r="r" b="b"/>
              <a:pathLst>
                <a:path w="927337" h="1334252">
                  <a:moveTo>
                    <a:pt x="0" y="0"/>
                  </a:moveTo>
                  <a:lnTo>
                    <a:pt x="927337" y="0"/>
                  </a:lnTo>
                  <a:lnTo>
                    <a:pt x="269673" y="1334252"/>
                  </a:lnTo>
                  <a:lnTo>
                    <a:pt x="0" y="1334252"/>
                  </a:lnTo>
                  <a:close/>
                </a:path>
              </a:pathLst>
            </a:custGeom>
            <a:solidFill>
              <a:schemeClr val="bg1">
                <a:alpha val="12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2" name="직사각형 1">
            <a:extLst>
              <a:ext uri="{FF2B5EF4-FFF2-40B4-BE49-F238E27FC236}">
                <a16:creationId xmlns:a16="http://schemas.microsoft.com/office/drawing/2014/main" id="{B74ADBE2-2658-134E-E79D-7BD8B5D1B247}"/>
              </a:ext>
            </a:extLst>
          </p:cNvPr>
          <p:cNvSpPr/>
          <p:nvPr/>
        </p:nvSpPr>
        <p:spPr>
          <a:xfrm>
            <a:off x="562172" y="1087242"/>
            <a:ext cx="9734163" cy="400110"/>
          </a:xfrm>
          <a:prstGeom prst="rect">
            <a:avLst/>
          </a:prstGeom>
        </p:spPr>
        <p:txBody>
          <a:bodyPr wrap="square" anchor="ctr" anchorCtr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" altLang="ko-KR" sz="2000" b="1" kern="0" spc="-150" dirty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prstClr val="black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Britz &amp; </a:t>
            </a:r>
            <a:r>
              <a:rPr lang="en" altLang="ko-KR" sz="2000" b="1" kern="0" spc="-150" dirty="0" err="1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prstClr val="black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Roson</a:t>
            </a:r>
            <a:r>
              <a:rPr lang="en" altLang="ko-KR" sz="2000" b="1" kern="0" spc="-150" dirty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prstClr val="black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 (2019)</a:t>
            </a:r>
            <a:r>
              <a:rPr lang="ko-KR" altLang="en-US" sz="2000" b="1" kern="0" spc="-150" dirty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prstClr val="black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 내적 정합성 검증 기준</a:t>
            </a:r>
            <a:r>
              <a:rPr lang="en-US" altLang="ko-KR" sz="2000" b="1" kern="0" spc="-150" dirty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prstClr val="black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: </a:t>
            </a:r>
            <a:r>
              <a:rPr lang="ko-KR" altLang="en-US" sz="2000" b="1" kern="0" spc="-150" dirty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prstClr val="black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소비 및 저축률</a:t>
            </a:r>
            <a:endParaRPr kumimoji="0" lang="ko-KR" altLang="en-US" sz="1400" b="1" i="0" u="none" strike="noStrike" kern="0" cap="none" spc="-150" normalizeH="0" baseline="0" noProof="0" dirty="0">
              <a:ln>
                <a:solidFill>
                  <a:srgbClr val="4472C4">
                    <a:alpha val="0"/>
                  </a:srgbClr>
                </a:solidFill>
              </a:ln>
              <a:solidFill>
                <a:srgbClr val="1F497D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" name="모서리가 둥근 직사각형 2">
            <a:extLst>
              <a:ext uri="{FF2B5EF4-FFF2-40B4-BE49-F238E27FC236}">
                <a16:creationId xmlns:a16="http://schemas.microsoft.com/office/drawing/2014/main" id="{6724D8E9-8A3B-3BCE-9427-A9C408312A05}"/>
              </a:ext>
            </a:extLst>
          </p:cNvPr>
          <p:cNvSpPr/>
          <p:nvPr/>
        </p:nvSpPr>
        <p:spPr>
          <a:xfrm>
            <a:off x="9928638" y="996910"/>
            <a:ext cx="1995055" cy="439387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1600" dirty="0"/>
              <a:t>내적 정합성 검증</a:t>
            </a: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A8E42ED2-F6C2-207C-065E-FC5207AAB4E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67889478"/>
              </p:ext>
            </p:extLst>
          </p:nvPr>
        </p:nvGraphicFramePr>
        <p:xfrm>
          <a:off x="413999" y="4326353"/>
          <a:ext cx="11509694" cy="2034931"/>
        </p:xfrm>
        <a:graphic>
          <a:graphicData uri="http://schemas.openxmlformats.org/drawingml/2006/table">
            <a:tbl>
              <a:tblPr>
                <a:tableStyleId>{6E25E649-3F16-4E02-A733-19D2CDBF48F0}</a:tableStyleId>
              </a:tblPr>
              <a:tblGrid>
                <a:gridCol w="1991884">
                  <a:extLst>
                    <a:ext uri="{9D8B030D-6E8A-4147-A177-3AD203B41FA5}">
                      <a16:colId xmlns:a16="http://schemas.microsoft.com/office/drawing/2014/main" val="692438089"/>
                    </a:ext>
                  </a:extLst>
                </a:gridCol>
                <a:gridCol w="3268564">
                  <a:extLst>
                    <a:ext uri="{9D8B030D-6E8A-4147-A177-3AD203B41FA5}">
                      <a16:colId xmlns:a16="http://schemas.microsoft.com/office/drawing/2014/main" val="2569268082"/>
                    </a:ext>
                  </a:extLst>
                </a:gridCol>
                <a:gridCol w="3333881">
                  <a:extLst>
                    <a:ext uri="{9D8B030D-6E8A-4147-A177-3AD203B41FA5}">
                      <a16:colId xmlns:a16="http://schemas.microsoft.com/office/drawing/2014/main" val="2674232511"/>
                    </a:ext>
                  </a:extLst>
                </a:gridCol>
                <a:gridCol w="2915365">
                  <a:extLst>
                    <a:ext uri="{9D8B030D-6E8A-4147-A177-3AD203B41FA5}">
                      <a16:colId xmlns:a16="http://schemas.microsoft.com/office/drawing/2014/main" val="1859561711"/>
                    </a:ext>
                  </a:extLst>
                </a:gridCol>
              </a:tblGrid>
              <a:tr h="23366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100" b="1"/>
                        <a:t>구분</a:t>
                      </a:r>
                      <a:endParaRPr lang="ko-KR" altLang="en-US" sz="1100"/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100" b="1"/>
                        <a:t>검토 항목</a:t>
                      </a:r>
                      <a:endParaRPr lang="ko-KR" altLang="en-US" sz="1100"/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100" b="1"/>
                        <a:t>내적 정합성 기준 </a:t>
                      </a:r>
                      <a:r>
                        <a:rPr lang="en-US" altLang="ko-KR" sz="1100" b="1"/>
                        <a:t>(</a:t>
                      </a:r>
                      <a:r>
                        <a:rPr lang="ko-KR" altLang="en-US" sz="1100" b="1"/>
                        <a:t>이론적 방향</a:t>
                      </a:r>
                      <a:r>
                        <a:rPr lang="en-US" altLang="ko-KR" sz="1100" b="1"/>
                        <a:t>)</a:t>
                      </a:r>
                      <a:endParaRPr lang="ko-KR" altLang="en-US" sz="1100"/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100" b="1"/>
                        <a:t>G-RDEM </a:t>
                      </a:r>
                      <a:r>
                        <a:rPr lang="ko-KR" altLang="en-US" sz="1100" b="1"/>
                        <a:t>내 구현 방식</a:t>
                      </a:r>
                      <a:endParaRPr lang="ko-KR" altLang="en-US" sz="1100"/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51535711"/>
                  </a:ext>
                </a:extLst>
              </a:tr>
              <a:tr h="32816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100" b="1"/>
                        <a:t>소비구조 변화</a:t>
                      </a:r>
                      <a:endParaRPr lang="ko-KR" altLang="en-US" sz="1100"/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100" dirty="0"/>
                        <a:t>식품 등 </a:t>
                      </a:r>
                      <a:r>
                        <a:rPr lang="ko-KR" altLang="en-US" sz="1100" dirty="0" err="1"/>
                        <a:t>필수재</a:t>
                      </a:r>
                      <a:r>
                        <a:rPr lang="ko-KR" altLang="en-US" sz="1100" dirty="0"/>
                        <a:t> 비중 변화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100" dirty="0"/>
                        <a:t>소득 증가 시 식품 비중 ↓ </a:t>
                      </a:r>
                      <a:r>
                        <a:rPr lang="en-US" altLang="ko-KR" sz="1100" dirty="0"/>
                        <a:t>(</a:t>
                      </a:r>
                      <a:r>
                        <a:rPr lang="en" sz="1100" dirty="0"/>
                        <a:t>Engel</a:t>
                      </a:r>
                      <a:r>
                        <a:rPr lang="ko-KR" altLang="en-US" sz="1100" dirty="0"/>
                        <a:t>의 법칙</a:t>
                      </a:r>
                      <a:r>
                        <a:rPr lang="en-US" altLang="ko-KR" sz="1100" dirty="0"/>
                        <a:t>)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100" dirty="0"/>
                        <a:t>AIDADS </a:t>
                      </a:r>
                      <a:r>
                        <a:rPr lang="ko-KR" altLang="en-US" sz="1100" dirty="0"/>
                        <a:t>수요함수로 비선형 소득 반응 반영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2668796683"/>
                  </a:ext>
                </a:extLst>
              </a:tr>
              <a:tr h="426609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ko-KR" altLang="en-US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100" dirty="0" err="1"/>
                        <a:t>고급재</a:t>
                      </a:r>
                      <a:r>
                        <a:rPr lang="en-US" altLang="ko-KR" sz="1100" dirty="0"/>
                        <a:t>·</a:t>
                      </a:r>
                      <a:r>
                        <a:rPr lang="ko-KR" altLang="en-US" sz="1100" dirty="0"/>
                        <a:t>서비스 소비 증가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100" dirty="0"/>
                        <a:t>외식</a:t>
                      </a:r>
                      <a:r>
                        <a:rPr lang="en-US" altLang="ko-KR" sz="1100" dirty="0"/>
                        <a:t>·</a:t>
                      </a:r>
                      <a:r>
                        <a:rPr lang="ko-KR" altLang="en-US" sz="1100" dirty="0"/>
                        <a:t>문화</a:t>
                      </a:r>
                      <a:r>
                        <a:rPr lang="en-US" altLang="ko-KR" sz="1100" dirty="0"/>
                        <a:t>·</a:t>
                      </a:r>
                      <a:r>
                        <a:rPr lang="ko-KR" altLang="en-US" sz="1100" dirty="0"/>
                        <a:t>여가 등 고소득 소비 비중 ↑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" sz="1100" dirty="0"/>
                        <a:t>ICP </a:t>
                      </a:r>
                      <a:r>
                        <a:rPr lang="ko-KR" altLang="en-US" sz="1100" dirty="0"/>
                        <a:t>자료 기반 </a:t>
                      </a:r>
                      <a:r>
                        <a:rPr lang="en" sz="1100" dirty="0"/>
                        <a:t>AIDADS </a:t>
                      </a:r>
                      <a:r>
                        <a:rPr lang="ko-KR" altLang="en-US" sz="1100" dirty="0"/>
                        <a:t>계수 추정 및 적용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66447085"/>
                  </a:ext>
                </a:extLst>
              </a:tr>
              <a:tr h="53605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100" b="1"/>
                        <a:t>저축구조 변화</a:t>
                      </a:r>
                      <a:endParaRPr lang="ko-KR" altLang="en-US" sz="11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100"/>
                        <a:t>가계 저축률 변화 </a:t>
                      </a:r>
                      <a:r>
                        <a:rPr lang="en-US" altLang="ko-KR" sz="1100"/>
                        <a:t>(</a:t>
                      </a:r>
                      <a:r>
                        <a:rPr lang="en" sz="1100"/>
                        <a:t>SH/YDH)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100" dirty="0"/>
                        <a:t>소득 증가 또는 미래소득 기대 시 저축률 ↑</a:t>
                      </a:r>
                      <a:r>
                        <a:rPr lang="en-US" altLang="ko-KR" sz="1100" dirty="0"/>
                        <a:t>, </a:t>
                      </a:r>
                      <a:r>
                        <a:rPr lang="ko-KR" altLang="en-US" sz="1100" dirty="0"/>
                        <a:t>고령화 시 저축률 ↓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100"/>
                        <a:t>기준연도 저축률 사용 후 시나리오 기반 점진 조정 </a:t>
                      </a:r>
                      <a:r>
                        <a:rPr lang="en-US" altLang="ko-KR" sz="1100"/>
                        <a:t>(</a:t>
                      </a:r>
                      <a:r>
                        <a:rPr lang="en" sz="1100"/>
                        <a:t>Life-cycle + Solow-type </a:t>
                      </a:r>
                      <a:r>
                        <a:rPr lang="ko-KR" altLang="en-US" sz="1100"/>
                        <a:t>자본축적 연동</a:t>
                      </a:r>
                      <a:r>
                        <a:rPr lang="en-US" altLang="ko-KR" sz="1100"/>
                        <a:t>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76597111"/>
                  </a:ext>
                </a:extLst>
              </a:tr>
              <a:tr h="384859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ko-KR" altLang="en-US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100" dirty="0"/>
                        <a:t>세계 잉여저축 </a:t>
                      </a:r>
                      <a:r>
                        <a:rPr lang="en-US" altLang="ko-KR" sz="1100" dirty="0"/>
                        <a:t>(</a:t>
                      </a:r>
                      <a:r>
                        <a:rPr lang="en" sz="1100" dirty="0"/>
                        <a:t>SROW) </a:t>
                      </a:r>
                      <a:r>
                        <a:rPr lang="ko-KR" altLang="en-US" sz="1100" dirty="0"/>
                        <a:t>수지 변화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100" dirty="0"/>
                        <a:t>순자본 </a:t>
                      </a:r>
                      <a:r>
                        <a:rPr lang="ko-KR" altLang="en-US" sz="1100" dirty="0" err="1"/>
                        <a:t>유출입</a:t>
                      </a:r>
                      <a:r>
                        <a:rPr lang="ko-KR" altLang="en-US" sz="1100" dirty="0"/>
                        <a:t> 구조가 지나치게 </a:t>
                      </a:r>
                      <a:r>
                        <a:rPr lang="ko-KR" altLang="en-US" sz="1100" dirty="0" err="1"/>
                        <a:t>불균형하지</a:t>
                      </a:r>
                      <a:r>
                        <a:rPr lang="ko-KR" altLang="en-US" sz="1100" dirty="0"/>
                        <a:t> 않음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100" dirty="0" err="1"/>
                        <a:t>총저축</a:t>
                      </a:r>
                      <a:r>
                        <a:rPr lang="ko-KR" altLang="en-US" sz="1100" dirty="0"/>
                        <a:t> </a:t>
                      </a:r>
                      <a:r>
                        <a:rPr lang="en-US" altLang="ko-KR" sz="1100" dirty="0"/>
                        <a:t>= </a:t>
                      </a:r>
                      <a:r>
                        <a:rPr lang="ko-KR" altLang="en-US" sz="1100" dirty="0"/>
                        <a:t>총투자 조건 반영</a:t>
                      </a:r>
                      <a:r>
                        <a:rPr lang="en-US" altLang="ko-KR" sz="1100" dirty="0"/>
                        <a:t>, </a:t>
                      </a:r>
                      <a:r>
                        <a:rPr lang="ko-KR" altLang="en-US" sz="1100" dirty="0"/>
                        <a:t>외자 조달</a:t>
                      </a:r>
                      <a:r>
                        <a:rPr lang="en-US" altLang="ko-KR" sz="1100" dirty="0"/>
                        <a:t>(</a:t>
                      </a:r>
                      <a:r>
                        <a:rPr lang="en" sz="1100" dirty="0"/>
                        <a:t>SROW) </a:t>
                      </a:r>
                      <a:r>
                        <a:rPr lang="ko-KR" altLang="en-US" sz="1100" dirty="0"/>
                        <a:t>흐름 포함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06129165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5B9EB8BA-E3F1-84FC-53F1-F1979F9AADD0}"/>
              </a:ext>
            </a:extLst>
          </p:cNvPr>
          <p:cNvSpPr txBox="1"/>
          <p:nvPr/>
        </p:nvSpPr>
        <p:spPr>
          <a:xfrm>
            <a:off x="2498002" y="6407817"/>
            <a:ext cx="58625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sz="1400" b="1" i="1" dirty="0">
                <a:solidFill>
                  <a:srgbClr val="C00000"/>
                </a:solidFill>
                <a:latin typeface="NanumBarunGothicOTF" panose="02020603020101020101" pitchFamily="18" charset="-127"/>
                <a:ea typeface="NanumBarunGothicOTF" panose="02020603020101020101" pitchFamily="18" charset="-127"/>
              </a:rPr>
              <a:t>➔ </a:t>
            </a:r>
            <a:r>
              <a:rPr kumimoji="1" lang="en-US" altLang="ko-KR" sz="1400" b="1" i="1" dirty="0">
                <a:solidFill>
                  <a:srgbClr val="C00000"/>
                </a:solidFill>
                <a:latin typeface="NanumBarunGothicOTF" panose="02020603020101020101" pitchFamily="18" charset="-127"/>
                <a:ea typeface="NanumBarunGothicOTF" panose="02020603020101020101" pitchFamily="18" charset="-127"/>
              </a:rPr>
              <a:t>CGE</a:t>
            </a:r>
            <a:r>
              <a:rPr kumimoji="1" lang="ko-KR" altLang="en-US" sz="1400" b="1" i="1" dirty="0">
                <a:solidFill>
                  <a:srgbClr val="C00000"/>
                </a:solidFill>
                <a:latin typeface="NanumBarunGothicOTF" panose="02020603020101020101" pitchFamily="18" charset="-127"/>
                <a:ea typeface="NanumBarunGothicOTF" panose="02020603020101020101" pitchFamily="18" charset="-127"/>
              </a:rPr>
              <a:t> 모형 내 </a:t>
            </a:r>
            <a:r>
              <a:rPr kumimoji="1" lang="en-US" altLang="ko-KR" sz="1400" b="1" i="1" dirty="0">
                <a:solidFill>
                  <a:srgbClr val="C00000"/>
                </a:solidFill>
                <a:latin typeface="NanumBarunGothicOTF" panose="02020603020101020101" pitchFamily="18" charset="-127"/>
                <a:ea typeface="NanumBarunGothicOTF" panose="02020603020101020101" pitchFamily="18" charset="-127"/>
              </a:rPr>
              <a:t>6</a:t>
            </a:r>
            <a:r>
              <a:rPr kumimoji="1" lang="ko-KR" altLang="en-US" sz="1400" b="1" i="1" dirty="0">
                <a:solidFill>
                  <a:srgbClr val="C00000"/>
                </a:solidFill>
                <a:latin typeface="NanumBarunGothicOTF" panose="02020603020101020101" pitchFamily="18" charset="-127"/>
                <a:ea typeface="NanumBarunGothicOTF" panose="02020603020101020101" pitchFamily="18" charset="-127"/>
              </a:rPr>
              <a:t>개국 대상 내적 정합 검증 진행</a:t>
            </a:r>
            <a:r>
              <a:rPr kumimoji="1" lang="en-US" altLang="ko-KR" sz="1400" b="1" i="1" dirty="0">
                <a:solidFill>
                  <a:srgbClr val="C00000"/>
                </a:solidFill>
                <a:latin typeface="NanumBarunGothicOTF" panose="02020603020101020101" pitchFamily="18" charset="-127"/>
                <a:ea typeface="NanumBarunGothicOTF" panose="02020603020101020101" pitchFamily="18" charset="-127"/>
              </a:rPr>
              <a:t>(</a:t>
            </a:r>
            <a:r>
              <a:rPr kumimoji="1" lang="ko-KR" altLang="en-US" sz="1400" b="1" i="1" dirty="0">
                <a:solidFill>
                  <a:srgbClr val="C00000"/>
                </a:solidFill>
                <a:latin typeface="NanumBarunGothicOTF" panose="02020603020101020101" pitchFamily="18" charset="-127"/>
                <a:ea typeface="NanumBarunGothicOTF" panose="02020603020101020101" pitchFamily="18" charset="-127"/>
              </a:rPr>
              <a:t>소비구조</a:t>
            </a:r>
            <a:r>
              <a:rPr kumimoji="1" lang="en-US" altLang="ko-KR" sz="1400" b="1" i="1" dirty="0">
                <a:solidFill>
                  <a:srgbClr val="C00000"/>
                </a:solidFill>
                <a:latin typeface="NanumBarunGothicOTF" panose="02020603020101020101" pitchFamily="18" charset="-127"/>
                <a:ea typeface="NanumBarunGothicOTF" panose="02020603020101020101" pitchFamily="18" charset="-127"/>
              </a:rPr>
              <a:t>,</a:t>
            </a:r>
            <a:r>
              <a:rPr kumimoji="1" lang="ko-KR" altLang="en-US" sz="1400" b="1" i="1" dirty="0">
                <a:solidFill>
                  <a:srgbClr val="C00000"/>
                </a:solidFill>
                <a:latin typeface="NanumBarunGothicOTF" panose="02020603020101020101" pitchFamily="18" charset="-127"/>
                <a:ea typeface="NanumBarunGothicOTF" panose="02020603020101020101" pitchFamily="18" charset="-127"/>
              </a:rPr>
              <a:t> 가계 소비 및 저축률</a:t>
            </a:r>
            <a:r>
              <a:rPr kumimoji="1" lang="en-US" altLang="ko-KR" sz="1400" b="1" i="1" dirty="0">
                <a:solidFill>
                  <a:srgbClr val="C00000"/>
                </a:solidFill>
                <a:latin typeface="NanumBarunGothicOTF" panose="02020603020101020101" pitchFamily="18" charset="-127"/>
                <a:ea typeface="NanumBarunGothicOTF" panose="02020603020101020101" pitchFamily="18" charset="-127"/>
              </a:rPr>
              <a:t>)</a:t>
            </a:r>
            <a:endParaRPr kumimoji="1" lang="ko-KR" altLang="en-US" sz="1400" b="1" i="1" dirty="0">
              <a:solidFill>
                <a:srgbClr val="C00000"/>
              </a:solidFill>
              <a:latin typeface="NanumBarunGothicOTF" panose="02020603020101020101" pitchFamily="18" charset="-127"/>
              <a:ea typeface="NanumBarunGothicOTF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6214605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59DFB6-0DBB-3D88-22CB-C2869A978E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그룹 7">
            <a:extLst>
              <a:ext uri="{FF2B5EF4-FFF2-40B4-BE49-F238E27FC236}">
                <a16:creationId xmlns:a16="http://schemas.microsoft.com/office/drawing/2014/main" id="{6B1AD170-506D-FBFD-86FF-F5C8CC738EA4}"/>
              </a:ext>
            </a:extLst>
          </p:cNvPr>
          <p:cNvGrpSpPr/>
          <p:nvPr/>
        </p:nvGrpSpPr>
        <p:grpSpPr>
          <a:xfrm>
            <a:off x="280800" y="491352"/>
            <a:ext cx="8089700" cy="977190"/>
            <a:chOff x="278836" y="391603"/>
            <a:chExt cx="8089700" cy="977190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3C4E7EC1-3434-A732-8CD9-A5D0310416EF}"/>
                </a:ext>
              </a:extLst>
            </p:cNvPr>
            <p:cNvSpPr txBox="1"/>
            <p:nvPr/>
          </p:nvSpPr>
          <p:spPr>
            <a:xfrm>
              <a:off x="278836" y="391603"/>
              <a:ext cx="700513" cy="5693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3100" b="1" spc="-13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2">
                      <a:lumMod val="50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01.</a:t>
              </a:r>
              <a:endParaRPr lang="ko-KR" altLang="en-US" sz="3100" b="1" spc="-13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2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A93504EC-9856-7E1C-215F-2B6F1AE2A586}"/>
                </a:ext>
              </a:extLst>
            </p:cNvPr>
            <p:cNvSpPr txBox="1"/>
            <p:nvPr/>
          </p:nvSpPr>
          <p:spPr>
            <a:xfrm>
              <a:off x="908667" y="414686"/>
              <a:ext cx="7459869" cy="954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2800" b="1" spc="-150" dirty="0">
                  <a:latin typeface="+mn-ea"/>
                </a:rPr>
                <a:t>AQ Linkage</a:t>
              </a:r>
              <a:r>
                <a:rPr lang="ko-KR" altLang="en-US" sz="2800" b="1" spc="-150" dirty="0">
                  <a:latin typeface="+mn-ea"/>
                </a:rPr>
                <a:t> 결과 검증</a:t>
              </a:r>
              <a:endParaRPr lang="en-US" altLang="ko-KR" sz="2800" b="1" spc="-150" dirty="0">
                <a:latin typeface="+mn-ea"/>
              </a:endParaRPr>
            </a:p>
            <a:p>
              <a:endParaRPr lang="en-US" altLang="ko-KR" sz="2800" b="1" spc="-1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ADEA762D-E4D3-02A7-463F-73EC6D5BB969}"/>
              </a:ext>
            </a:extLst>
          </p:cNvPr>
          <p:cNvGrpSpPr/>
          <p:nvPr/>
        </p:nvGrpSpPr>
        <p:grpSpPr>
          <a:xfrm>
            <a:off x="414000" y="1149913"/>
            <a:ext cx="140400" cy="313200"/>
            <a:chOff x="3767328" y="1146994"/>
            <a:chExt cx="1609344" cy="1334252"/>
          </a:xfrm>
        </p:grpSpPr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ED1B0EE0-A2DA-6B0C-25F7-71AC9B10BE74}"/>
                </a:ext>
              </a:extLst>
            </p:cNvPr>
            <p:cNvSpPr/>
            <p:nvPr/>
          </p:nvSpPr>
          <p:spPr>
            <a:xfrm>
              <a:off x="3767328" y="1146994"/>
              <a:ext cx="1609344" cy="1334252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" name="직사각형 27">
              <a:extLst>
                <a:ext uri="{FF2B5EF4-FFF2-40B4-BE49-F238E27FC236}">
                  <a16:creationId xmlns:a16="http://schemas.microsoft.com/office/drawing/2014/main" id="{831D944E-408A-61F1-5715-B8B82D15503C}"/>
                </a:ext>
              </a:extLst>
            </p:cNvPr>
            <p:cNvSpPr/>
            <p:nvPr/>
          </p:nvSpPr>
          <p:spPr>
            <a:xfrm>
              <a:off x="3767328" y="1146994"/>
              <a:ext cx="927337" cy="1334252"/>
            </a:xfrm>
            <a:custGeom>
              <a:avLst/>
              <a:gdLst/>
              <a:ahLst/>
              <a:cxnLst/>
              <a:rect l="l" t="t" r="r" b="b"/>
              <a:pathLst>
                <a:path w="927337" h="1334252">
                  <a:moveTo>
                    <a:pt x="0" y="0"/>
                  </a:moveTo>
                  <a:lnTo>
                    <a:pt x="927337" y="0"/>
                  </a:lnTo>
                  <a:lnTo>
                    <a:pt x="269673" y="1334252"/>
                  </a:lnTo>
                  <a:lnTo>
                    <a:pt x="0" y="1334252"/>
                  </a:lnTo>
                  <a:close/>
                </a:path>
              </a:pathLst>
            </a:custGeom>
            <a:solidFill>
              <a:schemeClr val="bg1">
                <a:alpha val="12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A94061C8-1A05-9906-8AB2-557187E39499}"/>
              </a:ext>
            </a:extLst>
          </p:cNvPr>
          <p:cNvGrpSpPr/>
          <p:nvPr/>
        </p:nvGrpSpPr>
        <p:grpSpPr>
          <a:xfrm>
            <a:off x="414000" y="1902178"/>
            <a:ext cx="9598435" cy="4154984"/>
            <a:chOff x="456760" y="792951"/>
            <a:chExt cx="10067607" cy="4348255"/>
          </a:xfrm>
        </p:grpSpPr>
        <p:sp>
          <p:nvSpPr>
            <p:cNvPr id="17" name="직사각형 16">
              <a:extLst>
                <a:ext uri="{FF2B5EF4-FFF2-40B4-BE49-F238E27FC236}">
                  <a16:creationId xmlns:a16="http://schemas.microsoft.com/office/drawing/2014/main" id="{2E2A611E-C6D2-3645-05BC-D61055EAD5AA}"/>
                </a:ext>
              </a:extLst>
            </p:cNvPr>
            <p:cNvSpPr/>
            <p:nvPr/>
          </p:nvSpPr>
          <p:spPr>
            <a:xfrm>
              <a:off x="7655679" y="792951"/>
              <a:ext cx="2868688" cy="4348255"/>
            </a:xfrm>
            <a:prstGeom prst="rect">
              <a:avLst/>
            </a:prstGeom>
          </p:spPr>
          <p:txBody>
            <a:bodyPr wrap="square" anchor="ctr" anchorCtr="0">
              <a:spAutoFit/>
            </a:bodyPr>
            <a:lstStyle/>
            <a:p>
              <a:r>
                <a:rPr lang="en-US" altLang="ko-KR" sz="1200" b="1" dirty="0"/>
                <a:t>1. </a:t>
              </a:r>
              <a:r>
                <a:rPr lang="ko-KR" altLang="en-US" sz="1200" b="1" dirty="0"/>
                <a:t>농산수산품</a:t>
              </a:r>
            </a:p>
            <a:p>
              <a:r>
                <a:rPr lang="en-US" altLang="ko-KR" sz="1200" dirty="0"/>
                <a:t>01_</a:t>
              </a:r>
              <a:r>
                <a:rPr lang="en" altLang="ko-KR" sz="1200" dirty="0"/>
                <a:t>AGRICULT</a:t>
              </a:r>
            </a:p>
            <a:p>
              <a:endParaRPr lang="ko-KR" altLang="en-US" sz="1200" b="1" dirty="0"/>
            </a:p>
            <a:p>
              <a:r>
                <a:rPr lang="en-US" altLang="ko-KR" sz="1200" b="1" dirty="0"/>
                <a:t>2. </a:t>
              </a:r>
              <a:r>
                <a:rPr lang="ko-KR" altLang="en-US" sz="1200" b="1" dirty="0" err="1"/>
                <a:t>광산품</a:t>
              </a:r>
              <a:endParaRPr lang="ko-KR" altLang="en-US" sz="1200" b="1" dirty="0"/>
            </a:p>
            <a:p>
              <a:r>
                <a:rPr lang="en-US" altLang="ko-KR" sz="1200" dirty="0"/>
                <a:t>02_</a:t>
              </a:r>
              <a:r>
                <a:rPr lang="en" altLang="ko-KR" sz="1200" dirty="0"/>
                <a:t>COAL</a:t>
              </a:r>
            </a:p>
            <a:p>
              <a:r>
                <a:rPr lang="en" altLang="ko-KR" sz="1200" dirty="0"/>
                <a:t>03_OIL</a:t>
              </a:r>
            </a:p>
            <a:p>
              <a:r>
                <a:rPr lang="en" altLang="ko-KR" sz="1200" dirty="0"/>
                <a:t>04_GAS</a:t>
              </a:r>
            </a:p>
            <a:p>
              <a:r>
                <a:rPr lang="en" altLang="ko-KR" sz="1200" dirty="0"/>
                <a:t>05_MINING</a:t>
              </a:r>
            </a:p>
            <a:p>
              <a:endParaRPr lang="ko-KR" altLang="en-US" sz="1200" b="1" dirty="0"/>
            </a:p>
            <a:p>
              <a:r>
                <a:rPr lang="en-US" altLang="ko-KR" sz="1200" b="1" dirty="0"/>
                <a:t>3. </a:t>
              </a:r>
              <a:r>
                <a:rPr lang="ko-KR" altLang="en-US" sz="1200" b="1" dirty="0"/>
                <a:t>공산품</a:t>
              </a:r>
            </a:p>
            <a:p>
              <a:r>
                <a:rPr lang="en-US" altLang="ko-KR" sz="1200" dirty="0"/>
                <a:t>06_</a:t>
              </a:r>
              <a:r>
                <a:rPr lang="en" altLang="ko-KR" sz="1200" dirty="0"/>
                <a:t>FOODPRO (</a:t>
              </a:r>
              <a:r>
                <a:rPr lang="ko-KR" altLang="en-US" sz="1200" dirty="0"/>
                <a:t>음식료품 등</a:t>
              </a:r>
              <a:r>
                <a:rPr lang="en-US" altLang="ko-KR" sz="1200" dirty="0"/>
                <a:t>)</a:t>
              </a:r>
            </a:p>
            <a:p>
              <a:r>
                <a:rPr lang="en-US" altLang="ko-KR" sz="1200" dirty="0"/>
                <a:t>07_</a:t>
              </a:r>
              <a:r>
                <a:rPr lang="en" altLang="ko-KR" sz="1200" dirty="0"/>
                <a:t>TEXTILES (</a:t>
              </a:r>
              <a:r>
                <a:rPr lang="ko-KR" altLang="en-US" sz="1200" dirty="0"/>
                <a:t>섬유</a:t>
              </a:r>
              <a:r>
                <a:rPr lang="en-US" altLang="ko-KR" sz="1200" dirty="0"/>
                <a:t>)</a:t>
              </a:r>
            </a:p>
            <a:p>
              <a:r>
                <a:rPr lang="en-US" altLang="ko-KR" sz="1200" dirty="0"/>
                <a:t>08_</a:t>
              </a:r>
              <a:r>
                <a:rPr lang="en" altLang="ko-KR" sz="1200" dirty="0"/>
                <a:t>WOODPRO (</a:t>
              </a:r>
              <a:r>
                <a:rPr lang="ko-KR" altLang="en-US" sz="1200" dirty="0"/>
                <a:t>목재</a:t>
              </a:r>
              <a:r>
                <a:rPr lang="en-US" altLang="ko-KR" sz="1200" dirty="0"/>
                <a:t>)</a:t>
              </a:r>
            </a:p>
            <a:p>
              <a:r>
                <a:rPr lang="en-US" altLang="ko-KR" sz="1200" dirty="0"/>
                <a:t>09_</a:t>
              </a:r>
              <a:r>
                <a:rPr lang="en" altLang="ko-KR" sz="1200" dirty="0"/>
                <a:t>PAPERPRO (</a:t>
              </a:r>
              <a:r>
                <a:rPr lang="ko-KR" altLang="en-US" sz="1200" dirty="0"/>
                <a:t>종이</a:t>
              </a:r>
              <a:r>
                <a:rPr lang="en-US" altLang="ko-KR" sz="1200" dirty="0"/>
                <a:t>)</a:t>
              </a:r>
            </a:p>
            <a:p>
              <a:r>
                <a:rPr lang="en-US" altLang="ko-KR" sz="1200" dirty="0"/>
                <a:t>10_</a:t>
              </a:r>
              <a:r>
                <a:rPr lang="en" altLang="ko-KR" sz="1200" dirty="0"/>
                <a:t>PETROLCOAL (</a:t>
              </a:r>
              <a:r>
                <a:rPr lang="ko-KR" altLang="en-US" sz="1200" dirty="0"/>
                <a:t>석탄석유제품</a:t>
              </a:r>
              <a:r>
                <a:rPr lang="en-US" altLang="ko-KR" sz="1200" dirty="0"/>
                <a:t>)</a:t>
              </a:r>
            </a:p>
            <a:p>
              <a:r>
                <a:rPr lang="en-US" altLang="ko-KR" sz="1200" dirty="0"/>
                <a:t>11_</a:t>
              </a:r>
              <a:r>
                <a:rPr lang="en" altLang="ko-KR" sz="1200" dirty="0"/>
                <a:t>CHEMICAL (</a:t>
              </a:r>
              <a:r>
                <a:rPr lang="ko-KR" altLang="en-US" sz="1200" dirty="0"/>
                <a:t>화학제품</a:t>
              </a:r>
              <a:r>
                <a:rPr lang="en-US" altLang="ko-KR" sz="1200" dirty="0"/>
                <a:t>)</a:t>
              </a:r>
            </a:p>
            <a:p>
              <a:r>
                <a:rPr lang="en-US" altLang="ko-KR" sz="1200" dirty="0"/>
                <a:t>12_</a:t>
              </a:r>
              <a:r>
                <a:rPr lang="en" altLang="ko-KR" sz="1200" dirty="0"/>
                <a:t>NONMET (</a:t>
              </a:r>
              <a:r>
                <a:rPr lang="ko-KR" altLang="en-US" sz="1200" dirty="0"/>
                <a:t>비금속광물</a:t>
              </a:r>
              <a:r>
                <a:rPr lang="en-US" altLang="ko-KR" sz="1200" dirty="0"/>
                <a:t>)</a:t>
              </a:r>
            </a:p>
            <a:p>
              <a:r>
                <a:rPr lang="en-US" altLang="ko-KR" sz="1200" dirty="0"/>
                <a:t>13_</a:t>
              </a:r>
              <a:r>
                <a:rPr lang="en" altLang="ko-KR" sz="1200" dirty="0"/>
                <a:t>IRONSTL (</a:t>
              </a:r>
              <a:r>
                <a:rPr lang="ko-KR" altLang="en-US" sz="1200" dirty="0"/>
                <a:t>철강</a:t>
              </a:r>
              <a:r>
                <a:rPr lang="en-US" altLang="ko-KR" sz="1200" dirty="0"/>
                <a:t>)</a:t>
              </a:r>
            </a:p>
            <a:p>
              <a:r>
                <a:rPr lang="en-US" altLang="ko-KR" sz="1200" dirty="0"/>
                <a:t>14_</a:t>
              </a:r>
              <a:r>
                <a:rPr lang="en" altLang="ko-KR" sz="1200" dirty="0"/>
                <a:t>NONFERR (</a:t>
              </a:r>
              <a:r>
                <a:rPr lang="ko-KR" altLang="en-US" sz="1200" dirty="0"/>
                <a:t>비철금속</a:t>
              </a:r>
              <a:r>
                <a:rPr lang="en-US" altLang="ko-KR" sz="1200" dirty="0"/>
                <a:t>)</a:t>
              </a:r>
            </a:p>
            <a:p>
              <a:r>
                <a:rPr lang="en-US" altLang="ko-KR" sz="1200" dirty="0"/>
                <a:t>15_</a:t>
              </a:r>
              <a:r>
                <a:rPr lang="en" altLang="ko-KR" sz="1200" dirty="0"/>
                <a:t>MACHINE (</a:t>
              </a:r>
              <a:r>
                <a:rPr lang="ko-KR" altLang="en-US" sz="1200" dirty="0"/>
                <a:t>기계류</a:t>
              </a:r>
              <a:r>
                <a:rPr lang="en-US" altLang="ko-KR" sz="1200" dirty="0"/>
                <a:t>)</a:t>
              </a:r>
            </a:p>
            <a:p>
              <a:r>
                <a:rPr lang="en-US" altLang="ko-KR" sz="1200" dirty="0"/>
                <a:t>16_</a:t>
              </a:r>
              <a:r>
                <a:rPr lang="en" altLang="ko-KR" sz="1200" dirty="0"/>
                <a:t>TRANSEQ (</a:t>
              </a:r>
              <a:r>
                <a:rPr lang="ko-KR" altLang="en-US" sz="1200" dirty="0"/>
                <a:t>운송장비</a:t>
              </a:r>
              <a:r>
                <a:rPr lang="en-US" altLang="ko-KR" sz="1200" dirty="0"/>
                <a:t>)</a:t>
              </a:r>
            </a:p>
            <a:p>
              <a:r>
                <a:rPr lang="en-US" altLang="ko-KR" sz="1200" dirty="0"/>
                <a:t>17_</a:t>
              </a:r>
              <a:r>
                <a:rPr lang="en" altLang="ko-KR" sz="1200" dirty="0"/>
                <a:t>OTHERIND (</a:t>
              </a:r>
              <a:r>
                <a:rPr lang="ko-KR" altLang="en-US" sz="1200" dirty="0"/>
                <a:t>기타 산업제품</a:t>
              </a:r>
              <a:r>
                <a:rPr lang="en-US" altLang="ko-KR" sz="1200" dirty="0"/>
                <a:t>)</a:t>
              </a:r>
            </a:p>
          </p:txBody>
        </p:sp>
        <p:sp>
          <p:nvSpPr>
            <p:cNvPr id="20" name="직사각형 27">
              <a:extLst>
                <a:ext uri="{FF2B5EF4-FFF2-40B4-BE49-F238E27FC236}">
                  <a16:creationId xmlns:a16="http://schemas.microsoft.com/office/drawing/2014/main" id="{D68D0355-6BD5-A2BF-26E2-149B093FC0C4}"/>
                </a:ext>
              </a:extLst>
            </p:cNvPr>
            <p:cNvSpPr/>
            <p:nvPr/>
          </p:nvSpPr>
          <p:spPr>
            <a:xfrm>
              <a:off x="456760" y="1024183"/>
              <a:ext cx="80901" cy="313200"/>
            </a:xfrm>
            <a:custGeom>
              <a:avLst/>
              <a:gdLst/>
              <a:ahLst/>
              <a:cxnLst/>
              <a:rect l="l" t="t" r="r" b="b"/>
              <a:pathLst>
                <a:path w="927337" h="1334252">
                  <a:moveTo>
                    <a:pt x="0" y="0"/>
                  </a:moveTo>
                  <a:lnTo>
                    <a:pt x="927337" y="0"/>
                  </a:lnTo>
                  <a:lnTo>
                    <a:pt x="269673" y="1334252"/>
                  </a:lnTo>
                  <a:lnTo>
                    <a:pt x="0" y="1334252"/>
                  </a:lnTo>
                  <a:close/>
                </a:path>
              </a:pathLst>
            </a:custGeom>
            <a:solidFill>
              <a:schemeClr val="bg1">
                <a:alpha val="12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2" name="직사각형 1">
            <a:extLst>
              <a:ext uri="{FF2B5EF4-FFF2-40B4-BE49-F238E27FC236}">
                <a16:creationId xmlns:a16="http://schemas.microsoft.com/office/drawing/2014/main" id="{2401B39B-5471-3FC4-B6FC-B0B7900C7FBE}"/>
              </a:ext>
            </a:extLst>
          </p:cNvPr>
          <p:cNvSpPr/>
          <p:nvPr/>
        </p:nvSpPr>
        <p:spPr>
          <a:xfrm>
            <a:off x="562172" y="1087242"/>
            <a:ext cx="9734163" cy="400110"/>
          </a:xfrm>
          <a:prstGeom prst="rect">
            <a:avLst/>
          </a:prstGeom>
        </p:spPr>
        <p:txBody>
          <a:bodyPr wrap="square" anchor="ctr" anchorCtr="0">
            <a:spAutoFit/>
          </a:bodyPr>
          <a:lstStyle/>
          <a:p>
            <a:pPr lvl="0">
              <a:defRPr/>
            </a:pPr>
            <a:r>
              <a:rPr lang="ko-KR" altLang="en-US" sz="2000" b="1" kern="0" spc="-150" dirty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prstClr val="black"/>
                </a:solidFill>
                <a:ea typeface="맑은 고딕" panose="020B0503020000020004" pitchFamily="50" charset="-127"/>
              </a:rPr>
              <a:t>내적 정합성 검증</a:t>
            </a:r>
            <a:r>
              <a:rPr lang="en-US" altLang="ko-KR" sz="2000" b="1" kern="0" spc="-150" dirty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prstClr val="black"/>
                </a:solidFill>
                <a:ea typeface="맑은 고딕" panose="020B0503020000020004" pitchFamily="50" charset="-127"/>
              </a:rPr>
              <a:t>_(1)</a:t>
            </a:r>
            <a:r>
              <a:rPr lang="ko-KR" altLang="en-US" sz="2000" b="1" kern="0" spc="-150" dirty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prstClr val="black"/>
                </a:solidFill>
                <a:ea typeface="맑은 고딕" panose="020B0503020000020004" pitchFamily="50" charset="-127"/>
              </a:rPr>
              <a:t> 소비구조 변화</a:t>
            </a:r>
            <a:endParaRPr lang="ko-KR" altLang="en-US" sz="1400" b="1" kern="0" spc="-150" dirty="0">
              <a:ln>
                <a:solidFill>
                  <a:srgbClr val="4472C4">
                    <a:alpha val="0"/>
                  </a:srgbClr>
                </a:solidFill>
              </a:ln>
              <a:solidFill>
                <a:srgbClr val="1F497D"/>
              </a:solidFill>
              <a:ea typeface="맑은 고딕" panose="020B0503020000020004" pitchFamily="50" charset="-127"/>
            </a:endParaRPr>
          </a:p>
        </p:txBody>
      </p:sp>
      <p:sp>
        <p:nvSpPr>
          <p:cNvPr id="3" name="모서리가 둥근 직사각형 2">
            <a:extLst>
              <a:ext uri="{FF2B5EF4-FFF2-40B4-BE49-F238E27FC236}">
                <a16:creationId xmlns:a16="http://schemas.microsoft.com/office/drawing/2014/main" id="{C31C644A-52B7-B30E-3DC5-D103E782DEC2}"/>
              </a:ext>
            </a:extLst>
          </p:cNvPr>
          <p:cNvSpPr/>
          <p:nvPr/>
        </p:nvSpPr>
        <p:spPr>
          <a:xfrm>
            <a:off x="9928638" y="996910"/>
            <a:ext cx="1995055" cy="439387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1600" dirty="0"/>
              <a:t>내적 정합성 검증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9CDD1AF-F140-4ACF-5C73-625F2EE9499A}"/>
              </a:ext>
            </a:extLst>
          </p:cNvPr>
          <p:cNvSpPr txBox="1"/>
          <p:nvPr/>
        </p:nvSpPr>
        <p:spPr>
          <a:xfrm>
            <a:off x="3547065" y="6343564"/>
            <a:ext cx="509787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sz="1400" b="1" i="1" dirty="0">
                <a:solidFill>
                  <a:srgbClr val="C00000"/>
                </a:solidFill>
                <a:latin typeface="NanumBarunGothicOTF" panose="02020603020101020101" pitchFamily="18" charset="-127"/>
                <a:ea typeface="NanumBarunGothicOTF" panose="02020603020101020101" pitchFamily="18" charset="-127"/>
              </a:rPr>
              <a:t>기존 소비 품목을 한국은행 대분류 기준 </a:t>
            </a:r>
            <a:r>
              <a:rPr kumimoji="1" lang="en-US" altLang="ko-KR" sz="1400" b="1" i="1" dirty="0">
                <a:solidFill>
                  <a:srgbClr val="C00000"/>
                </a:solidFill>
                <a:latin typeface="NanumBarunGothicOTF" panose="02020603020101020101" pitchFamily="18" charset="-127"/>
                <a:ea typeface="NanumBarunGothicOTF" panose="02020603020101020101" pitchFamily="18" charset="-127"/>
              </a:rPr>
              <a:t>6</a:t>
            </a:r>
            <a:r>
              <a:rPr kumimoji="1" lang="ko-KR" altLang="en-US" sz="1400" b="1" i="1" dirty="0">
                <a:solidFill>
                  <a:srgbClr val="C00000"/>
                </a:solidFill>
                <a:latin typeface="NanumBarunGothicOTF" panose="02020603020101020101" pitchFamily="18" charset="-127"/>
                <a:ea typeface="NanumBarunGothicOTF" panose="02020603020101020101" pitchFamily="18" charset="-127"/>
              </a:rPr>
              <a:t>개 품목으로 </a:t>
            </a:r>
            <a:r>
              <a:rPr kumimoji="1" lang="ko-KR" altLang="en-US" sz="1400" b="1" i="1" dirty="0" err="1">
                <a:solidFill>
                  <a:srgbClr val="C00000"/>
                </a:solidFill>
                <a:latin typeface="NanumBarunGothicOTF" panose="02020603020101020101" pitchFamily="18" charset="-127"/>
                <a:ea typeface="NanumBarunGothicOTF" panose="02020603020101020101" pitchFamily="18" charset="-127"/>
              </a:rPr>
              <a:t>재분류하여</a:t>
            </a:r>
            <a:r>
              <a:rPr kumimoji="1" lang="ko-KR" altLang="en-US" sz="1400" b="1" i="1" dirty="0">
                <a:solidFill>
                  <a:srgbClr val="C00000"/>
                </a:solidFill>
                <a:latin typeface="NanumBarunGothicOTF" panose="02020603020101020101" pitchFamily="18" charset="-127"/>
                <a:ea typeface="NanumBarunGothicOTF" panose="02020603020101020101" pitchFamily="18" charset="-127"/>
              </a:rPr>
              <a:t> 진행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1D6583E-4BEA-7DF5-A742-B62E82D2EFCD}"/>
              </a:ext>
            </a:extLst>
          </p:cNvPr>
          <p:cNvSpPr txBox="1"/>
          <p:nvPr/>
        </p:nvSpPr>
        <p:spPr>
          <a:xfrm>
            <a:off x="9444521" y="1902178"/>
            <a:ext cx="2257422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b="1" dirty="0"/>
              <a:t>4. </a:t>
            </a:r>
            <a:r>
              <a:rPr lang="ko-KR" altLang="en-US" sz="1200" b="1" dirty="0"/>
              <a:t>전력</a:t>
            </a:r>
            <a:r>
              <a:rPr lang="en-US" altLang="ko-KR" sz="1200" b="1" dirty="0"/>
              <a:t>, </a:t>
            </a:r>
            <a:r>
              <a:rPr lang="ko-KR" altLang="en-US" sz="1200" b="1" dirty="0"/>
              <a:t>가스</a:t>
            </a:r>
            <a:r>
              <a:rPr lang="en-US" altLang="ko-KR" sz="1200" b="1" dirty="0"/>
              <a:t>, </a:t>
            </a:r>
            <a:r>
              <a:rPr lang="ko-KR" altLang="en-US" sz="1200" b="1" dirty="0"/>
              <a:t>수도 및 폐기물</a:t>
            </a:r>
          </a:p>
          <a:p>
            <a:r>
              <a:rPr lang="en-US" altLang="ko-KR" sz="1200" dirty="0"/>
              <a:t>18_</a:t>
            </a:r>
            <a:r>
              <a:rPr lang="en" altLang="ko-KR" sz="1200" dirty="0"/>
              <a:t>ELEC (</a:t>
            </a:r>
            <a:r>
              <a:rPr lang="ko-KR" altLang="en-US" sz="1200" dirty="0"/>
              <a:t>전력</a:t>
            </a:r>
            <a:r>
              <a:rPr lang="en-US" altLang="ko-KR" sz="1200" dirty="0"/>
              <a:t>)</a:t>
            </a:r>
          </a:p>
          <a:p>
            <a:r>
              <a:rPr lang="en-US" altLang="ko-KR" sz="1200" dirty="0"/>
              <a:t>21_</a:t>
            </a:r>
            <a:r>
              <a:rPr lang="en" altLang="ko-KR" sz="1200" dirty="0"/>
              <a:t>WTRP (</a:t>
            </a:r>
            <a:r>
              <a:rPr lang="ko-KR" altLang="en-US" sz="1200" dirty="0"/>
              <a:t>수도</a:t>
            </a:r>
            <a:r>
              <a:rPr lang="en-US" altLang="ko-KR" sz="1200" dirty="0"/>
              <a:t>)</a:t>
            </a:r>
          </a:p>
          <a:p>
            <a:r>
              <a:rPr lang="en-US" altLang="ko-KR" sz="1200" dirty="0"/>
              <a:t>22_</a:t>
            </a:r>
            <a:r>
              <a:rPr lang="en" altLang="ko-KR" sz="1200" dirty="0"/>
              <a:t>ATRP (</a:t>
            </a:r>
            <a:r>
              <a:rPr lang="ko-KR" altLang="en-US" sz="1200" dirty="0"/>
              <a:t>폐기물</a:t>
            </a:r>
            <a:r>
              <a:rPr lang="en-US" altLang="ko-KR" sz="1200" dirty="0"/>
              <a:t>)</a:t>
            </a:r>
          </a:p>
          <a:p>
            <a:endParaRPr lang="en-US" altLang="ko-KR" sz="1200" dirty="0"/>
          </a:p>
          <a:p>
            <a:r>
              <a:rPr lang="en-US" altLang="ko-KR" sz="1200" b="1" dirty="0"/>
              <a:t>5. </a:t>
            </a:r>
            <a:r>
              <a:rPr lang="ko-KR" altLang="en-US" sz="1200" b="1" dirty="0"/>
              <a:t>건설</a:t>
            </a:r>
          </a:p>
          <a:p>
            <a:r>
              <a:rPr lang="en-US" altLang="ko-KR" sz="1200" dirty="0"/>
              <a:t>19_</a:t>
            </a:r>
            <a:r>
              <a:rPr lang="en" altLang="ko-KR" sz="1200" dirty="0"/>
              <a:t>CONSTRUC</a:t>
            </a:r>
          </a:p>
          <a:p>
            <a:endParaRPr lang="en" altLang="ko-KR" sz="1200" dirty="0"/>
          </a:p>
          <a:p>
            <a:r>
              <a:rPr lang="en-US" altLang="ko-KR" sz="1200" b="1" dirty="0"/>
              <a:t>6. </a:t>
            </a:r>
            <a:r>
              <a:rPr lang="ko-KR" altLang="en-US" sz="1200" b="1" dirty="0"/>
              <a:t>서비스</a:t>
            </a:r>
          </a:p>
          <a:p>
            <a:r>
              <a:rPr lang="en-US" altLang="ko-KR" sz="1200" dirty="0"/>
              <a:t>20_</a:t>
            </a:r>
            <a:r>
              <a:rPr lang="en" altLang="ko-KR" sz="1200" dirty="0"/>
              <a:t>LTRP (</a:t>
            </a:r>
            <a:r>
              <a:rPr lang="ko-KR" altLang="en-US" sz="1200" dirty="0"/>
              <a:t>도소매 및 운송</a:t>
            </a:r>
            <a:r>
              <a:rPr lang="en-US" altLang="ko-KR" sz="1200" dirty="0"/>
              <a:t>)</a:t>
            </a:r>
          </a:p>
          <a:p>
            <a:r>
              <a:rPr lang="en-US" altLang="ko-KR" sz="1200" dirty="0"/>
              <a:t>23_</a:t>
            </a:r>
            <a:r>
              <a:rPr lang="en" altLang="ko-KR" sz="1200" dirty="0"/>
              <a:t>SER (</a:t>
            </a:r>
            <a:r>
              <a:rPr lang="ko-KR" altLang="en-US" sz="1200" dirty="0"/>
              <a:t>기타 서비스</a:t>
            </a:r>
            <a:r>
              <a:rPr lang="en-US" altLang="ko-KR" sz="1200" dirty="0"/>
              <a:t>: </a:t>
            </a:r>
            <a:r>
              <a:rPr lang="ko-KR" altLang="en-US" sz="1200" dirty="0"/>
              <a:t>정보통신</a:t>
            </a:r>
            <a:r>
              <a:rPr lang="en-US" altLang="ko-KR" sz="1200" dirty="0"/>
              <a:t>, </a:t>
            </a:r>
            <a:r>
              <a:rPr lang="ko-KR" altLang="en-US" sz="1200" dirty="0"/>
              <a:t>금융</a:t>
            </a:r>
            <a:r>
              <a:rPr lang="en-US" altLang="ko-KR" sz="1200" dirty="0"/>
              <a:t>, </a:t>
            </a:r>
            <a:r>
              <a:rPr lang="ko-KR" altLang="en-US" sz="1200" dirty="0"/>
              <a:t>교육</a:t>
            </a:r>
            <a:r>
              <a:rPr lang="en-US" altLang="ko-KR" sz="1200" dirty="0"/>
              <a:t>, </a:t>
            </a:r>
            <a:r>
              <a:rPr lang="ko-KR" altLang="en-US" sz="1200" dirty="0"/>
              <a:t>보건 등</a:t>
            </a:r>
            <a:r>
              <a:rPr lang="en-US" altLang="ko-KR" sz="1200" dirty="0"/>
              <a:t>)</a:t>
            </a:r>
          </a:p>
        </p:txBody>
      </p:sp>
      <p:pic>
        <p:nvPicPr>
          <p:cNvPr id="12" name="그림 11" descr="텍스트, 스크린샷, 번호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F0AAC1B8-42C3-99D1-80DE-ADF43A1BB1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0800" y="1761195"/>
            <a:ext cx="5699821" cy="4308526"/>
          </a:xfrm>
          <a:prstGeom prst="rect">
            <a:avLst/>
          </a:prstGeom>
        </p:spPr>
      </p:pic>
      <p:sp>
        <p:nvSpPr>
          <p:cNvPr id="18" name="그래픽 1">
            <a:extLst>
              <a:ext uri="{FF2B5EF4-FFF2-40B4-BE49-F238E27FC236}">
                <a16:creationId xmlns:a16="http://schemas.microsoft.com/office/drawing/2014/main" id="{8F143355-466D-F955-6AE6-339F489AE256}"/>
              </a:ext>
            </a:extLst>
          </p:cNvPr>
          <p:cNvSpPr/>
          <p:nvPr/>
        </p:nvSpPr>
        <p:spPr>
          <a:xfrm rot="5400000">
            <a:off x="4651883" y="3670496"/>
            <a:ext cx="3429000" cy="771525"/>
          </a:xfrm>
          <a:custGeom>
            <a:avLst/>
            <a:gdLst>
              <a:gd name="connsiteX0" fmla="*/ 3429000 w 3429000"/>
              <a:gd name="connsiteY0" fmla="*/ 771525 h 771525"/>
              <a:gd name="connsiteX1" fmla="*/ 2057400 w 3429000"/>
              <a:gd name="connsiteY1" fmla="*/ 257175 h 771525"/>
              <a:gd name="connsiteX2" fmla="*/ 2400300 w 3429000"/>
              <a:gd name="connsiteY2" fmla="*/ 257175 h 771525"/>
              <a:gd name="connsiteX3" fmla="*/ 1714500 w 3429000"/>
              <a:gd name="connsiteY3" fmla="*/ 0 h 771525"/>
              <a:gd name="connsiteX4" fmla="*/ 1028700 w 3429000"/>
              <a:gd name="connsiteY4" fmla="*/ 257175 h 771525"/>
              <a:gd name="connsiteX5" fmla="*/ 1371600 w 3429000"/>
              <a:gd name="connsiteY5" fmla="*/ 257175 h 771525"/>
              <a:gd name="connsiteX6" fmla="*/ 0 w 3429000"/>
              <a:gd name="connsiteY6" fmla="*/ 771525 h 771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429000" h="771525">
                <a:moveTo>
                  <a:pt x="3429000" y="771525"/>
                </a:moveTo>
                <a:cubicBezTo>
                  <a:pt x="2314575" y="600075"/>
                  <a:pt x="2057400" y="257175"/>
                  <a:pt x="2057400" y="257175"/>
                </a:cubicBezTo>
                <a:lnTo>
                  <a:pt x="2400300" y="257175"/>
                </a:lnTo>
                <a:lnTo>
                  <a:pt x="1714500" y="0"/>
                </a:lnTo>
                <a:lnTo>
                  <a:pt x="1028700" y="257175"/>
                </a:lnTo>
                <a:lnTo>
                  <a:pt x="1371600" y="257175"/>
                </a:lnTo>
                <a:cubicBezTo>
                  <a:pt x="1371600" y="257175"/>
                  <a:pt x="1114425" y="600075"/>
                  <a:pt x="0" y="771525"/>
                </a:cubicBezTo>
              </a:path>
            </a:pathLst>
          </a:custGeom>
          <a:gradFill>
            <a:gsLst>
              <a:gs pos="89381">
                <a:schemeClr val="accent3"/>
              </a:gs>
              <a:gs pos="26550">
                <a:schemeClr val="accent3">
                  <a:alpha val="34000"/>
                </a:schemeClr>
              </a:gs>
              <a:gs pos="76106">
                <a:schemeClr val="accent3">
                  <a:alpha val="80000"/>
                </a:schemeClr>
              </a:gs>
              <a:gs pos="0">
                <a:schemeClr val="bg1">
                  <a:alpha val="0"/>
                </a:schemeClr>
              </a:gs>
              <a:gs pos="50000">
                <a:schemeClr val="accent3">
                  <a:alpha val="50000"/>
                </a:schemeClr>
              </a:gs>
            </a:gsLst>
            <a:lin ang="16200000" scaled="0"/>
          </a:gra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sp>
        <p:nvSpPr>
          <p:cNvPr id="4" name="모서리가 둥근 직사각형 3">
            <a:extLst>
              <a:ext uri="{FF2B5EF4-FFF2-40B4-BE49-F238E27FC236}">
                <a16:creationId xmlns:a16="http://schemas.microsoft.com/office/drawing/2014/main" id="{F3BAFF2A-A4DE-6753-CDB3-8D66C3FCD5C6}"/>
              </a:ext>
            </a:extLst>
          </p:cNvPr>
          <p:cNvSpPr/>
          <p:nvPr/>
        </p:nvSpPr>
        <p:spPr>
          <a:xfrm>
            <a:off x="6825824" y="1577684"/>
            <a:ext cx="5097869" cy="4618400"/>
          </a:xfrm>
          <a:prstGeom prst="round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40491970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6BF9D8-C75E-2EAF-E616-41793FB7A2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차트 5">
            <a:extLst>
              <a:ext uri="{FF2B5EF4-FFF2-40B4-BE49-F238E27FC236}">
                <a16:creationId xmlns:a16="http://schemas.microsoft.com/office/drawing/2014/main" id="{07AFBB0E-198A-AA42-AACF-8A1B50EE7C7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413274121"/>
              </p:ext>
            </p:extLst>
          </p:nvPr>
        </p:nvGraphicFramePr>
        <p:xfrm>
          <a:off x="6600716" y="1538244"/>
          <a:ext cx="4665280" cy="357810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4" name="차트 3">
            <a:extLst>
              <a:ext uri="{FF2B5EF4-FFF2-40B4-BE49-F238E27FC236}">
                <a16:creationId xmlns:a16="http://schemas.microsoft.com/office/drawing/2014/main" id="{89FD3923-A530-9A4F-A572-2D498A93C54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075617191"/>
              </p:ext>
            </p:extLst>
          </p:nvPr>
        </p:nvGraphicFramePr>
        <p:xfrm>
          <a:off x="885929" y="1585048"/>
          <a:ext cx="4665280" cy="357810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pSp>
        <p:nvGrpSpPr>
          <p:cNvPr id="8" name="그룹 7">
            <a:extLst>
              <a:ext uri="{FF2B5EF4-FFF2-40B4-BE49-F238E27FC236}">
                <a16:creationId xmlns:a16="http://schemas.microsoft.com/office/drawing/2014/main" id="{A5D9156C-3BC8-A2B3-A7E3-DD59A9849FB4}"/>
              </a:ext>
            </a:extLst>
          </p:cNvPr>
          <p:cNvGrpSpPr/>
          <p:nvPr/>
        </p:nvGrpSpPr>
        <p:grpSpPr>
          <a:xfrm>
            <a:off x="280800" y="491352"/>
            <a:ext cx="8089700" cy="977190"/>
            <a:chOff x="278836" y="391603"/>
            <a:chExt cx="8089700" cy="977190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B8EBD57B-0271-08E6-C183-68A8B00205D1}"/>
                </a:ext>
              </a:extLst>
            </p:cNvPr>
            <p:cNvSpPr txBox="1"/>
            <p:nvPr/>
          </p:nvSpPr>
          <p:spPr>
            <a:xfrm>
              <a:off x="278836" y="391603"/>
              <a:ext cx="700513" cy="5693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3100" b="1" spc="-13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2">
                      <a:lumMod val="50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01.</a:t>
              </a:r>
              <a:endParaRPr lang="ko-KR" altLang="en-US" sz="3100" b="1" spc="-13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2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5F086079-C6D4-52F8-308E-8934AF02277F}"/>
                </a:ext>
              </a:extLst>
            </p:cNvPr>
            <p:cNvSpPr txBox="1"/>
            <p:nvPr/>
          </p:nvSpPr>
          <p:spPr>
            <a:xfrm>
              <a:off x="908667" y="414686"/>
              <a:ext cx="7459869" cy="954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2800" b="1" spc="-150" dirty="0">
                  <a:latin typeface="+mn-ea"/>
                </a:rPr>
                <a:t>AQ Linkage</a:t>
              </a:r>
              <a:r>
                <a:rPr lang="ko-KR" altLang="en-US" sz="2800" b="1" spc="-150" dirty="0">
                  <a:latin typeface="+mn-ea"/>
                </a:rPr>
                <a:t> 결과 검증</a:t>
              </a:r>
              <a:endParaRPr lang="en-US" altLang="ko-KR" sz="2800" b="1" spc="-150" dirty="0">
                <a:latin typeface="+mn-ea"/>
              </a:endParaRPr>
            </a:p>
            <a:p>
              <a:endParaRPr lang="en-US" altLang="ko-KR" sz="2800" b="1" spc="-1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259E259F-F16E-3363-726A-963FD6A56C5D}"/>
              </a:ext>
            </a:extLst>
          </p:cNvPr>
          <p:cNvGrpSpPr/>
          <p:nvPr/>
        </p:nvGrpSpPr>
        <p:grpSpPr>
          <a:xfrm>
            <a:off x="414000" y="1149913"/>
            <a:ext cx="140400" cy="313200"/>
            <a:chOff x="3767328" y="1146994"/>
            <a:chExt cx="1609344" cy="1334252"/>
          </a:xfrm>
        </p:grpSpPr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68D1FAE5-68A1-1BF3-B997-0EC8E4918312}"/>
                </a:ext>
              </a:extLst>
            </p:cNvPr>
            <p:cNvSpPr/>
            <p:nvPr/>
          </p:nvSpPr>
          <p:spPr>
            <a:xfrm>
              <a:off x="3767328" y="1146994"/>
              <a:ext cx="1609344" cy="1334252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" name="직사각형 27">
              <a:extLst>
                <a:ext uri="{FF2B5EF4-FFF2-40B4-BE49-F238E27FC236}">
                  <a16:creationId xmlns:a16="http://schemas.microsoft.com/office/drawing/2014/main" id="{5A96A4DD-53BF-5F66-AD71-DD0DEA7EC2C8}"/>
                </a:ext>
              </a:extLst>
            </p:cNvPr>
            <p:cNvSpPr/>
            <p:nvPr/>
          </p:nvSpPr>
          <p:spPr>
            <a:xfrm>
              <a:off x="3767328" y="1146994"/>
              <a:ext cx="927337" cy="1334252"/>
            </a:xfrm>
            <a:custGeom>
              <a:avLst/>
              <a:gdLst/>
              <a:ahLst/>
              <a:cxnLst/>
              <a:rect l="l" t="t" r="r" b="b"/>
              <a:pathLst>
                <a:path w="927337" h="1334252">
                  <a:moveTo>
                    <a:pt x="0" y="0"/>
                  </a:moveTo>
                  <a:lnTo>
                    <a:pt x="927337" y="0"/>
                  </a:lnTo>
                  <a:lnTo>
                    <a:pt x="269673" y="1334252"/>
                  </a:lnTo>
                  <a:lnTo>
                    <a:pt x="0" y="1334252"/>
                  </a:lnTo>
                  <a:close/>
                </a:path>
              </a:pathLst>
            </a:custGeom>
            <a:solidFill>
              <a:schemeClr val="bg1">
                <a:alpha val="12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20" name="직사각형 27">
            <a:extLst>
              <a:ext uri="{FF2B5EF4-FFF2-40B4-BE49-F238E27FC236}">
                <a16:creationId xmlns:a16="http://schemas.microsoft.com/office/drawing/2014/main" id="{155A3FF0-D458-B565-79EB-F345CD440BA6}"/>
              </a:ext>
            </a:extLst>
          </p:cNvPr>
          <p:cNvSpPr/>
          <p:nvPr/>
        </p:nvSpPr>
        <p:spPr>
          <a:xfrm>
            <a:off x="-2252700" y="1538244"/>
            <a:ext cx="80901" cy="313200"/>
          </a:xfrm>
          <a:custGeom>
            <a:avLst/>
            <a:gdLst/>
            <a:ahLst/>
            <a:cxnLst/>
            <a:rect l="l" t="t" r="r" b="b"/>
            <a:pathLst>
              <a:path w="927337" h="1334252">
                <a:moveTo>
                  <a:pt x="0" y="0"/>
                </a:moveTo>
                <a:lnTo>
                  <a:pt x="927337" y="0"/>
                </a:lnTo>
                <a:lnTo>
                  <a:pt x="269673" y="1334252"/>
                </a:lnTo>
                <a:lnTo>
                  <a:pt x="0" y="1334252"/>
                </a:lnTo>
                <a:close/>
              </a:path>
            </a:pathLst>
          </a:custGeom>
          <a:solidFill>
            <a:schemeClr val="bg1">
              <a:alpha val="1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90ABA02D-12CC-5F55-6235-298DD000AA35}"/>
              </a:ext>
            </a:extLst>
          </p:cNvPr>
          <p:cNvSpPr/>
          <p:nvPr/>
        </p:nvSpPr>
        <p:spPr>
          <a:xfrm>
            <a:off x="562172" y="1087242"/>
            <a:ext cx="9734163" cy="400110"/>
          </a:xfrm>
          <a:prstGeom prst="rect">
            <a:avLst/>
          </a:prstGeom>
        </p:spPr>
        <p:txBody>
          <a:bodyPr wrap="square" anchor="ctr" anchorCtr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2000" b="1" kern="0" spc="-150" dirty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내적 정합성 검증</a:t>
            </a:r>
            <a:r>
              <a:rPr lang="en-US" altLang="ko-KR" sz="2000" b="1" kern="0" spc="-150" dirty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_(1)</a:t>
            </a:r>
            <a:r>
              <a:rPr lang="ko-KR" altLang="en-US" sz="2000" b="1" kern="0" spc="-150" dirty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 소비구조 변화</a:t>
            </a:r>
            <a:endParaRPr kumimoji="0" lang="ko-KR" altLang="en-US" sz="1400" b="1" i="0" u="none" strike="noStrike" kern="0" cap="none" spc="-150" normalizeH="0" baseline="0" noProof="0" dirty="0">
              <a:ln>
                <a:solidFill>
                  <a:srgbClr val="4472C4">
                    <a:alpha val="0"/>
                  </a:srgbClr>
                </a:solidFill>
              </a:ln>
              <a:solidFill>
                <a:srgbClr val="1F497D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1" name="모서리가 둥근 직사각형 10">
            <a:extLst>
              <a:ext uri="{FF2B5EF4-FFF2-40B4-BE49-F238E27FC236}">
                <a16:creationId xmlns:a16="http://schemas.microsoft.com/office/drawing/2014/main" id="{BA8683FB-5943-42DC-A47C-869E86BB2289}"/>
              </a:ext>
            </a:extLst>
          </p:cNvPr>
          <p:cNvSpPr/>
          <p:nvPr/>
        </p:nvSpPr>
        <p:spPr>
          <a:xfrm>
            <a:off x="2293378" y="1526725"/>
            <a:ext cx="1850382" cy="400110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400" b="1" dirty="0"/>
              <a:t>01_</a:t>
            </a:r>
            <a:r>
              <a:rPr kumimoji="1" lang="ko-KR" altLang="en-US" sz="1400" b="1" dirty="0"/>
              <a:t>대한민국</a:t>
            </a:r>
          </a:p>
        </p:txBody>
      </p:sp>
      <p:sp>
        <p:nvSpPr>
          <p:cNvPr id="19" name="모서리가 둥근 직사각형 18">
            <a:extLst>
              <a:ext uri="{FF2B5EF4-FFF2-40B4-BE49-F238E27FC236}">
                <a16:creationId xmlns:a16="http://schemas.microsoft.com/office/drawing/2014/main" id="{3C5696B2-0A85-2674-47C4-3215222552F3}"/>
              </a:ext>
            </a:extLst>
          </p:cNvPr>
          <p:cNvSpPr/>
          <p:nvPr/>
        </p:nvSpPr>
        <p:spPr>
          <a:xfrm>
            <a:off x="8048242" y="1460960"/>
            <a:ext cx="1850382" cy="400110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400" b="1" dirty="0"/>
              <a:t>02_</a:t>
            </a:r>
            <a:r>
              <a:rPr kumimoji="1" lang="ko-KR" altLang="en-US" sz="1400" b="1" dirty="0"/>
              <a:t>중국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0CBC7ED-AA1B-47FE-2592-0869673124CA}"/>
              </a:ext>
            </a:extLst>
          </p:cNvPr>
          <p:cNvSpPr txBox="1"/>
          <p:nvPr/>
        </p:nvSpPr>
        <p:spPr>
          <a:xfrm>
            <a:off x="6409044" y="5163156"/>
            <a:ext cx="5328506" cy="138499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pPr marL="171450" indent="-171450">
              <a:buFont typeface="Wingdings" pitchFamily="2" charset="2"/>
              <a:buChar char="ü"/>
            </a:pPr>
            <a:r>
              <a:rPr lang="en-US" altLang="ko-KR" sz="1200" dirty="0"/>
              <a:t>2050</a:t>
            </a:r>
            <a:r>
              <a:rPr lang="ko-KR" altLang="en-US" sz="1200" dirty="0"/>
              <a:t>년 중국의 총 최종소비 지출은 </a:t>
            </a:r>
            <a:r>
              <a:rPr lang="en-US" altLang="ko-KR" sz="1200" dirty="0"/>
              <a:t>2019</a:t>
            </a:r>
            <a:r>
              <a:rPr lang="ko-KR" altLang="en-US" sz="1200" dirty="0"/>
              <a:t>년 대비 약 </a:t>
            </a:r>
            <a:r>
              <a:rPr lang="en-US" altLang="ko-KR" sz="1200" dirty="0"/>
              <a:t>30~40% </a:t>
            </a:r>
            <a:r>
              <a:rPr lang="ko-KR" altLang="en-US" sz="1200" dirty="0"/>
              <a:t>이상 증가</a:t>
            </a:r>
          </a:p>
          <a:p>
            <a:pPr marL="171450" indent="-171450">
              <a:buFont typeface="Wingdings" pitchFamily="2" charset="2"/>
              <a:buChar char="ü"/>
            </a:pPr>
            <a:r>
              <a:rPr lang="ko-KR" altLang="en-US" sz="1200" dirty="0"/>
              <a:t>농림수산품</a:t>
            </a:r>
            <a:r>
              <a:rPr lang="en-US" altLang="ko-KR" sz="1200" dirty="0"/>
              <a:t>(1</a:t>
            </a:r>
            <a:r>
              <a:rPr lang="ko-KR" altLang="en-US" sz="1200" dirty="0"/>
              <a:t>번</a:t>
            </a:r>
            <a:r>
              <a:rPr lang="en-US" altLang="ko-KR" sz="1200" dirty="0"/>
              <a:t>), </a:t>
            </a:r>
            <a:r>
              <a:rPr lang="ko-KR" altLang="en-US" sz="1200" dirty="0" err="1"/>
              <a:t>광산품</a:t>
            </a:r>
            <a:r>
              <a:rPr lang="en-US" altLang="ko-KR" sz="1200" dirty="0"/>
              <a:t>(2</a:t>
            </a:r>
            <a:r>
              <a:rPr lang="ko-KR" altLang="en-US" sz="1200" dirty="0"/>
              <a:t>번</a:t>
            </a:r>
            <a:r>
              <a:rPr lang="en-US" altLang="ko-KR" sz="1200" dirty="0"/>
              <a:t>), </a:t>
            </a:r>
            <a:r>
              <a:rPr lang="ko-KR" altLang="en-US" sz="1200" dirty="0"/>
              <a:t>공산품</a:t>
            </a:r>
            <a:r>
              <a:rPr lang="en-US" altLang="ko-KR" sz="1200" dirty="0"/>
              <a:t>(3</a:t>
            </a:r>
            <a:r>
              <a:rPr lang="ko-KR" altLang="en-US" sz="1200" dirty="0"/>
              <a:t>번</a:t>
            </a:r>
            <a:r>
              <a:rPr lang="en-US" altLang="ko-KR" sz="1200" dirty="0"/>
              <a:t>) </a:t>
            </a:r>
            <a:r>
              <a:rPr lang="ko-KR" altLang="en-US" sz="1200" dirty="0"/>
              <a:t>등 </a:t>
            </a:r>
            <a:r>
              <a:rPr lang="en-US" altLang="ko-KR" sz="1200" b="1" dirty="0"/>
              <a:t>1</a:t>
            </a:r>
            <a:r>
              <a:rPr lang="ko-KR" altLang="en-US" sz="1200" b="1" dirty="0"/>
              <a:t>차</a:t>
            </a:r>
            <a:r>
              <a:rPr lang="en-US" altLang="ko-KR" sz="1200" b="1" dirty="0"/>
              <a:t>·</a:t>
            </a:r>
            <a:r>
              <a:rPr lang="ko-KR" altLang="en-US" sz="1200" b="1" dirty="0"/>
              <a:t>중간재 소비 부문 비중이 여전히 높고 일부는 확대</a:t>
            </a:r>
            <a:r>
              <a:rPr lang="ko-KR" altLang="en-US" sz="1200" dirty="0"/>
              <a:t>됨→ 농산물</a:t>
            </a:r>
            <a:r>
              <a:rPr lang="en-US" altLang="ko-KR" sz="1200" dirty="0"/>
              <a:t>·</a:t>
            </a:r>
            <a:r>
              <a:rPr lang="ko-KR" altLang="en-US" sz="1200" dirty="0"/>
              <a:t>에너지</a:t>
            </a:r>
            <a:r>
              <a:rPr lang="en-US" altLang="ko-KR" sz="1200" dirty="0"/>
              <a:t>·</a:t>
            </a:r>
            <a:r>
              <a:rPr lang="ko-KR" altLang="en-US" sz="1200" dirty="0" err="1"/>
              <a:t>기초재</a:t>
            </a:r>
            <a:r>
              <a:rPr lang="ko-KR" altLang="en-US" sz="1200" dirty="0"/>
              <a:t> 중심 소비 지속</a:t>
            </a:r>
          </a:p>
          <a:p>
            <a:pPr marL="171450" indent="-171450">
              <a:buFont typeface="Wingdings" pitchFamily="2" charset="2"/>
              <a:buChar char="ü"/>
            </a:pPr>
            <a:r>
              <a:rPr lang="ko-KR" altLang="en-US" sz="1200" dirty="0"/>
              <a:t>서비스</a:t>
            </a:r>
            <a:r>
              <a:rPr lang="en-US" altLang="ko-KR" sz="1200" dirty="0"/>
              <a:t>(6</a:t>
            </a:r>
            <a:r>
              <a:rPr lang="ko-KR" altLang="en-US" sz="1200" dirty="0"/>
              <a:t>번</a:t>
            </a:r>
            <a:r>
              <a:rPr lang="en-US" altLang="ko-KR" sz="1200" dirty="0"/>
              <a:t>) </a:t>
            </a:r>
            <a:r>
              <a:rPr lang="ko-KR" altLang="en-US" sz="1200" dirty="0"/>
              <a:t>비중은 </a:t>
            </a:r>
            <a:r>
              <a:rPr lang="en-US" altLang="ko-KR" sz="1200" dirty="0"/>
              <a:t>2019</a:t>
            </a:r>
            <a:r>
              <a:rPr lang="ko-KR" altLang="en-US" sz="1200" dirty="0"/>
              <a:t>년 </a:t>
            </a:r>
            <a:r>
              <a:rPr lang="en-US" altLang="ko-KR" sz="1200" dirty="0"/>
              <a:t>54% 2050</a:t>
            </a:r>
            <a:r>
              <a:rPr lang="ko-KR" altLang="en-US" sz="1200" dirty="0"/>
              <a:t>년 </a:t>
            </a:r>
            <a:r>
              <a:rPr lang="en-US" altLang="ko-KR" sz="1200" dirty="0"/>
              <a:t>43%</a:t>
            </a:r>
            <a:r>
              <a:rPr lang="ko-KR" altLang="en-US" sz="1200" dirty="0"/>
              <a:t>로 </a:t>
            </a:r>
            <a:r>
              <a:rPr lang="ko-KR" altLang="en-US" sz="1200" b="1" dirty="0"/>
              <a:t>오히려 감소</a:t>
            </a:r>
            <a:endParaRPr lang="ko-KR" altLang="en-US" sz="1200" dirty="0"/>
          </a:p>
          <a:p>
            <a:pPr marL="171450" indent="-171450">
              <a:buFont typeface="Wingdings" pitchFamily="2" charset="2"/>
              <a:buChar char="ü"/>
            </a:pPr>
            <a:r>
              <a:rPr lang="en" altLang="ko-KR" sz="1200" dirty="0"/>
              <a:t>AIDADS </a:t>
            </a:r>
            <a:r>
              <a:rPr lang="ko-KR" altLang="en-US" sz="1200" dirty="0"/>
              <a:t>기반의 고소득 소비 확장 경향이 뚜렷하지 않음</a:t>
            </a:r>
          </a:p>
          <a:p>
            <a:pPr marL="171450" indent="-171450">
              <a:buFont typeface="Wingdings" pitchFamily="2" charset="2"/>
              <a:buChar char="ü"/>
            </a:pPr>
            <a:r>
              <a:rPr lang="ko-KR" altLang="en-US" sz="1200" dirty="0"/>
              <a:t>전반적으로 </a:t>
            </a:r>
            <a:r>
              <a:rPr lang="en" altLang="ko-KR" sz="1200" dirty="0"/>
              <a:t>Engel’s </a:t>
            </a:r>
            <a:r>
              <a:rPr lang="en-US" altLang="ko-KR" sz="1200" dirty="0"/>
              <a:t>Law</a:t>
            </a:r>
            <a:r>
              <a:rPr lang="ko-KR" altLang="en-US" sz="1200" dirty="0" err="1"/>
              <a:t>에</a:t>
            </a:r>
            <a:r>
              <a:rPr lang="ko-KR" altLang="en-US" sz="1200" dirty="0"/>
              <a:t> 부합하지 않으며</a:t>
            </a:r>
            <a:r>
              <a:rPr lang="en-US" altLang="ko-KR" sz="1200" dirty="0"/>
              <a:t>, </a:t>
            </a:r>
            <a:r>
              <a:rPr lang="ko-KR" altLang="en-US" sz="1200" b="1" dirty="0" err="1"/>
              <a:t>중소득</a:t>
            </a:r>
            <a:r>
              <a:rPr lang="ko-KR" altLang="en-US" sz="1200" b="1" dirty="0"/>
              <a:t> 국가의 소비 구조가 유지되는 양상</a:t>
            </a:r>
            <a:r>
              <a:rPr lang="ko-KR" altLang="en-US" sz="1200" dirty="0"/>
              <a:t>으로 해석 가능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F9EF22D-CBBD-DAAB-CDBB-C5DD0A56D7AB}"/>
              </a:ext>
            </a:extLst>
          </p:cNvPr>
          <p:cNvSpPr txBox="1"/>
          <p:nvPr/>
        </p:nvSpPr>
        <p:spPr>
          <a:xfrm>
            <a:off x="454450" y="5163156"/>
            <a:ext cx="5641550" cy="138499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pPr marL="171450" indent="-171450" algn="ctr">
              <a:buFont typeface="Wingdings" pitchFamily="2" charset="2"/>
              <a:buChar char="ü"/>
            </a:pPr>
            <a:r>
              <a:rPr lang="en-US" altLang="ko-KR" sz="1200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2050</a:t>
            </a:r>
            <a:r>
              <a:rPr lang="ko-KR" altLang="en-US" sz="1200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년 총 최종소비 지출이 증가하며</a:t>
            </a:r>
            <a:r>
              <a:rPr lang="en-US" altLang="ko-KR" sz="1200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, </a:t>
            </a:r>
            <a:r>
              <a:rPr lang="ko-KR" altLang="en-US" sz="1200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경제 성장 및 소비 확대가 반영됨</a:t>
            </a:r>
          </a:p>
          <a:p>
            <a:pPr marL="171450" indent="-171450" algn="ctr">
              <a:buFont typeface="Wingdings" pitchFamily="2" charset="2"/>
              <a:buChar char="ü"/>
            </a:pPr>
            <a:r>
              <a:rPr lang="ko-KR" altLang="en-US" sz="1200" b="1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서비스 부문 비중이 가장 크게 증가</a:t>
            </a:r>
            <a:r>
              <a:rPr lang="ko-KR" altLang="en-US" sz="1200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하고</a:t>
            </a:r>
            <a:r>
              <a:rPr lang="en-US" altLang="ko-KR" sz="1200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, </a:t>
            </a:r>
            <a:r>
              <a:rPr lang="ko-KR" altLang="en-US" sz="1200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공산품 비중 또한 확대됨</a:t>
            </a:r>
          </a:p>
          <a:p>
            <a:pPr algn="ctr"/>
            <a:r>
              <a:rPr lang="ko-KR" altLang="en-US" sz="1200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→ 서비스</a:t>
            </a:r>
            <a:r>
              <a:rPr lang="en-US" altLang="ko-KR" sz="1200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(6</a:t>
            </a:r>
            <a:r>
              <a:rPr lang="ko-KR" altLang="en-US" sz="1200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번</a:t>
            </a:r>
            <a:r>
              <a:rPr lang="en-US" altLang="ko-KR" sz="1200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), </a:t>
            </a:r>
            <a:r>
              <a:rPr lang="ko-KR" altLang="en-US" sz="1200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공산품</a:t>
            </a:r>
            <a:r>
              <a:rPr lang="en-US" altLang="ko-KR" sz="1200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(3</a:t>
            </a:r>
            <a:r>
              <a:rPr lang="ko-KR" altLang="en-US" sz="1200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번</a:t>
            </a:r>
            <a:r>
              <a:rPr lang="en-US" altLang="ko-KR" sz="1200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)</a:t>
            </a:r>
            <a:r>
              <a:rPr lang="ko-KR" altLang="en-US" sz="1200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은 </a:t>
            </a:r>
            <a:r>
              <a:rPr lang="en" altLang="ko-KR" sz="1200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AIDADS </a:t>
            </a:r>
            <a:r>
              <a:rPr lang="ko-KR" altLang="en-US" sz="1200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수요체계에서 소득탄력성이 높은 항목</a:t>
            </a:r>
          </a:p>
          <a:p>
            <a:pPr marL="171450" indent="-171450" algn="ctr">
              <a:buFont typeface="Wingdings" pitchFamily="2" charset="2"/>
              <a:buChar char="ü"/>
            </a:pPr>
            <a:r>
              <a:rPr lang="ko-KR" altLang="en-US" sz="1200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농림수산품</a:t>
            </a:r>
            <a:r>
              <a:rPr lang="en-US" altLang="ko-KR" sz="1200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(1</a:t>
            </a:r>
            <a:r>
              <a:rPr lang="ko-KR" altLang="en-US" sz="1200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번</a:t>
            </a:r>
            <a:r>
              <a:rPr lang="en-US" altLang="ko-KR" sz="1200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), </a:t>
            </a:r>
            <a:r>
              <a:rPr lang="ko-KR" altLang="en-US" sz="1200" dirty="0" err="1">
                <a:latin typeface="Malgun Gothic" panose="020B0503020000020004" pitchFamily="34" charset="-127"/>
                <a:ea typeface="Malgun Gothic" panose="020B0503020000020004" pitchFamily="34" charset="-127"/>
              </a:rPr>
              <a:t>광산품</a:t>
            </a:r>
            <a:r>
              <a:rPr lang="en-US" altLang="ko-KR" sz="1200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(2</a:t>
            </a:r>
            <a:r>
              <a:rPr lang="ko-KR" altLang="en-US" sz="1200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번</a:t>
            </a:r>
            <a:r>
              <a:rPr lang="en-US" altLang="ko-KR" sz="1200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), </a:t>
            </a:r>
            <a:r>
              <a:rPr lang="ko-KR" altLang="en-US" sz="1200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전력</a:t>
            </a:r>
            <a:r>
              <a:rPr lang="en-US" altLang="ko-KR" sz="1200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·</a:t>
            </a:r>
            <a:r>
              <a:rPr lang="ko-KR" altLang="en-US" sz="1200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가스</a:t>
            </a:r>
            <a:r>
              <a:rPr lang="en-US" altLang="ko-KR" sz="1200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·</a:t>
            </a:r>
            <a:r>
              <a:rPr lang="ko-KR" altLang="en-US" sz="1200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수도</a:t>
            </a:r>
            <a:r>
              <a:rPr lang="en-US" altLang="ko-KR" sz="1200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·</a:t>
            </a:r>
            <a:r>
              <a:rPr lang="ko-KR" altLang="en-US" sz="1200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폐기물</a:t>
            </a:r>
            <a:r>
              <a:rPr lang="en-US" altLang="ko-KR" sz="1200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(4</a:t>
            </a:r>
            <a:r>
              <a:rPr lang="ko-KR" altLang="en-US" sz="1200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번</a:t>
            </a:r>
            <a:r>
              <a:rPr lang="en-US" altLang="ko-KR" sz="1200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) </a:t>
            </a:r>
            <a:r>
              <a:rPr lang="ko-KR" altLang="en-US" sz="1200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등 </a:t>
            </a:r>
            <a:r>
              <a:rPr lang="ko-KR" altLang="en-US" sz="1200" dirty="0" err="1">
                <a:latin typeface="Malgun Gothic" panose="020B0503020000020004" pitchFamily="34" charset="-127"/>
                <a:ea typeface="Malgun Gothic" panose="020B0503020000020004" pitchFamily="34" charset="-127"/>
              </a:rPr>
              <a:t>필수재</a:t>
            </a:r>
            <a:r>
              <a:rPr lang="ko-KR" altLang="en-US" sz="1200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 및 기본재는 상대적으로 비중이 정체 또는 감소</a:t>
            </a:r>
          </a:p>
          <a:p>
            <a:pPr marL="171450" indent="-171450" algn="ctr">
              <a:buFont typeface="Wingdings" pitchFamily="2" charset="2"/>
              <a:buChar char="ü"/>
            </a:pPr>
            <a:r>
              <a:rPr lang="ko-KR" altLang="en-US" sz="1200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소비지출 구조는 소득 증가에 따른 </a:t>
            </a:r>
            <a:r>
              <a:rPr lang="ko-KR" altLang="en-US" sz="1200" dirty="0" err="1">
                <a:latin typeface="Malgun Gothic" panose="020B0503020000020004" pitchFamily="34" charset="-127"/>
                <a:ea typeface="Malgun Gothic" panose="020B0503020000020004" pitchFamily="34" charset="-127"/>
              </a:rPr>
              <a:t>고급재</a:t>
            </a:r>
            <a:r>
              <a:rPr lang="ko-KR" altLang="en-US" sz="1200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 소비 확대</a:t>
            </a:r>
            <a:r>
              <a:rPr lang="en-US" altLang="ko-KR" sz="1200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, </a:t>
            </a:r>
            <a:r>
              <a:rPr lang="ko-KR" altLang="en-US" sz="1200" dirty="0" err="1">
                <a:latin typeface="Malgun Gothic" panose="020B0503020000020004" pitchFamily="34" charset="-127"/>
                <a:ea typeface="Malgun Gothic" panose="020B0503020000020004" pitchFamily="34" charset="-127"/>
              </a:rPr>
              <a:t>필수재</a:t>
            </a:r>
            <a:r>
              <a:rPr lang="ko-KR" altLang="en-US" sz="1200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 축소라는 전형적 구조 변화를 반영하며</a:t>
            </a:r>
            <a:r>
              <a:rPr lang="en-US" altLang="ko-KR" sz="1200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, </a:t>
            </a:r>
            <a:r>
              <a:rPr lang="ko-KR" altLang="en-US" sz="1200" dirty="0">
                <a:latin typeface="Malgun Gothic" panose="020B0503020000020004" pitchFamily="34" charset="-127"/>
                <a:ea typeface="Malgun Gothic" panose="020B0503020000020004" pitchFamily="34" charset="-127"/>
              </a:rPr>
              <a:t>내적 정합성과 일치함</a:t>
            </a:r>
          </a:p>
        </p:txBody>
      </p:sp>
    </p:spTree>
    <p:extLst>
      <p:ext uri="{BB962C8B-B14F-4D97-AF65-F5344CB8AC3E}">
        <p14:creationId xmlns:p14="http://schemas.microsoft.com/office/powerpoint/2010/main" val="28652499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7E3192-B892-81CA-208E-5C1F2023FC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차트 2">
            <a:extLst>
              <a:ext uri="{FF2B5EF4-FFF2-40B4-BE49-F238E27FC236}">
                <a16:creationId xmlns:a16="http://schemas.microsoft.com/office/drawing/2014/main" id="{1DDA6CC5-8CC7-E74A-9ED9-DB5D89E3A77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472069405"/>
              </p:ext>
            </p:extLst>
          </p:nvPr>
        </p:nvGraphicFramePr>
        <p:xfrm>
          <a:off x="1007383" y="1666663"/>
          <a:ext cx="4521200" cy="346489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6" name="차트 5">
            <a:extLst>
              <a:ext uri="{FF2B5EF4-FFF2-40B4-BE49-F238E27FC236}">
                <a16:creationId xmlns:a16="http://schemas.microsoft.com/office/drawing/2014/main" id="{EF5113C6-7A25-164C-9641-8ADC9690D95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54405076"/>
              </p:ext>
            </p:extLst>
          </p:nvPr>
        </p:nvGraphicFramePr>
        <p:xfrm>
          <a:off x="6814578" y="1666663"/>
          <a:ext cx="4665280" cy="346489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pSp>
        <p:nvGrpSpPr>
          <p:cNvPr id="8" name="그룹 7">
            <a:extLst>
              <a:ext uri="{FF2B5EF4-FFF2-40B4-BE49-F238E27FC236}">
                <a16:creationId xmlns:a16="http://schemas.microsoft.com/office/drawing/2014/main" id="{15A86A29-0920-DCDB-2E09-B50438B1CD5E}"/>
              </a:ext>
            </a:extLst>
          </p:cNvPr>
          <p:cNvGrpSpPr/>
          <p:nvPr/>
        </p:nvGrpSpPr>
        <p:grpSpPr>
          <a:xfrm>
            <a:off x="280800" y="491352"/>
            <a:ext cx="8089700" cy="977190"/>
            <a:chOff x="278836" y="391603"/>
            <a:chExt cx="8089700" cy="977190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94568D6A-29E1-DE9A-12B4-C5CD3CDBF8C3}"/>
                </a:ext>
              </a:extLst>
            </p:cNvPr>
            <p:cNvSpPr txBox="1"/>
            <p:nvPr/>
          </p:nvSpPr>
          <p:spPr>
            <a:xfrm>
              <a:off x="278836" y="391603"/>
              <a:ext cx="700513" cy="5693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3100" b="1" spc="-13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2">
                      <a:lumMod val="50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01.</a:t>
              </a:r>
              <a:endParaRPr lang="ko-KR" altLang="en-US" sz="3100" b="1" spc="-13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2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EA6C25A3-03E5-D880-A422-6D768B193356}"/>
                </a:ext>
              </a:extLst>
            </p:cNvPr>
            <p:cNvSpPr txBox="1"/>
            <p:nvPr/>
          </p:nvSpPr>
          <p:spPr>
            <a:xfrm>
              <a:off x="908667" y="414686"/>
              <a:ext cx="7459869" cy="954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2800" b="1" spc="-150" dirty="0">
                  <a:latin typeface="+mn-ea"/>
                </a:rPr>
                <a:t>AQ Linkage</a:t>
              </a:r>
              <a:r>
                <a:rPr lang="ko-KR" altLang="en-US" sz="2800" b="1" spc="-150" dirty="0">
                  <a:latin typeface="+mn-ea"/>
                </a:rPr>
                <a:t> 결과 검증</a:t>
              </a:r>
              <a:endParaRPr lang="en-US" altLang="ko-KR" sz="2800" b="1" spc="-150" dirty="0">
                <a:latin typeface="+mn-ea"/>
              </a:endParaRPr>
            </a:p>
            <a:p>
              <a:endParaRPr lang="en-US" altLang="ko-KR" sz="2800" b="1" spc="-1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39A534C2-B812-D3BC-5FC5-23FF0C2FBDE1}"/>
              </a:ext>
            </a:extLst>
          </p:cNvPr>
          <p:cNvGrpSpPr/>
          <p:nvPr/>
        </p:nvGrpSpPr>
        <p:grpSpPr>
          <a:xfrm>
            <a:off x="414000" y="1149913"/>
            <a:ext cx="140400" cy="313200"/>
            <a:chOff x="3767328" y="1146994"/>
            <a:chExt cx="1609344" cy="1334252"/>
          </a:xfrm>
        </p:grpSpPr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F421BBE8-E28E-3006-755C-DF1BF772E1F0}"/>
                </a:ext>
              </a:extLst>
            </p:cNvPr>
            <p:cNvSpPr/>
            <p:nvPr/>
          </p:nvSpPr>
          <p:spPr>
            <a:xfrm>
              <a:off x="3767328" y="1146994"/>
              <a:ext cx="1609344" cy="1334252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" name="직사각형 27">
              <a:extLst>
                <a:ext uri="{FF2B5EF4-FFF2-40B4-BE49-F238E27FC236}">
                  <a16:creationId xmlns:a16="http://schemas.microsoft.com/office/drawing/2014/main" id="{08F092E6-E513-274A-8918-0C9EF51AEC0A}"/>
                </a:ext>
              </a:extLst>
            </p:cNvPr>
            <p:cNvSpPr/>
            <p:nvPr/>
          </p:nvSpPr>
          <p:spPr>
            <a:xfrm>
              <a:off x="3767328" y="1146994"/>
              <a:ext cx="927337" cy="1334252"/>
            </a:xfrm>
            <a:custGeom>
              <a:avLst/>
              <a:gdLst/>
              <a:ahLst/>
              <a:cxnLst/>
              <a:rect l="l" t="t" r="r" b="b"/>
              <a:pathLst>
                <a:path w="927337" h="1334252">
                  <a:moveTo>
                    <a:pt x="0" y="0"/>
                  </a:moveTo>
                  <a:lnTo>
                    <a:pt x="927337" y="0"/>
                  </a:lnTo>
                  <a:lnTo>
                    <a:pt x="269673" y="1334252"/>
                  </a:lnTo>
                  <a:lnTo>
                    <a:pt x="0" y="1334252"/>
                  </a:lnTo>
                  <a:close/>
                </a:path>
              </a:pathLst>
            </a:custGeom>
            <a:solidFill>
              <a:schemeClr val="bg1">
                <a:alpha val="12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20" name="직사각형 27">
            <a:extLst>
              <a:ext uri="{FF2B5EF4-FFF2-40B4-BE49-F238E27FC236}">
                <a16:creationId xmlns:a16="http://schemas.microsoft.com/office/drawing/2014/main" id="{83F49236-7D7D-D77E-886F-486614424C51}"/>
              </a:ext>
            </a:extLst>
          </p:cNvPr>
          <p:cNvSpPr/>
          <p:nvPr/>
        </p:nvSpPr>
        <p:spPr>
          <a:xfrm>
            <a:off x="-2252700" y="1538244"/>
            <a:ext cx="80901" cy="313200"/>
          </a:xfrm>
          <a:custGeom>
            <a:avLst/>
            <a:gdLst/>
            <a:ahLst/>
            <a:cxnLst/>
            <a:rect l="l" t="t" r="r" b="b"/>
            <a:pathLst>
              <a:path w="927337" h="1334252">
                <a:moveTo>
                  <a:pt x="0" y="0"/>
                </a:moveTo>
                <a:lnTo>
                  <a:pt x="927337" y="0"/>
                </a:lnTo>
                <a:lnTo>
                  <a:pt x="269673" y="1334252"/>
                </a:lnTo>
                <a:lnTo>
                  <a:pt x="0" y="1334252"/>
                </a:lnTo>
                <a:close/>
              </a:path>
            </a:pathLst>
          </a:custGeom>
          <a:solidFill>
            <a:schemeClr val="bg1">
              <a:alpha val="1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2C8217D-5A77-75C7-E54F-12227BAFD37B}"/>
              </a:ext>
            </a:extLst>
          </p:cNvPr>
          <p:cNvSpPr txBox="1"/>
          <p:nvPr/>
        </p:nvSpPr>
        <p:spPr>
          <a:xfrm>
            <a:off x="700535" y="5211633"/>
            <a:ext cx="5057761" cy="138499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pPr marL="171450" indent="-171450" algn="ctr">
              <a:buFont typeface="Wingdings" pitchFamily="2" charset="2"/>
              <a:buChar char="ü"/>
            </a:pPr>
            <a:r>
              <a:rPr lang="en-US" altLang="ko-KR" sz="1200" dirty="0"/>
              <a:t>2019</a:t>
            </a:r>
            <a:r>
              <a:rPr lang="ko-KR" altLang="en-US" sz="1200" dirty="0"/>
              <a:t>년 대비 </a:t>
            </a:r>
            <a:r>
              <a:rPr lang="en-US" altLang="ko-KR" sz="1200" dirty="0"/>
              <a:t>2050</a:t>
            </a:r>
            <a:r>
              <a:rPr lang="ko-KR" altLang="en-US" sz="1200" dirty="0"/>
              <a:t>년 일본의 총 최종소비 지출은 뚜렷하게 증가</a:t>
            </a:r>
          </a:p>
          <a:p>
            <a:pPr marL="171450" indent="-171450" algn="ctr">
              <a:buFont typeface="Wingdings" pitchFamily="2" charset="2"/>
              <a:buChar char="ü"/>
            </a:pPr>
            <a:r>
              <a:rPr lang="en-US" altLang="ko-KR" sz="1200" dirty="0"/>
              <a:t>2019</a:t>
            </a:r>
            <a:r>
              <a:rPr lang="ko-KR" altLang="en-US" sz="1200" dirty="0"/>
              <a:t>년과 </a:t>
            </a:r>
            <a:r>
              <a:rPr lang="en-US" altLang="ko-KR" sz="1200" dirty="0"/>
              <a:t>2050</a:t>
            </a:r>
            <a:r>
              <a:rPr lang="ko-KR" altLang="en-US" sz="1200" dirty="0"/>
              <a:t>년 모두 서비스 부문의 소비 비중이 </a:t>
            </a:r>
            <a:r>
              <a:rPr lang="en-US" altLang="ko-KR" sz="1200" dirty="0"/>
              <a:t>77%</a:t>
            </a:r>
            <a:r>
              <a:rPr lang="ko-KR" altLang="en-US" sz="1200" dirty="0"/>
              <a:t>로 압도적</a:t>
            </a:r>
            <a:r>
              <a:rPr lang="en-US" altLang="ko-KR" sz="1200" dirty="0"/>
              <a:t>,</a:t>
            </a:r>
          </a:p>
          <a:p>
            <a:pPr algn="ctr"/>
            <a:r>
              <a:rPr lang="en-US" altLang="ko-KR" sz="1200" dirty="0"/>
              <a:t>→ </a:t>
            </a:r>
            <a:r>
              <a:rPr lang="ko-KR" altLang="en-US" sz="1200" b="1" dirty="0"/>
              <a:t>서비스 중심 소비구조가 이미 정착</a:t>
            </a:r>
          </a:p>
          <a:p>
            <a:pPr marL="171450" indent="-171450" algn="ctr">
              <a:buFont typeface="Wingdings" pitchFamily="2" charset="2"/>
              <a:buChar char="ü"/>
            </a:pPr>
            <a:r>
              <a:rPr lang="ko-KR" altLang="en-US" sz="1200" dirty="0"/>
              <a:t>농림수산품</a:t>
            </a:r>
            <a:r>
              <a:rPr lang="en-US" altLang="ko-KR" sz="1200" dirty="0"/>
              <a:t>(1</a:t>
            </a:r>
            <a:r>
              <a:rPr lang="ko-KR" altLang="en-US" sz="1200" dirty="0"/>
              <a:t>번</a:t>
            </a:r>
            <a:r>
              <a:rPr lang="en-US" altLang="ko-KR" sz="1200" dirty="0"/>
              <a:t>), </a:t>
            </a:r>
            <a:r>
              <a:rPr lang="ko-KR" altLang="en-US" sz="1200" dirty="0"/>
              <a:t>식품가공</a:t>
            </a:r>
            <a:r>
              <a:rPr lang="en-US" altLang="ko-KR" sz="1200" dirty="0"/>
              <a:t>·</a:t>
            </a:r>
            <a:r>
              <a:rPr lang="ko-KR" altLang="en-US" sz="1200" dirty="0"/>
              <a:t>석유 등 </a:t>
            </a:r>
            <a:r>
              <a:rPr lang="ko-KR" altLang="en-US" sz="1200" dirty="0" err="1"/>
              <a:t>필수재</a:t>
            </a:r>
            <a:r>
              <a:rPr lang="en-US" altLang="ko-KR" sz="1200" dirty="0"/>
              <a:t>(3</a:t>
            </a:r>
            <a:r>
              <a:rPr lang="ko-KR" altLang="en-US" sz="1200" dirty="0"/>
              <a:t>번 이하</a:t>
            </a:r>
            <a:r>
              <a:rPr lang="en-US" altLang="ko-KR" sz="1200" dirty="0"/>
              <a:t>)</a:t>
            </a:r>
            <a:r>
              <a:rPr lang="ko-KR" altLang="en-US" sz="1200" dirty="0"/>
              <a:t>는 비중이 낮음</a:t>
            </a:r>
          </a:p>
          <a:p>
            <a:pPr algn="ctr"/>
            <a:r>
              <a:rPr lang="ko-KR" altLang="en-US" sz="1200" dirty="0"/>
              <a:t>→ </a:t>
            </a:r>
            <a:r>
              <a:rPr lang="ko-KR" altLang="en-US" sz="1200" b="1" dirty="0"/>
              <a:t>소득 증가에 따른 </a:t>
            </a:r>
            <a:r>
              <a:rPr lang="ko-KR" altLang="en-US" sz="1200" b="1" dirty="0" err="1"/>
              <a:t>필수재</a:t>
            </a:r>
            <a:r>
              <a:rPr lang="ko-KR" altLang="en-US" sz="1200" b="1" dirty="0"/>
              <a:t> 비중 축소 경향이 지속</a:t>
            </a:r>
            <a:endParaRPr lang="en-US" altLang="ko-KR" sz="1200" b="1" dirty="0"/>
          </a:p>
          <a:p>
            <a:pPr marL="171450" indent="-171450" algn="ctr">
              <a:buFont typeface="Wingdings" pitchFamily="2" charset="2"/>
              <a:buChar char="ü"/>
            </a:pPr>
            <a:r>
              <a:rPr lang="ko-KR" altLang="en-US" sz="1200" dirty="0"/>
              <a:t>서비스 소비 비중이 </a:t>
            </a:r>
            <a:r>
              <a:rPr lang="en" altLang="ko-KR" sz="1200" dirty="0"/>
              <a:t>AIDADS </a:t>
            </a:r>
            <a:r>
              <a:rPr lang="ko-KR" altLang="en-US" sz="1200" dirty="0"/>
              <a:t>기준상 상한선</a:t>
            </a:r>
            <a:r>
              <a:rPr lang="en-US" altLang="ko-KR" sz="1200" dirty="0"/>
              <a:t>(70~80%)</a:t>
            </a:r>
            <a:r>
              <a:rPr lang="ko-KR" altLang="en-US" sz="1200" dirty="0" err="1"/>
              <a:t>에</a:t>
            </a:r>
            <a:r>
              <a:rPr lang="ko-KR" altLang="en-US" sz="1200" dirty="0"/>
              <a:t> 근접</a:t>
            </a:r>
          </a:p>
          <a:p>
            <a:pPr algn="ctr"/>
            <a:r>
              <a:rPr lang="ko-KR" altLang="en-US" sz="1200" dirty="0"/>
              <a:t>→ </a:t>
            </a:r>
            <a:r>
              <a:rPr lang="en" altLang="ko-KR" sz="1200" dirty="0"/>
              <a:t>G-RDEM</a:t>
            </a:r>
            <a:r>
              <a:rPr lang="ko-KR" altLang="en-US" sz="1200" dirty="0"/>
              <a:t>의 비선형 수요함수 기반 시뮬레이션이 이론과 정합</a:t>
            </a:r>
          </a:p>
        </p:txBody>
      </p:sp>
      <p:sp>
        <p:nvSpPr>
          <p:cNvPr id="11" name="모서리가 둥근 직사각형 10">
            <a:extLst>
              <a:ext uri="{FF2B5EF4-FFF2-40B4-BE49-F238E27FC236}">
                <a16:creationId xmlns:a16="http://schemas.microsoft.com/office/drawing/2014/main" id="{6B13D2BF-48AF-1C87-2004-FD9FF879565B}"/>
              </a:ext>
            </a:extLst>
          </p:cNvPr>
          <p:cNvSpPr/>
          <p:nvPr/>
        </p:nvSpPr>
        <p:spPr>
          <a:xfrm>
            <a:off x="2293378" y="1526725"/>
            <a:ext cx="1850382" cy="400110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400" b="1" dirty="0"/>
              <a:t>03_</a:t>
            </a:r>
            <a:r>
              <a:rPr kumimoji="1" lang="ko-KR" altLang="en-US" sz="1400" b="1" dirty="0"/>
              <a:t>일본</a:t>
            </a:r>
          </a:p>
        </p:txBody>
      </p:sp>
      <p:sp>
        <p:nvSpPr>
          <p:cNvPr id="19" name="모서리가 둥근 직사각형 18">
            <a:extLst>
              <a:ext uri="{FF2B5EF4-FFF2-40B4-BE49-F238E27FC236}">
                <a16:creationId xmlns:a16="http://schemas.microsoft.com/office/drawing/2014/main" id="{1D8533E7-A68D-380C-20F1-42B8F47DA616}"/>
              </a:ext>
            </a:extLst>
          </p:cNvPr>
          <p:cNvSpPr/>
          <p:nvPr/>
        </p:nvSpPr>
        <p:spPr>
          <a:xfrm>
            <a:off x="8222027" y="1494789"/>
            <a:ext cx="1850382" cy="400110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400" b="1" dirty="0"/>
              <a:t>04_</a:t>
            </a:r>
            <a:r>
              <a:rPr kumimoji="1" lang="ko-KR" altLang="en-US" sz="1400" b="1" dirty="0"/>
              <a:t>러시아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36FD766A-F010-D4AC-76A6-2BE78E4AD5A5}"/>
              </a:ext>
            </a:extLst>
          </p:cNvPr>
          <p:cNvSpPr/>
          <p:nvPr/>
        </p:nvSpPr>
        <p:spPr>
          <a:xfrm>
            <a:off x="562172" y="1087242"/>
            <a:ext cx="9734163" cy="400110"/>
          </a:xfrm>
          <a:prstGeom prst="rect">
            <a:avLst/>
          </a:prstGeom>
        </p:spPr>
        <p:txBody>
          <a:bodyPr wrap="square" anchor="ctr" anchorCtr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2000" b="1" kern="0" spc="-150" dirty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내적 정합성 검증</a:t>
            </a:r>
            <a:r>
              <a:rPr lang="en-US" altLang="ko-KR" sz="2000" b="1" kern="0" spc="-150" dirty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_(1)</a:t>
            </a:r>
            <a:r>
              <a:rPr lang="ko-KR" altLang="en-US" sz="2000" b="1" kern="0" spc="-150" dirty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 소비구조 변화</a:t>
            </a:r>
            <a:endParaRPr kumimoji="0" lang="ko-KR" altLang="en-US" sz="1400" b="1" i="0" u="none" strike="noStrike" kern="0" cap="none" spc="-150" normalizeH="0" baseline="0" noProof="0" dirty="0">
              <a:ln>
                <a:solidFill>
                  <a:srgbClr val="4472C4">
                    <a:alpha val="0"/>
                  </a:srgbClr>
                </a:solidFill>
              </a:ln>
              <a:solidFill>
                <a:srgbClr val="1F497D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E0163D8-1C19-A288-C714-44C1F15C360F}"/>
              </a:ext>
            </a:extLst>
          </p:cNvPr>
          <p:cNvSpPr txBox="1"/>
          <p:nvPr/>
        </p:nvSpPr>
        <p:spPr>
          <a:xfrm>
            <a:off x="6433706" y="5211633"/>
            <a:ext cx="5166891" cy="120032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pPr marL="171450" indent="-171450" algn="ctr">
              <a:buFont typeface="Wingdings" pitchFamily="2" charset="2"/>
              <a:buChar char="ü"/>
            </a:pPr>
            <a:r>
              <a:rPr lang="en-US" altLang="ko-KR" sz="1200" dirty="0"/>
              <a:t>2050</a:t>
            </a:r>
            <a:r>
              <a:rPr lang="ko-KR" altLang="en-US" sz="1200" dirty="0"/>
              <a:t>년 러시아의 총 최종소비 지출은 </a:t>
            </a:r>
            <a:r>
              <a:rPr lang="en-US" altLang="ko-KR" sz="1200" dirty="0"/>
              <a:t>2019</a:t>
            </a:r>
            <a:r>
              <a:rPr lang="ko-KR" altLang="en-US" sz="1200" dirty="0"/>
              <a:t>년 대비 약 </a:t>
            </a:r>
            <a:r>
              <a:rPr lang="en-US" altLang="ko-KR" sz="1200" dirty="0"/>
              <a:t>2</a:t>
            </a:r>
            <a:r>
              <a:rPr lang="ko-KR" altLang="en-US" sz="1200" dirty="0"/>
              <a:t>배 이상 증가</a:t>
            </a:r>
          </a:p>
          <a:p>
            <a:pPr marL="171450" indent="-171450" algn="ctr">
              <a:buFont typeface="Wingdings" pitchFamily="2" charset="2"/>
              <a:buChar char="ü"/>
            </a:pPr>
            <a:r>
              <a:rPr lang="ko-KR" altLang="en-US" sz="1200" dirty="0"/>
              <a:t>서비스</a:t>
            </a:r>
            <a:r>
              <a:rPr lang="en-US" altLang="ko-KR" sz="1200" dirty="0"/>
              <a:t>(6</a:t>
            </a:r>
            <a:r>
              <a:rPr lang="ko-KR" altLang="en-US" sz="1200" dirty="0"/>
              <a:t>번</a:t>
            </a:r>
            <a:r>
              <a:rPr lang="en-US" altLang="ko-KR" sz="1200" dirty="0"/>
              <a:t>) </a:t>
            </a:r>
            <a:r>
              <a:rPr lang="ko-KR" altLang="en-US" sz="1200" dirty="0"/>
              <a:t>소비의 절대량은 증가하였으나</a:t>
            </a:r>
            <a:r>
              <a:rPr lang="en-US" altLang="ko-KR" sz="1200" dirty="0"/>
              <a:t>, </a:t>
            </a:r>
            <a:r>
              <a:rPr lang="ko-KR" altLang="en-US" sz="1200" dirty="0"/>
              <a:t>전체 비중은 제한적 증가</a:t>
            </a:r>
          </a:p>
          <a:p>
            <a:pPr algn="ctr"/>
            <a:r>
              <a:rPr lang="ko-KR" altLang="en-US" sz="1200" dirty="0"/>
              <a:t>→ 고소득국가에서 기대되는 </a:t>
            </a:r>
            <a:r>
              <a:rPr lang="ko-KR" altLang="en-US" sz="1200" b="1" dirty="0"/>
              <a:t>서비스 소비 확대 경향이 약하게 나타남</a:t>
            </a:r>
          </a:p>
          <a:p>
            <a:pPr marL="171450" indent="-171450" algn="ctr">
              <a:buFont typeface="Wingdings" pitchFamily="2" charset="2"/>
              <a:buChar char="ü"/>
            </a:pPr>
            <a:r>
              <a:rPr lang="ko-KR" altLang="en-US" sz="1200" dirty="0"/>
              <a:t>농림수산품</a:t>
            </a:r>
            <a:r>
              <a:rPr lang="en-US" altLang="ko-KR" sz="1200" dirty="0"/>
              <a:t>(1</a:t>
            </a:r>
            <a:r>
              <a:rPr lang="ko-KR" altLang="en-US" sz="1200" dirty="0"/>
              <a:t>번</a:t>
            </a:r>
            <a:r>
              <a:rPr lang="en-US" altLang="ko-KR" sz="1200" dirty="0"/>
              <a:t>), </a:t>
            </a:r>
            <a:r>
              <a:rPr lang="ko-KR" altLang="en-US" sz="1200" dirty="0"/>
              <a:t>식품 등 </a:t>
            </a:r>
            <a:r>
              <a:rPr lang="ko-KR" altLang="en-US" sz="1200" dirty="0" err="1"/>
              <a:t>필수재</a:t>
            </a:r>
            <a:r>
              <a:rPr lang="ko-KR" altLang="en-US" sz="1200" dirty="0"/>
              <a:t> 비중은 정체 또는 소폭 증가</a:t>
            </a:r>
            <a:r>
              <a:rPr lang="en-US" altLang="ko-KR" sz="1200" dirty="0"/>
              <a:t>,</a:t>
            </a:r>
          </a:p>
          <a:p>
            <a:pPr marL="171450" indent="-171450" algn="ctr">
              <a:buFont typeface="Wingdings" pitchFamily="2" charset="2"/>
              <a:buChar char="ü"/>
            </a:pPr>
            <a:r>
              <a:rPr lang="ko-KR" altLang="en-US" sz="1200" dirty="0"/>
              <a:t>석유</a:t>
            </a:r>
            <a:r>
              <a:rPr lang="en-US" altLang="ko-KR" sz="1200" dirty="0"/>
              <a:t>·</a:t>
            </a:r>
            <a:r>
              <a:rPr lang="ko-KR" altLang="en-US" sz="1200" dirty="0"/>
              <a:t>광물 등 </a:t>
            </a:r>
            <a:r>
              <a:rPr lang="en-US" altLang="ko-KR" sz="1200" b="1" dirty="0"/>
              <a:t>1</a:t>
            </a:r>
            <a:r>
              <a:rPr lang="ko-KR" altLang="en-US" sz="1200" b="1" dirty="0"/>
              <a:t>차 자원 소비</a:t>
            </a:r>
            <a:r>
              <a:rPr lang="en-US" altLang="ko-KR" sz="1200" b="1" dirty="0"/>
              <a:t>(2</a:t>
            </a:r>
            <a:r>
              <a:rPr lang="ko-KR" altLang="en-US" sz="1200" b="1" dirty="0"/>
              <a:t>번</a:t>
            </a:r>
            <a:r>
              <a:rPr lang="en-US" altLang="ko-KR" sz="1200" b="1" dirty="0"/>
              <a:t>·3</a:t>
            </a:r>
            <a:r>
              <a:rPr lang="ko-KR" altLang="en-US" sz="1200" b="1" dirty="0"/>
              <a:t>번</a:t>
            </a:r>
            <a:r>
              <a:rPr lang="en-US" altLang="ko-KR" sz="1200" b="1" dirty="0"/>
              <a:t>)</a:t>
            </a:r>
            <a:r>
              <a:rPr lang="ko-KR" altLang="en-US" sz="1200" b="1" dirty="0"/>
              <a:t>는 여전히 높은 비중 유지</a:t>
            </a:r>
            <a:endParaRPr lang="en-US" altLang="ko-KR" sz="1200" b="1" dirty="0"/>
          </a:p>
          <a:p>
            <a:pPr marL="171450" indent="-171450" algn="ctr">
              <a:buFont typeface="Wingdings" pitchFamily="2" charset="2"/>
              <a:buChar char="ü"/>
            </a:pPr>
            <a:r>
              <a:rPr lang="en-US" altLang="ko-KR" sz="1200" dirty="0"/>
              <a:t>1</a:t>
            </a:r>
            <a:r>
              <a:rPr lang="ko-KR" altLang="en-US" sz="1200" dirty="0" err="1"/>
              <a:t>차재</a:t>
            </a:r>
            <a:r>
              <a:rPr lang="ko-KR" altLang="en-US" sz="1200" dirty="0"/>
              <a:t> 중심의 소비 패턴이 지속되며</a:t>
            </a:r>
            <a:r>
              <a:rPr lang="en-US" altLang="ko-KR" sz="1200" dirty="0"/>
              <a:t>, Engel curve</a:t>
            </a:r>
            <a:r>
              <a:rPr lang="ko-KR" altLang="en-US" sz="1200" dirty="0"/>
              <a:t>와는 괴리가 있음</a:t>
            </a:r>
          </a:p>
        </p:txBody>
      </p:sp>
    </p:spTree>
    <p:extLst>
      <p:ext uri="{BB962C8B-B14F-4D97-AF65-F5344CB8AC3E}">
        <p14:creationId xmlns:p14="http://schemas.microsoft.com/office/powerpoint/2010/main" val="35535672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C09BC8-BF14-85BB-CE4C-09B9051900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차트 6">
            <a:extLst>
              <a:ext uri="{FF2B5EF4-FFF2-40B4-BE49-F238E27FC236}">
                <a16:creationId xmlns:a16="http://schemas.microsoft.com/office/drawing/2014/main" id="{86991CD1-E383-2147-8A25-A660514275B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302079273"/>
              </p:ext>
            </p:extLst>
          </p:nvPr>
        </p:nvGraphicFramePr>
        <p:xfrm>
          <a:off x="7160508" y="1694844"/>
          <a:ext cx="4120861" cy="359615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3" name="차트 2">
            <a:extLst>
              <a:ext uri="{FF2B5EF4-FFF2-40B4-BE49-F238E27FC236}">
                <a16:creationId xmlns:a16="http://schemas.microsoft.com/office/drawing/2014/main" id="{67358710-BC81-6244-966B-9D4C1446600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302580938"/>
              </p:ext>
            </p:extLst>
          </p:nvPr>
        </p:nvGraphicFramePr>
        <p:xfrm>
          <a:off x="910631" y="1766801"/>
          <a:ext cx="4680654" cy="359615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pSp>
        <p:nvGrpSpPr>
          <p:cNvPr id="8" name="그룹 7">
            <a:extLst>
              <a:ext uri="{FF2B5EF4-FFF2-40B4-BE49-F238E27FC236}">
                <a16:creationId xmlns:a16="http://schemas.microsoft.com/office/drawing/2014/main" id="{0F47697D-56F1-07CC-791D-53A57B17A74C}"/>
              </a:ext>
            </a:extLst>
          </p:cNvPr>
          <p:cNvGrpSpPr/>
          <p:nvPr/>
        </p:nvGrpSpPr>
        <p:grpSpPr>
          <a:xfrm>
            <a:off x="280800" y="491352"/>
            <a:ext cx="8089700" cy="977190"/>
            <a:chOff x="278836" y="391603"/>
            <a:chExt cx="8089700" cy="977190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AE6C3317-5B6D-B600-C1BE-EA141BF21436}"/>
                </a:ext>
              </a:extLst>
            </p:cNvPr>
            <p:cNvSpPr txBox="1"/>
            <p:nvPr/>
          </p:nvSpPr>
          <p:spPr>
            <a:xfrm>
              <a:off x="278836" y="391603"/>
              <a:ext cx="700513" cy="5693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3100" b="1" spc="-13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2">
                      <a:lumMod val="50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01.</a:t>
              </a:r>
              <a:endParaRPr lang="ko-KR" altLang="en-US" sz="3100" b="1" spc="-13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2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48240ABE-F43A-B5DD-AB4C-8E2278963BD2}"/>
                </a:ext>
              </a:extLst>
            </p:cNvPr>
            <p:cNvSpPr txBox="1"/>
            <p:nvPr/>
          </p:nvSpPr>
          <p:spPr>
            <a:xfrm>
              <a:off x="908667" y="414686"/>
              <a:ext cx="7459869" cy="954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2800" b="1" spc="-150" dirty="0">
                  <a:latin typeface="+mn-ea"/>
                </a:rPr>
                <a:t>AQ Linkage</a:t>
              </a:r>
              <a:r>
                <a:rPr lang="ko-KR" altLang="en-US" sz="2800" b="1" spc="-150" dirty="0">
                  <a:latin typeface="+mn-ea"/>
                </a:rPr>
                <a:t> 결과 검증</a:t>
              </a:r>
              <a:endParaRPr lang="en-US" altLang="ko-KR" sz="2800" b="1" spc="-150" dirty="0">
                <a:latin typeface="+mn-ea"/>
              </a:endParaRPr>
            </a:p>
            <a:p>
              <a:endParaRPr lang="en-US" altLang="ko-KR" sz="2800" b="1" spc="-1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B01A6B70-6372-E385-D9A2-4166D5CD9AFF}"/>
              </a:ext>
            </a:extLst>
          </p:cNvPr>
          <p:cNvGrpSpPr/>
          <p:nvPr/>
        </p:nvGrpSpPr>
        <p:grpSpPr>
          <a:xfrm>
            <a:off x="414000" y="1149913"/>
            <a:ext cx="140400" cy="313200"/>
            <a:chOff x="3767328" y="1146994"/>
            <a:chExt cx="1609344" cy="1334252"/>
          </a:xfrm>
        </p:grpSpPr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EC44E153-C126-DE7A-EAD0-3D79FB2550D3}"/>
                </a:ext>
              </a:extLst>
            </p:cNvPr>
            <p:cNvSpPr/>
            <p:nvPr/>
          </p:nvSpPr>
          <p:spPr>
            <a:xfrm>
              <a:off x="3767328" y="1146994"/>
              <a:ext cx="1609344" cy="1334252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" name="직사각형 27">
              <a:extLst>
                <a:ext uri="{FF2B5EF4-FFF2-40B4-BE49-F238E27FC236}">
                  <a16:creationId xmlns:a16="http://schemas.microsoft.com/office/drawing/2014/main" id="{E6DF12D9-63F0-012A-C146-2581DCC69B8C}"/>
                </a:ext>
              </a:extLst>
            </p:cNvPr>
            <p:cNvSpPr/>
            <p:nvPr/>
          </p:nvSpPr>
          <p:spPr>
            <a:xfrm>
              <a:off x="3767328" y="1146994"/>
              <a:ext cx="927337" cy="1334252"/>
            </a:xfrm>
            <a:custGeom>
              <a:avLst/>
              <a:gdLst/>
              <a:ahLst/>
              <a:cxnLst/>
              <a:rect l="l" t="t" r="r" b="b"/>
              <a:pathLst>
                <a:path w="927337" h="1334252">
                  <a:moveTo>
                    <a:pt x="0" y="0"/>
                  </a:moveTo>
                  <a:lnTo>
                    <a:pt x="927337" y="0"/>
                  </a:lnTo>
                  <a:lnTo>
                    <a:pt x="269673" y="1334252"/>
                  </a:lnTo>
                  <a:lnTo>
                    <a:pt x="0" y="1334252"/>
                  </a:lnTo>
                  <a:close/>
                </a:path>
              </a:pathLst>
            </a:custGeom>
            <a:solidFill>
              <a:schemeClr val="bg1">
                <a:alpha val="12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20" name="직사각형 27">
            <a:extLst>
              <a:ext uri="{FF2B5EF4-FFF2-40B4-BE49-F238E27FC236}">
                <a16:creationId xmlns:a16="http://schemas.microsoft.com/office/drawing/2014/main" id="{6FF18C23-2F40-17DE-AC63-23436D0F9294}"/>
              </a:ext>
            </a:extLst>
          </p:cNvPr>
          <p:cNvSpPr/>
          <p:nvPr/>
        </p:nvSpPr>
        <p:spPr>
          <a:xfrm>
            <a:off x="-2252700" y="1538244"/>
            <a:ext cx="80901" cy="313200"/>
          </a:xfrm>
          <a:custGeom>
            <a:avLst/>
            <a:gdLst/>
            <a:ahLst/>
            <a:cxnLst/>
            <a:rect l="l" t="t" r="r" b="b"/>
            <a:pathLst>
              <a:path w="927337" h="1334252">
                <a:moveTo>
                  <a:pt x="0" y="0"/>
                </a:moveTo>
                <a:lnTo>
                  <a:pt x="927337" y="0"/>
                </a:lnTo>
                <a:lnTo>
                  <a:pt x="269673" y="1334252"/>
                </a:lnTo>
                <a:lnTo>
                  <a:pt x="0" y="1334252"/>
                </a:lnTo>
                <a:close/>
              </a:path>
            </a:pathLst>
          </a:custGeom>
          <a:solidFill>
            <a:schemeClr val="bg1">
              <a:alpha val="1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1B580B7-C816-3EFD-2D8F-73F6295840F8}"/>
              </a:ext>
            </a:extLst>
          </p:cNvPr>
          <p:cNvSpPr txBox="1"/>
          <p:nvPr/>
        </p:nvSpPr>
        <p:spPr>
          <a:xfrm>
            <a:off x="693752" y="5499433"/>
            <a:ext cx="5114412" cy="120032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pPr marL="171450" indent="-171450">
              <a:buFont typeface="Wingdings" pitchFamily="2" charset="2"/>
              <a:buChar char="ü"/>
            </a:pPr>
            <a:r>
              <a:rPr lang="en-US" altLang="ko-KR" sz="1200" dirty="0"/>
              <a:t>2050</a:t>
            </a:r>
            <a:r>
              <a:rPr lang="ko-KR" altLang="en-US" sz="1200" dirty="0"/>
              <a:t>년 몽골의 총 최종소비 지출은 </a:t>
            </a:r>
            <a:r>
              <a:rPr lang="en-US" altLang="ko-KR" sz="1200" dirty="0"/>
              <a:t>2019</a:t>
            </a:r>
            <a:r>
              <a:rPr lang="ko-KR" altLang="en-US" sz="1200" dirty="0"/>
              <a:t>년 대비 약 </a:t>
            </a:r>
            <a:r>
              <a:rPr lang="en-US" altLang="ko-KR" sz="1200" dirty="0"/>
              <a:t>2.5</a:t>
            </a:r>
            <a:r>
              <a:rPr lang="ko-KR" altLang="en-US" sz="1200" dirty="0"/>
              <a:t>배 이상 증가</a:t>
            </a:r>
          </a:p>
          <a:p>
            <a:pPr marL="171450" indent="-171450">
              <a:buFont typeface="Wingdings" pitchFamily="2" charset="2"/>
              <a:buChar char="ü"/>
            </a:pPr>
            <a:r>
              <a:rPr lang="ko-KR" altLang="en-US" sz="1200" dirty="0"/>
              <a:t>농림수산품</a:t>
            </a:r>
            <a:r>
              <a:rPr lang="en-US" altLang="ko-KR" sz="1200" dirty="0"/>
              <a:t>(1</a:t>
            </a:r>
            <a:r>
              <a:rPr lang="ko-KR" altLang="en-US" sz="1200" dirty="0"/>
              <a:t>번</a:t>
            </a:r>
            <a:r>
              <a:rPr lang="en-US" altLang="ko-KR" sz="1200" dirty="0"/>
              <a:t>), </a:t>
            </a:r>
            <a:r>
              <a:rPr lang="ko-KR" altLang="en-US" sz="1200" dirty="0" err="1"/>
              <a:t>광산품</a:t>
            </a:r>
            <a:r>
              <a:rPr lang="en-US" altLang="ko-KR" sz="1200" dirty="0"/>
              <a:t>(2</a:t>
            </a:r>
            <a:r>
              <a:rPr lang="ko-KR" altLang="en-US" sz="1200" dirty="0"/>
              <a:t>번</a:t>
            </a:r>
            <a:r>
              <a:rPr lang="en-US" altLang="ko-KR" sz="1200" dirty="0"/>
              <a:t>), </a:t>
            </a:r>
            <a:r>
              <a:rPr lang="ko-KR" altLang="en-US" sz="1200" dirty="0"/>
              <a:t>공산품</a:t>
            </a:r>
            <a:r>
              <a:rPr lang="en-US" altLang="ko-KR" sz="1200" dirty="0"/>
              <a:t>(3</a:t>
            </a:r>
            <a:r>
              <a:rPr lang="ko-KR" altLang="en-US" sz="1200" dirty="0"/>
              <a:t>번</a:t>
            </a:r>
            <a:r>
              <a:rPr lang="en-US" altLang="ko-KR" sz="1200" dirty="0"/>
              <a:t>)</a:t>
            </a:r>
            <a:r>
              <a:rPr lang="ko-KR" altLang="en-US" sz="1200" dirty="0"/>
              <a:t> 등 </a:t>
            </a:r>
            <a:r>
              <a:rPr lang="en-US" altLang="ko-KR" sz="1200" b="1" dirty="0"/>
              <a:t>1</a:t>
            </a:r>
            <a:r>
              <a:rPr lang="ko-KR" altLang="en-US" sz="1200" b="1" dirty="0" err="1"/>
              <a:t>차재</a:t>
            </a:r>
            <a:r>
              <a:rPr lang="ko-KR" altLang="en-US" sz="1200" b="1" dirty="0"/>
              <a:t> 및 중간재 중심 소비구조가 유지되며 비중 확대</a:t>
            </a:r>
          </a:p>
          <a:p>
            <a:pPr marL="171450" indent="-171450">
              <a:buFont typeface="Wingdings" pitchFamily="2" charset="2"/>
              <a:buChar char="ü"/>
            </a:pPr>
            <a:r>
              <a:rPr lang="ko-KR" altLang="en-US" sz="1200" dirty="0"/>
              <a:t>서비스 부문</a:t>
            </a:r>
            <a:r>
              <a:rPr lang="en-US" altLang="ko-KR" sz="1200" dirty="0"/>
              <a:t>(6</a:t>
            </a:r>
            <a:r>
              <a:rPr lang="ko-KR" altLang="en-US" sz="1200" dirty="0"/>
              <a:t>번</a:t>
            </a:r>
            <a:r>
              <a:rPr lang="en-US" altLang="ko-KR" sz="1200" dirty="0"/>
              <a:t>)</a:t>
            </a:r>
            <a:r>
              <a:rPr lang="ko-KR" altLang="en-US" sz="1200" dirty="0"/>
              <a:t> 소비 비중은 </a:t>
            </a:r>
            <a:r>
              <a:rPr lang="en-US" altLang="ko-KR" sz="1200" dirty="0"/>
              <a:t>44% → 50%</a:t>
            </a:r>
            <a:r>
              <a:rPr lang="ko-KR" altLang="en-US" sz="1200" dirty="0"/>
              <a:t>로 증가했으나 고소득국형 소비 구조로의 전환은 미흡</a:t>
            </a:r>
          </a:p>
          <a:p>
            <a:pPr marL="171450" indent="-171450">
              <a:buFont typeface="Wingdings" pitchFamily="2" charset="2"/>
              <a:buChar char="ü"/>
            </a:pPr>
            <a:r>
              <a:rPr lang="ko-KR" altLang="en-US" sz="1200" dirty="0"/>
              <a:t>전력</a:t>
            </a:r>
            <a:r>
              <a:rPr lang="en-US" altLang="ko-KR" sz="1200" dirty="0"/>
              <a:t>·</a:t>
            </a:r>
            <a:r>
              <a:rPr lang="ko-KR" altLang="en-US" sz="1200" dirty="0"/>
              <a:t>가스</a:t>
            </a:r>
            <a:r>
              <a:rPr lang="en-US" altLang="ko-KR" sz="1200" dirty="0"/>
              <a:t>·</a:t>
            </a:r>
            <a:r>
              <a:rPr lang="ko-KR" altLang="en-US" sz="1200" dirty="0"/>
              <a:t>수도</a:t>
            </a:r>
            <a:r>
              <a:rPr lang="en-US" altLang="ko-KR" sz="1200" dirty="0"/>
              <a:t>·</a:t>
            </a:r>
            <a:r>
              <a:rPr lang="ko-KR" altLang="en-US" sz="1200" dirty="0"/>
              <a:t>폐기물</a:t>
            </a:r>
            <a:r>
              <a:rPr lang="en-US" altLang="ko-KR" sz="1200" dirty="0"/>
              <a:t>(4</a:t>
            </a:r>
            <a:r>
              <a:rPr lang="ko-KR" altLang="en-US" sz="1200" dirty="0"/>
              <a:t>번</a:t>
            </a:r>
            <a:r>
              <a:rPr lang="en-US" altLang="ko-KR" sz="1200" dirty="0"/>
              <a:t>)</a:t>
            </a:r>
            <a:r>
              <a:rPr lang="ko-KR" altLang="en-US" sz="1200" dirty="0"/>
              <a:t> 및 건설</a:t>
            </a:r>
            <a:r>
              <a:rPr lang="en-US" altLang="ko-KR" sz="1200" dirty="0"/>
              <a:t>(5</a:t>
            </a:r>
            <a:r>
              <a:rPr lang="ko-KR" altLang="en-US" sz="1200" dirty="0"/>
              <a:t>번</a:t>
            </a:r>
            <a:r>
              <a:rPr lang="en-US" altLang="ko-KR" sz="1200" dirty="0"/>
              <a:t>)</a:t>
            </a:r>
            <a:r>
              <a:rPr lang="ko-KR" altLang="en-US" sz="1200" dirty="0"/>
              <a:t> 등 기타 부문은 변화 없음</a:t>
            </a:r>
            <a:r>
              <a:rPr lang="en-US" altLang="ko-KR" sz="1200" dirty="0"/>
              <a:t>.</a:t>
            </a:r>
            <a:endParaRPr lang="ko-KR" altLang="en-US" sz="12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3D5CF41-37AF-D807-4E5D-62479B840990}"/>
              </a:ext>
            </a:extLst>
          </p:cNvPr>
          <p:cNvSpPr txBox="1"/>
          <p:nvPr/>
        </p:nvSpPr>
        <p:spPr>
          <a:xfrm>
            <a:off x="6559883" y="5498490"/>
            <a:ext cx="5322110" cy="101566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pPr marL="171450" indent="-171450" algn="ctr">
              <a:buFont typeface="Wingdings" pitchFamily="2" charset="2"/>
              <a:buChar char="ü"/>
            </a:pPr>
            <a:r>
              <a:rPr lang="en-US" altLang="ko-KR" sz="1200" dirty="0"/>
              <a:t>2050</a:t>
            </a:r>
            <a:r>
              <a:rPr lang="ko-KR" altLang="en-US" sz="1200" dirty="0"/>
              <a:t>년 북한의 총 최종소비 지출 규모는 </a:t>
            </a:r>
            <a:r>
              <a:rPr lang="en-US" altLang="ko-KR" sz="1200" dirty="0"/>
              <a:t>2019</a:t>
            </a:r>
            <a:r>
              <a:rPr lang="ko-KR" altLang="en-US" sz="1200" dirty="0"/>
              <a:t>년과 유사한 수준</a:t>
            </a:r>
          </a:p>
          <a:p>
            <a:pPr marL="171450" indent="-171450" algn="ctr">
              <a:buFont typeface="Wingdings" pitchFamily="2" charset="2"/>
              <a:buChar char="ü"/>
            </a:pPr>
            <a:r>
              <a:rPr lang="ko-KR" altLang="en-US" sz="1200" dirty="0"/>
              <a:t>농림수산품</a:t>
            </a:r>
            <a:r>
              <a:rPr lang="en-US" altLang="ko-KR" sz="1200" dirty="0"/>
              <a:t>(1</a:t>
            </a:r>
            <a:r>
              <a:rPr lang="ko-KR" altLang="en-US" sz="1200" dirty="0"/>
              <a:t>번</a:t>
            </a:r>
            <a:r>
              <a:rPr lang="en-US" altLang="ko-KR" sz="1200" dirty="0"/>
              <a:t>), </a:t>
            </a:r>
            <a:r>
              <a:rPr lang="ko-KR" altLang="en-US" sz="1200" dirty="0" err="1"/>
              <a:t>광산품</a:t>
            </a:r>
            <a:r>
              <a:rPr lang="en-US" altLang="ko-KR" sz="1200" dirty="0"/>
              <a:t>(2</a:t>
            </a:r>
            <a:r>
              <a:rPr lang="ko-KR" altLang="en-US" sz="1200" dirty="0"/>
              <a:t>번</a:t>
            </a:r>
            <a:r>
              <a:rPr lang="en-US" altLang="ko-KR" sz="1200" dirty="0"/>
              <a:t>), </a:t>
            </a:r>
            <a:r>
              <a:rPr lang="ko-KR" altLang="en-US" sz="1200" dirty="0"/>
              <a:t>공산품</a:t>
            </a:r>
            <a:r>
              <a:rPr lang="en-US" altLang="ko-KR" sz="1200" dirty="0"/>
              <a:t>(3</a:t>
            </a:r>
            <a:r>
              <a:rPr lang="ko-KR" altLang="en-US" sz="1200" dirty="0"/>
              <a:t>번</a:t>
            </a:r>
            <a:r>
              <a:rPr lang="en-US" altLang="ko-KR" sz="1200" dirty="0"/>
              <a:t>) </a:t>
            </a:r>
            <a:r>
              <a:rPr lang="ko-KR" altLang="en-US" sz="1200" dirty="0"/>
              <a:t>중심의 </a:t>
            </a:r>
            <a:r>
              <a:rPr lang="en-US" altLang="ko-KR" sz="1200" b="1" dirty="0"/>
              <a:t>1</a:t>
            </a:r>
            <a:r>
              <a:rPr lang="ko-KR" altLang="en-US" sz="1200" b="1" dirty="0" err="1"/>
              <a:t>차재</a:t>
            </a:r>
            <a:r>
              <a:rPr lang="ko-KR" altLang="en-US" sz="1200" b="1" dirty="0"/>
              <a:t> 소비 구조</a:t>
            </a:r>
          </a:p>
          <a:p>
            <a:pPr marL="171450" indent="-171450" algn="ctr">
              <a:buFont typeface="Wingdings" pitchFamily="2" charset="2"/>
              <a:buChar char="ü"/>
            </a:pPr>
            <a:r>
              <a:rPr lang="ko-KR" altLang="en-US" sz="1200" dirty="0"/>
              <a:t>서비스 부문</a:t>
            </a:r>
            <a:r>
              <a:rPr lang="en-US" altLang="ko-KR" sz="1200" dirty="0"/>
              <a:t>(6</a:t>
            </a:r>
            <a:r>
              <a:rPr lang="ko-KR" altLang="en-US" sz="1200" dirty="0"/>
              <a:t>번</a:t>
            </a:r>
            <a:r>
              <a:rPr lang="en-US" altLang="ko-KR" sz="1200" dirty="0"/>
              <a:t>) </a:t>
            </a:r>
            <a:r>
              <a:rPr lang="ko-KR" altLang="en-US" sz="1200" dirty="0"/>
              <a:t>소비 비중은 </a:t>
            </a:r>
            <a:r>
              <a:rPr lang="en-US" altLang="ko-KR" sz="1200" dirty="0"/>
              <a:t>2019</a:t>
            </a:r>
            <a:r>
              <a:rPr lang="ko-KR" altLang="en-US" sz="1200" dirty="0"/>
              <a:t>년 </a:t>
            </a:r>
            <a:r>
              <a:rPr lang="en-US" altLang="ko-KR" sz="1200" dirty="0"/>
              <a:t>44%, 2050</a:t>
            </a:r>
            <a:r>
              <a:rPr lang="ko-KR" altLang="en-US" sz="1200" dirty="0"/>
              <a:t>년 </a:t>
            </a:r>
            <a:r>
              <a:rPr lang="en-US" altLang="ko-KR" sz="1200" dirty="0"/>
              <a:t>50%</a:t>
            </a:r>
            <a:r>
              <a:rPr lang="ko-KR" altLang="en-US" sz="1200" dirty="0"/>
              <a:t>로 소폭 증가했지만 고소득 소비패턴으로의 전환이 전혀 나타나지 않음</a:t>
            </a:r>
          </a:p>
          <a:p>
            <a:pPr marL="171450" indent="-171450" algn="ctr">
              <a:buFont typeface="Wingdings" pitchFamily="2" charset="2"/>
              <a:buChar char="ü"/>
            </a:pPr>
            <a:r>
              <a:rPr lang="ko-KR" altLang="en-US" sz="1200" dirty="0"/>
              <a:t>전력</a:t>
            </a:r>
            <a:r>
              <a:rPr lang="en-US" altLang="ko-KR" sz="1200" dirty="0"/>
              <a:t>·</a:t>
            </a:r>
            <a:r>
              <a:rPr lang="ko-KR" altLang="en-US" sz="1200" dirty="0"/>
              <a:t>가스</a:t>
            </a:r>
            <a:r>
              <a:rPr lang="en-US" altLang="ko-KR" sz="1200" dirty="0"/>
              <a:t>·</a:t>
            </a:r>
            <a:r>
              <a:rPr lang="ko-KR" altLang="en-US" sz="1200" dirty="0"/>
              <a:t>수도</a:t>
            </a:r>
            <a:r>
              <a:rPr lang="en-US" altLang="ko-KR" sz="1200" dirty="0"/>
              <a:t>·</a:t>
            </a:r>
            <a:r>
              <a:rPr lang="ko-KR" altLang="en-US" sz="1200" dirty="0"/>
              <a:t>폐기물</a:t>
            </a:r>
            <a:r>
              <a:rPr lang="en-US" altLang="ko-KR" sz="1200" dirty="0"/>
              <a:t>(4</a:t>
            </a:r>
            <a:r>
              <a:rPr lang="ko-KR" altLang="en-US" sz="1200" dirty="0"/>
              <a:t>번</a:t>
            </a:r>
            <a:r>
              <a:rPr lang="en-US" altLang="ko-KR" sz="1200" dirty="0"/>
              <a:t>) </a:t>
            </a:r>
            <a:r>
              <a:rPr lang="ko-KR" altLang="en-US" sz="1200" dirty="0"/>
              <a:t>및 건설</a:t>
            </a:r>
            <a:r>
              <a:rPr lang="en-US" altLang="ko-KR" sz="1200" dirty="0"/>
              <a:t>(5</a:t>
            </a:r>
            <a:r>
              <a:rPr lang="ko-KR" altLang="en-US" sz="1200" dirty="0"/>
              <a:t>번</a:t>
            </a:r>
            <a:r>
              <a:rPr lang="en-US" altLang="ko-KR" sz="1200" dirty="0"/>
              <a:t>) </a:t>
            </a:r>
            <a:r>
              <a:rPr lang="ko-KR" altLang="en-US" sz="1200" dirty="0"/>
              <a:t>부문도 구조적 변화 없이 정체</a:t>
            </a:r>
          </a:p>
        </p:txBody>
      </p:sp>
      <p:sp>
        <p:nvSpPr>
          <p:cNvPr id="11" name="모서리가 둥근 직사각형 10">
            <a:extLst>
              <a:ext uri="{FF2B5EF4-FFF2-40B4-BE49-F238E27FC236}">
                <a16:creationId xmlns:a16="http://schemas.microsoft.com/office/drawing/2014/main" id="{B89EAFBA-2EDB-A1B7-7AA0-962947136B4B}"/>
              </a:ext>
            </a:extLst>
          </p:cNvPr>
          <p:cNvSpPr/>
          <p:nvPr/>
        </p:nvSpPr>
        <p:spPr>
          <a:xfrm>
            <a:off x="2325767" y="1538244"/>
            <a:ext cx="1850382" cy="400110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400" b="1" dirty="0"/>
              <a:t>05_</a:t>
            </a:r>
            <a:r>
              <a:rPr kumimoji="1" lang="ko-KR" altLang="en-US" sz="1400" b="1" dirty="0"/>
              <a:t>몽골</a:t>
            </a:r>
          </a:p>
        </p:txBody>
      </p:sp>
      <p:sp>
        <p:nvSpPr>
          <p:cNvPr id="19" name="모서리가 둥근 직사각형 18">
            <a:extLst>
              <a:ext uri="{FF2B5EF4-FFF2-40B4-BE49-F238E27FC236}">
                <a16:creationId xmlns:a16="http://schemas.microsoft.com/office/drawing/2014/main" id="{894766F0-69DD-29C4-EC78-AD25828151CE}"/>
              </a:ext>
            </a:extLst>
          </p:cNvPr>
          <p:cNvSpPr/>
          <p:nvPr/>
        </p:nvSpPr>
        <p:spPr>
          <a:xfrm>
            <a:off x="8370500" y="1487352"/>
            <a:ext cx="1850382" cy="400110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400" b="1" dirty="0"/>
              <a:t>06_</a:t>
            </a:r>
            <a:r>
              <a:rPr kumimoji="1" lang="ko-KR" altLang="en-US" sz="1400" b="1" dirty="0"/>
              <a:t>북한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7BD3F06F-BB5C-348C-EBD8-FDB662BC9B34}"/>
              </a:ext>
            </a:extLst>
          </p:cNvPr>
          <p:cNvSpPr/>
          <p:nvPr/>
        </p:nvSpPr>
        <p:spPr>
          <a:xfrm>
            <a:off x="562172" y="1087242"/>
            <a:ext cx="9734163" cy="400110"/>
          </a:xfrm>
          <a:prstGeom prst="rect">
            <a:avLst/>
          </a:prstGeom>
        </p:spPr>
        <p:txBody>
          <a:bodyPr wrap="square" anchor="ctr" anchorCtr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2000" b="1" kern="0" spc="-150" dirty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내적 정합성 검증</a:t>
            </a:r>
            <a:r>
              <a:rPr lang="en-US" altLang="ko-KR" sz="2000" b="1" kern="0" spc="-150" dirty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_(1)</a:t>
            </a:r>
            <a:r>
              <a:rPr lang="ko-KR" altLang="en-US" sz="2000" b="1" kern="0" spc="-150" dirty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 소비구조 변화</a:t>
            </a:r>
            <a:endParaRPr kumimoji="0" lang="ko-KR" altLang="en-US" sz="1400" b="1" i="0" u="none" strike="noStrike" kern="0" cap="none" spc="-150" normalizeH="0" baseline="0" noProof="0" dirty="0">
              <a:ln>
                <a:solidFill>
                  <a:srgbClr val="4472C4">
                    <a:alpha val="0"/>
                  </a:srgbClr>
                </a:solidFill>
              </a:ln>
              <a:solidFill>
                <a:srgbClr val="1F497D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988753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025BE4-086A-930E-D4E8-EA8C1CBEDC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그룹 7">
            <a:extLst>
              <a:ext uri="{FF2B5EF4-FFF2-40B4-BE49-F238E27FC236}">
                <a16:creationId xmlns:a16="http://schemas.microsoft.com/office/drawing/2014/main" id="{27CB0DA1-77F0-CC8F-0F17-206AC5BD0AD7}"/>
              </a:ext>
            </a:extLst>
          </p:cNvPr>
          <p:cNvGrpSpPr/>
          <p:nvPr/>
        </p:nvGrpSpPr>
        <p:grpSpPr>
          <a:xfrm>
            <a:off x="280800" y="491352"/>
            <a:ext cx="8089700" cy="977190"/>
            <a:chOff x="278836" y="391603"/>
            <a:chExt cx="8089700" cy="977190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A19EF890-0EAD-22A1-3E1F-5CCA328D01A5}"/>
                </a:ext>
              </a:extLst>
            </p:cNvPr>
            <p:cNvSpPr txBox="1"/>
            <p:nvPr/>
          </p:nvSpPr>
          <p:spPr>
            <a:xfrm>
              <a:off x="278836" y="391603"/>
              <a:ext cx="700513" cy="5693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3100" b="1" spc="-13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2">
                      <a:lumMod val="50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01.</a:t>
              </a:r>
              <a:endParaRPr lang="ko-KR" altLang="en-US" sz="3100" b="1" spc="-13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2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7A6A5F88-FBA2-5BAB-69F0-6E4A2C92CDE2}"/>
                </a:ext>
              </a:extLst>
            </p:cNvPr>
            <p:cNvSpPr txBox="1"/>
            <p:nvPr/>
          </p:nvSpPr>
          <p:spPr>
            <a:xfrm>
              <a:off x="908667" y="414686"/>
              <a:ext cx="7459869" cy="954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2800" b="1" spc="-150" dirty="0">
                  <a:latin typeface="+mn-ea"/>
                </a:rPr>
                <a:t>AQ Linkage</a:t>
              </a:r>
              <a:r>
                <a:rPr lang="ko-KR" altLang="en-US" sz="2800" b="1" spc="-150" dirty="0">
                  <a:latin typeface="+mn-ea"/>
                </a:rPr>
                <a:t> 결과 검증</a:t>
              </a:r>
              <a:endParaRPr lang="en-US" altLang="ko-KR" sz="2800" b="1" spc="-150" dirty="0">
                <a:latin typeface="+mn-ea"/>
              </a:endParaRPr>
            </a:p>
            <a:p>
              <a:endParaRPr lang="en-US" altLang="ko-KR" sz="2800" b="1" spc="-1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40D99F52-964C-2BDA-5F71-5C3B8EBF8FAB}"/>
              </a:ext>
            </a:extLst>
          </p:cNvPr>
          <p:cNvGrpSpPr/>
          <p:nvPr/>
        </p:nvGrpSpPr>
        <p:grpSpPr>
          <a:xfrm>
            <a:off x="414000" y="1149913"/>
            <a:ext cx="140400" cy="313200"/>
            <a:chOff x="3767328" y="1146994"/>
            <a:chExt cx="1609344" cy="1334252"/>
          </a:xfrm>
        </p:grpSpPr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1A21D66B-AE78-EB0A-8944-981013F2F22B}"/>
                </a:ext>
              </a:extLst>
            </p:cNvPr>
            <p:cNvSpPr/>
            <p:nvPr/>
          </p:nvSpPr>
          <p:spPr>
            <a:xfrm>
              <a:off x="3767328" y="1146994"/>
              <a:ext cx="1609344" cy="1334252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" name="직사각형 27">
              <a:extLst>
                <a:ext uri="{FF2B5EF4-FFF2-40B4-BE49-F238E27FC236}">
                  <a16:creationId xmlns:a16="http://schemas.microsoft.com/office/drawing/2014/main" id="{332D5E2D-3EDD-1BC7-CF53-8F4958E28E1D}"/>
                </a:ext>
              </a:extLst>
            </p:cNvPr>
            <p:cNvSpPr/>
            <p:nvPr/>
          </p:nvSpPr>
          <p:spPr>
            <a:xfrm>
              <a:off x="3767328" y="1146994"/>
              <a:ext cx="927337" cy="1334252"/>
            </a:xfrm>
            <a:custGeom>
              <a:avLst/>
              <a:gdLst/>
              <a:ahLst/>
              <a:cxnLst/>
              <a:rect l="l" t="t" r="r" b="b"/>
              <a:pathLst>
                <a:path w="927337" h="1334252">
                  <a:moveTo>
                    <a:pt x="0" y="0"/>
                  </a:moveTo>
                  <a:lnTo>
                    <a:pt x="927337" y="0"/>
                  </a:lnTo>
                  <a:lnTo>
                    <a:pt x="269673" y="1334252"/>
                  </a:lnTo>
                  <a:lnTo>
                    <a:pt x="0" y="1334252"/>
                  </a:lnTo>
                  <a:close/>
                </a:path>
              </a:pathLst>
            </a:custGeom>
            <a:solidFill>
              <a:schemeClr val="bg1">
                <a:alpha val="12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20" name="직사각형 27">
            <a:extLst>
              <a:ext uri="{FF2B5EF4-FFF2-40B4-BE49-F238E27FC236}">
                <a16:creationId xmlns:a16="http://schemas.microsoft.com/office/drawing/2014/main" id="{92F5C1AB-3E6E-38BF-DB2B-A26D6C173963}"/>
              </a:ext>
            </a:extLst>
          </p:cNvPr>
          <p:cNvSpPr/>
          <p:nvPr/>
        </p:nvSpPr>
        <p:spPr>
          <a:xfrm>
            <a:off x="-2252700" y="1538244"/>
            <a:ext cx="80901" cy="313200"/>
          </a:xfrm>
          <a:custGeom>
            <a:avLst/>
            <a:gdLst/>
            <a:ahLst/>
            <a:cxnLst/>
            <a:rect l="l" t="t" r="r" b="b"/>
            <a:pathLst>
              <a:path w="927337" h="1334252">
                <a:moveTo>
                  <a:pt x="0" y="0"/>
                </a:moveTo>
                <a:lnTo>
                  <a:pt x="927337" y="0"/>
                </a:lnTo>
                <a:lnTo>
                  <a:pt x="269673" y="1334252"/>
                </a:lnTo>
                <a:lnTo>
                  <a:pt x="0" y="1334252"/>
                </a:lnTo>
                <a:close/>
              </a:path>
            </a:pathLst>
          </a:custGeom>
          <a:solidFill>
            <a:schemeClr val="bg1">
              <a:alpha val="1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2E65CB08-0A08-567A-12B9-EDDA2288FF16}"/>
              </a:ext>
            </a:extLst>
          </p:cNvPr>
          <p:cNvSpPr/>
          <p:nvPr/>
        </p:nvSpPr>
        <p:spPr>
          <a:xfrm>
            <a:off x="562172" y="1087242"/>
            <a:ext cx="9734163" cy="400110"/>
          </a:xfrm>
          <a:prstGeom prst="rect">
            <a:avLst/>
          </a:prstGeom>
        </p:spPr>
        <p:txBody>
          <a:bodyPr wrap="square" anchor="ctr" anchorCtr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2000" b="1" kern="0" spc="-150" dirty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내적 정합성 검증</a:t>
            </a:r>
            <a:r>
              <a:rPr lang="en-US" altLang="ko-KR" sz="2000" b="1" kern="0" spc="-150" dirty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_(2)</a:t>
            </a:r>
            <a:r>
              <a:rPr lang="ko-KR" altLang="en-US" sz="2000" b="1" kern="0" spc="-150" dirty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 </a:t>
            </a:r>
            <a:r>
              <a:rPr lang="ko-KR" altLang="en-US" sz="2000" b="1" kern="0" spc="-150" dirty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C00000"/>
                </a:solidFill>
                <a:latin typeface="맑은 고딕"/>
                <a:ea typeface="맑은 고딕" panose="020B0503020000020004" pitchFamily="50" charset="-127"/>
              </a:rPr>
              <a:t>가계 저축률 </a:t>
            </a:r>
            <a:r>
              <a:rPr lang="ko-KR" altLang="en-US" sz="2000" b="1" kern="0" spc="-150" dirty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및 국가 무역수지구조</a:t>
            </a:r>
            <a:endParaRPr kumimoji="0" lang="ko-KR" altLang="en-US" sz="1400" b="1" i="0" u="none" strike="noStrike" kern="0" cap="none" spc="-150" normalizeH="0" baseline="0" noProof="0" dirty="0">
              <a:ln>
                <a:solidFill>
                  <a:srgbClr val="4472C4">
                    <a:alpha val="0"/>
                  </a:srgbClr>
                </a:solidFill>
              </a:ln>
              <a:solidFill>
                <a:srgbClr val="1F497D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072603D0-9D15-A6AB-D5C3-96D842346F9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11760192"/>
              </p:ext>
            </p:extLst>
          </p:nvPr>
        </p:nvGraphicFramePr>
        <p:xfrm>
          <a:off x="631056" y="1900187"/>
          <a:ext cx="4089400" cy="153313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62669">
                  <a:extLst>
                    <a:ext uri="{9D8B030D-6E8A-4147-A177-3AD203B41FA5}">
                      <a16:colId xmlns:a16="http://schemas.microsoft.com/office/drawing/2014/main" val="3119985427"/>
                    </a:ext>
                  </a:extLst>
                </a:gridCol>
                <a:gridCol w="1371775">
                  <a:extLst>
                    <a:ext uri="{9D8B030D-6E8A-4147-A177-3AD203B41FA5}">
                      <a16:colId xmlns:a16="http://schemas.microsoft.com/office/drawing/2014/main" val="1070237545"/>
                    </a:ext>
                  </a:extLst>
                </a:gridCol>
                <a:gridCol w="1354956">
                  <a:extLst>
                    <a:ext uri="{9D8B030D-6E8A-4147-A177-3AD203B41FA5}">
                      <a16:colId xmlns:a16="http://schemas.microsoft.com/office/drawing/2014/main" val="2898802662"/>
                    </a:ext>
                  </a:extLst>
                </a:gridCol>
              </a:tblGrid>
              <a:tr h="21066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가계 저축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u="none" strike="noStrike">
                          <a:effectLst/>
                        </a:rPr>
                        <a:t>2019</a:t>
                      </a:r>
                      <a:endParaRPr lang="en-US" altLang="ko-KR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u="none" strike="noStrike">
                          <a:effectLst/>
                        </a:rPr>
                        <a:t>2050</a:t>
                      </a:r>
                      <a:endParaRPr lang="en-US" altLang="ko-KR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288622768"/>
                  </a:ext>
                </a:extLst>
              </a:tr>
              <a:tr h="210660">
                <a:tc>
                  <a:txBody>
                    <a:bodyPr/>
                    <a:lstStyle/>
                    <a:p>
                      <a:pPr algn="l" fontAlgn="ctr"/>
                      <a:r>
                        <a:rPr lang="en" sz="1200" u="none" strike="noStrike">
                          <a:effectLst/>
                        </a:rPr>
                        <a:t>01_KOR</a:t>
                      </a:r>
                      <a:endParaRPr lang="en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u="none" strike="noStrike">
                          <a:effectLst/>
                        </a:rPr>
                        <a:t>47.7453</a:t>
                      </a:r>
                      <a:endParaRPr lang="en-US" altLang="ko-KR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u="none" strike="noStrike">
                          <a:effectLst/>
                        </a:rPr>
                        <a:t>72.3583</a:t>
                      </a:r>
                      <a:endParaRPr lang="en-US" altLang="ko-KR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291856873"/>
                  </a:ext>
                </a:extLst>
              </a:tr>
              <a:tr h="269176">
                <a:tc>
                  <a:txBody>
                    <a:bodyPr/>
                    <a:lstStyle/>
                    <a:p>
                      <a:pPr algn="l" fontAlgn="ctr"/>
                      <a:r>
                        <a:rPr lang="en" sz="1200" u="none" strike="noStrike">
                          <a:effectLst/>
                        </a:rPr>
                        <a:t>02_CHN</a:t>
                      </a:r>
                      <a:endParaRPr lang="en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u="none" strike="noStrike">
                          <a:effectLst/>
                        </a:rPr>
                        <a:t>632.399</a:t>
                      </a:r>
                      <a:endParaRPr lang="en-US" altLang="ko-KR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u="none" strike="noStrike">
                          <a:effectLst/>
                        </a:rPr>
                        <a:t>2045.35</a:t>
                      </a:r>
                      <a:endParaRPr lang="en-US" altLang="ko-KR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215912735"/>
                  </a:ext>
                </a:extLst>
              </a:tr>
              <a:tr h="210660">
                <a:tc>
                  <a:txBody>
                    <a:bodyPr/>
                    <a:lstStyle/>
                    <a:p>
                      <a:pPr algn="l" fontAlgn="ctr"/>
                      <a:r>
                        <a:rPr lang="en" sz="1200" u="none" strike="noStrike">
                          <a:effectLst/>
                        </a:rPr>
                        <a:t>03_JPN</a:t>
                      </a:r>
                      <a:endParaRPr lang="en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u="none" strike="noStrike">
                          <a:effectLst/>
                        </a:rPr>
                        <a:t>64.9655</a:t>
                      </a:r>
                      <a:endParaRPr lang="en-US" altLang="ko-KR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u="none" strike="noStrike">
                          <a:effectLst/>
                        </a:rPr>
                        <a:t>72.7687</a:t>
                      </a:r>
                      <a:endParaRPr lang="en-US" altLang="ko-KR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802824503"/>
                  </a:ext>
                </a:extLst>
              </a:tr>
              <a:tr h="210660">
                <a:tc>
                  <a:txBody>
                    <a:bodyPr/>
                    <a:lstStyle/>
                    <a:p>
                      <a:pPr algn="l" fontAlgn="ctr"/>
                      <a:r>
                        <a:rPr lang="en" sz="1200" u="none" strike="noStrike">
                          <a:effectLst/>
                        </a:rPr>
                        <a:t>04_RUS</a:t>
                      </a:r>
                      <a:endParaRPr lang="en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u="none" strike="noStrike">
                          <a:effectLst/>
                        </a:rPr>
                        <a:t>52.2384</a:t>
                      </a:r>
                      <a:endParaRPr lang="en-US" altLang="ko-KR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u="none" strike="noStrike">
                          <a:effectLst/>
                        </a:rPr>
                        <a:t>48.5953</a:t>
                      </a:r>
                      <a:endParaRPr lang="en-US" altLang="ko-KR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221746065"/>
                  </a:ext>
                </a:extLst>
              </a:tr>
              <a:tr h="210660">
                <a:tc>
                  <a:txBody>
                    <a:bodyPr/>
                    <a:lstStyle/>
                    <a:p>
                      <a:pPr algn="l" fontAlgn="ctr"/>
                      <a:r>
                        <a:rPr lang="en" sz="1200" u="none" strike="noStrike">
                          <a:effectLst/>
                        </a:rPr>
                        <a:t>05_MNG</a:t>
                      </a:r>
                      <a:endParaRPr lang="en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u="none" strike="noStrike">
                          <a:effectLst/>
                        </a:rPr>
                        <a:t>0.487572</a:t>
                      </a:r>
                      <a:endParaRPr lang="en-US" altLang="ko-KR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u="none" strike="noStrike">
                          <a:effectLst/>
                        </a:rPr>
                        <a:t>1.8212</a:t>
                      </a:r>
                      <a:endParaRPr lang="en-US" altLang="ko-KR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671396705"/>
                  </a:ext>
                </a:extLst>
              </a:tr>
              <a:tr h="210660">
                <a:tc>
                  <a:txBody>
                    <a:bodyPr/>
                    <a:lstStyle/>
                    <a:p>
                      <a:pPr algn="l" fontAlgn="ctr"/>
                      <a:r>
                        <a:rPr lang="en" sz="1200" u="none" strike="noStrike">
                          <a:effectLst/>
                        </a:rPr>
                        <a:t>06_PRK</a:t>
                      </a:r>
                      <a:endParaRPr lang="en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u="none" strike="noStrike">
                          <a:effectLst/>
                        </a:rPr>
                        <a:t>0.770953</a:t>
                      </a:r>
                      <a:endParaRPr lang="en-US" altLang="ko-KR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u="none" strike="noStrike" dirty="0">
                          <a:effectLst/>
                        </a:rPr>
                        <a:t>0.597657</a:t>
                      </a:r>
                      <a:endParaRPr lang="en-US" altLang="ko-KR" sz="12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65262854"/>
                  </a:ext>
                </a:extLst>
              </a:tr>
            </a:tbl>
          </a:graphicData>
        </a:graphic>
      </p:graphicFrame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A9427D58-D70D-BFAC-D890-4221AE1059F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15352968"/>
              </p:ext>
            </p:extLst>
          </p:nvPr>
        </p:nvGraphicFramePr>
        <p:xfrm>
          <a:off x="631057" y="3846158"/>
          <a:ext cx="4089399" cy="16002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63133">
                  <a:extLst>
                    <a:ext uri="{9D8B030D-6E8A-4147-A177-3AD203B41FA5}">
                      <a16:colId xmlns:a16="http://schemas.microsoft.com/office/drawing/2014/main" val="191473639"/>
                    </a:ext>
                  </a:extLst>
                </a:gridCol>
                <a:gridCol w="1363133">
                  <a:extLst>
                    <a:ext uri="{9D8B030D-6E8A-4147-A177-3AD203B41FA5}">
                      <a16:colId xmlns:a16="http://schemas.microsoft.com/office/drawing/2014/main" val="606070767"/>
                    </a:ext>
                  </a:extLst>
                </a:gridCol>
                <a:gridCol w="1363133">
                  <a:extLst>
                    <a:ext uri="{9D8B030D-6E8A-4147-A177-3AD203B41FA5}">
                      <a16:colId xmlns:a16="http://schemas.microsoft.com/office/drawing/2014/main" val="3488078363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가계 소득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u="none" strike="noStrike">
                          <a:effectLst/>
                        </a:rPr>
                        <a:t>2019</a:t>
                      </a:r>
                      <a:endParaRPr lang="en-US" altLang="ko-KR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u="none" strike="noStrike">
                          <a:effectLst/>
                        </a:rPr>
                        <a:t>2050</a:t>
                      </a:r>
                      <a:endParaRPr lang="en-US" altLang="ko-KR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57663036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 fontAlgn="ctr"/>
                      <a:r>
                        <a:rPr lang="en" sz="1200" u="none" strike="noStrike">
                          <a:effectLst/>
                        </a:rPr>
                        <a:t>01_KOR</a:t>
                      </a:r>
                      <a:endParaRPr lang="en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u="none" strike="noStrike">
                          <a:effectLst/>
                        </a:rPr>
                        <a:t>124.065</a:t>
                      </a:r>
                      <a:endParaRPr lang="en-US" altLang="ko-KR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u="none" strike="noStrike">
                          <a:effectLst/>
                        </a:rPr>
                        <a:t>173.99</a:t>
                      </a:r>
                      <a:endParaRPr lang="en-US" altLang="ko-KR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464257918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 fontAlgn="ctr"/>
                      <a:r>
                        <a:rPr lang="en" sz="1200" u="none" strike="noStrike">
                          <a:effectLst/>
                        </a:rPr>
                        <a:t>02_CHN</a:t>
                      </a:r>
                      <a:endParaRPr lang="en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u="none" strike="noStrike">
                          <a:effectLst/>
                        </a:rPr>
                        <a:t>1214.91</a:t>
                      </a:r>
                      <a:endParaRPr lang="en-US" altLang="ko-KR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u="none" strike="noStrike">
                          <a:effectLst/>
                        </a:rPr>
                        <a:t>2843.47</a:t>
                      </a:r>
                      <a:endParaRPr lang="en-US" altLang="ko-KR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349338392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 fontAlgn="ctr"/>
                      <a:r>
                        <a:rPr lang="en" sz="1200" u="none" strike="noStrike">
                          <a:effectLst/>
                        </a:rPr>
                        <a:t>03_JPN</a:t>
                      </a:r>
                      <a:endParaRPr lang="en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u="none" strike="noStrike">
                          <a:effectLst/>
                        </a:rPr>
                        <a:t>346.632</a:t>
                      </a:r>
                      <a:endParaRPr lang="en-US" altLang="ko-KR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u="none" strike="noStrike">
                          <a:effectLst/>
                        </a:rPr>
                        <a:t>439.498</a:t>
                      </a:r>
                      <a:endParaRPr lang="en-US" altLang="ko-KR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370130023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 fontAlgn="ctr"/>
                      <a:r>
                        <a:rPr lang="en" sz="1200" u="none" strike="noStrike">
                          <a:effectLst/>
                        </a:rPr>
                        <a:t>04_RUS</a:t>
                      </a:r>
                      <a:endParaRPr lang="en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u="none" strike="noStrike">
                          <a:effectLst/>
                        </a:rPr>
                        <a:t>140.686</a:t>
                      </a:r>
                      <a:endParaRPr lang="en-US" altLang="ko-KR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u="none" strike="noStrike">
                          <a:effectLst/>
                        </a:rPr>
                        <a:t>206.682</a:t>
                      </a:r>
                      <a:endParaRPr lang="en-US" altLang="ko-KR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434309023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 fontAlgn="ctr"/>
                      <a:r>
                        <a:rPr lang="en" sz="1200" u="none" strike="noStrike">
                          <a:effectLst/>
                        </a:rPr>
                        <a:t>05_MNG</a:t>
                      </a:r>
                      <a:endParaRPr lang="en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u="none" strike="noStrike">
                          <a:effectLst/>
                        </a:rPr>
                        <a:t>1.11004</a:t>
                      </a:r>
                      <a:endParaRPr lang="en-US" altLang="ko-KR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u="none" strike="noStrike">
                          <a:effectLst/>
                        </a:rPr>
                        <a:t>3.00523</a:t>
                      </a:r>
                      <a:endParaRPr lang="en-US" altLang="ko-KR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819411256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 fontAlgn="ctr"/>
                      <a:r>
                        <a:rPr lang="en" sz="1200" u="none" strike="noStrike">
                          <a:effectLst/>
                        </a:rPr>
                        <a:t>06_PRK</a:t>
                      </a:r>
                      <a:endParaRPr lang="en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u="none" strike="noStrike">
                          <a:effectLst/>
                        </a:rPr>
                        <a:t>1.50968</a:t>
                      </a:r>
                      <a:endParaRPr lang="en-US" altLang="ko-KR" sz="12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200" u="none" strike="noStrike" dirty="0">
                          <a:effectLst/>
                        </a:rPr>
                        <a:t>1.16061</a:t>
                      </a:r>
                      <a:endParaRPr lang="en-US" altLang="ko-KR" sz="12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576469217"/>
                  </a:ext>
                </a:extLst>
              </a:tr>
            </a:tbl>
          </a:graphicData>
        </a:graphic>
      </p:graphicFrame>
      <p:graphicFrame>
        <p:nvGraphicFramePr>
          <p:cNvPr id="3" name="차트 2">
            <a:extLst>
              <a:ext uri="{FF2B5EF4-FFF2-40B4-BE49-F238E27FC236}">
                <a16:creationId xmlns:a16="http://schemas.microsoft.com/office/drawing/2014/main" id="{604210ED-A147-2EEB-E150-3D798BCF507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564878928"/>
              </p:ext>
            </p:extLst>
          </p:nvPr>
        </p:nvGraphicFramePr>
        <p:xfrm>
          <a:off x="5681592" y="2232615"/>
          <a:ext cx="4895850" cy="31623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6" name="그래픽 1">
            <a:extLst>
              <a:ext uri="{FF2B5EF4-FFF2-40B4-BE49-F238E27FC236}">
                <a16:creationId xmlns:a16="http://schemas.microsoft.com/office/drawing/2014/main" id="{9ABCECA4-A391-1822-C902-487E6624509D}"/>
              </a:ext>
            </a:extLst>
          </p:cNvPr>
          <p:cNvSpPr/>
          <p:nvPr/>
        </p:nvSpPr>
        <p:spPr>
          <a:xfrm rot="5400000">
            <a:off x="3486523" y="3460396"/>
            <a:ext cx="3429000" cy="771525"/>
          </a:xfrm>
          <a:custGeom>
            <a:avLst/>
            <a:gdLst>
              <a:gd name="connsiteX0" fmla="*/ 3429000 w 3429000"/>
              <a:gd name="connsiteY0" fmla="*/ 771525 h 771525"/>
              <a:gd name="connsiteX1" fmla="*/ 2057400 w 3429000"/>
              <a:gd name="connsiteY1" fmla="*/ 257175 h 771525"/>
              <a:gd name="connsiteX2" fmla="*/ 2400300 w 3429000"/>
              <a:gd name="connsiteY2" fmla="*/ 257175 h 771525"/>
              <a:gd name="connsiteX3" fmla="*/ 1714500 w 3429000"/>
              <a:gd name="connsiteY3" fmla="*/ 0 h 771525"/>
              <a:gd name="connsiteX4" fmla="*/ 1028700 w 3429000"/>
              <a:gd name="connsiteY4" fmla="*/ 257175 h 771525"/>
              <a:gd name="connsiteX5" fmla="*/ 1371600 w 3429000"/>
              <a:gd name="connsiteY5" fmla="*/ 257175 h 771525"/>
              <a:gd name="connsiteX6" fmla="*/ 0 w 3429000"/>
              <a:gd name="connsiteY6" fmla="*/ 771525 h 771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429000" h="771525">
                <a:moveTo>
                  <a:pt x="3429000" y="771525"/>
                </a:moveTo>
                <a:cubicBezTo>
                  <a:pt x="2314575" y="600075"/>
                  <a:pt x="2057400" y="257175"/>
                  <a:pt x="2057400" y="257175"/>
                </a:cubicBezTo>
                <a:lnTo>
                  <a:pt x="2400300" y="257175"/>
                </a:lnTo>
                <a:lnTo>
                  <a:pt x="1714500" y="0"/>
                </a:lnTo>
                <a:lnTo>
                  <a:pt x="1028700" y="257175"/>
                </a:lnTo>
                <a:lnTo>
                  <a:pt x="1371600" y="257175"/>
                </a:lnTo>
                <a:cubicBezTo>
                  <a:pt x="1371600" y="257175"/>
                  <a:pt x="1114425" y="600075"/>
                  <a:pt x="0" y="771525"/>
                </a:cubicBezTo>
              </a:path>
            </a:pathLst>
          </a:custGeom>
          <a:gradFill>
            <a:gsLst>
              <a:gs pos="17000">
                <a:schemeClr val="accent1"/>
              </a:gs>
              <a:gs pos="0">
                <a:srgbClr val="E8F5FA"/>
              </a:gs>
              <a:gs pos="57000">
                <a:schemeClr val="tx2"/>
              </a:gs>
            </a:gsLst>
            <a:lin ang="16200000" scaled="0"/>
          </a:gra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7C2BCB5-F577-0D69-05B5-01366B08F4F2}"/>
              </a:ext>
            </a:extLst>
          </p:cNvPr>
          <p:cNvSpPr txBox="1"/>
          <p:nvPr/>
        </p:nvSpPr>
        <p:spPr>
          <a:xfrm>
            <a:off x="2469108" y="5835633"/>
            <a:ext cx="7253784" cy="73866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pPr algn="ctr">
              <a:buFont typeface="Arial" panose="020B0604020202020204" pitchFamily="34" charset="0"/>
              <a:buChar char="•"/>
            </a:pPr>
            <a:r>
              <a:rPr lang="ko-KR" altLang="en-US" sz="1400" b="1" dirty="0"/>
              <a:t>중국과 몽골</a:t>
            </a:r>
            <a:r>
              <a:rPr lang="ko-KR" altLang="en-US" sz="1400" dirty="0"/>
              <a:t>은 미래 경제 성장과 소득 증가에 따른 </a:t>
            </a:r>
            <a:r>
              <a:rPr lang="ko-KR" altLang="en-US" sz="1400" b="1" dirty="0"/>
              <a:t>저축 확대 경로</a:t>
            </a:r>
            <a:r>
              <a:rPr lang="ko-KR" altLang="en-US" sz="1400" dirty="0"/>
              <a:t>를 보임</a:t>
            </a:r>
          </a:p>
          <a:p>
            <a:pPr algn="ctr">
              <a:buFont typeface="Arial" panose="020B0604020202020204" pitchFamily="34" charset="0"/>
              <a:buChar char="•"/>
            </a:pPr>
            <a:r>
              <a:rPr lang="ko-KR" altLang="en-US" sz="1400" b="1" dirty="0"/>
              <a:t>일본과 러시아</a:t>
            </a:r>
            <a:r>
              <a:rPr lang="ko-KR" altLang="en-US" sz="1400" dirty="0"/>
              <a:t>는 인구 고령화나 소비 확대에 따라 </a:t>
            </a:r>
            <a:r>
              <a:rPr lang="ko-KR" altLang="en-US" sz="1400" b="1" dirty="0"/>
              <a:t>저축률이 감소</a:t>
            </a:r>
            <a:endParaRPr lang="ko-KR" altLang="en-US" sz="1400" dirty="0"/>
          </a:p>
          <a:p>
            <a:pPr algn="ctr">
              <a:buFont typeface="Arial" panose="020B0604020202020204" pitchFamily="34" charset="0"/>
              <a:buChar char="•"/>
            </a:pPr>
            <a:r>
              <a:rPr lang="ko-KR" altLang="en-US" sz="1400" b="1" dirty="0"/>
              <a:t>한국은 안정적인 저축 비중 유지</a:t>
            </a:r>
            <a:r>
              <a:rPr lang="en-US" altLang="ko-KR" sz="1400" dirty="0"/>
              <a:t>, </a:t>
            </a:r>
            <a:r>
              <a:rPr lang="ko-KR" altLang="en-US" sz="1400" b="1" dirty="0"/>
              <a:t>북한은 구조적 변화 미약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14122919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CEA38E-323B-501F-F456-068A49EC8B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그룹 7">
            <a:extLst>
              <a:ext uri="{FF2B5EF4-FFF2-40B4-BE49-F238E27FC236}">
                <a16:creationId xmlns:a16="http://schemas.microsoft.com/office/drawing/2014/main" id="{2CEE2FA6-667F-6A5B-E94D-6BA5DE9DAB31}"/>
              </a:ext>
            </a:extLst>
          </p:cNvPr>
          <p:cNvGrpSpPr/>
          <p:nvPr/>
        </p:nvGrpSpPr>
        <p:grpSpPr>
          <a:xfrm>
            <a:off x="280800" y="491352"/>
            <a:ext cx="8089700" cy="977190"/>
            <a:chOff x="278836" y="391603"/>
            <a:chExt cx="8089700" cy="977190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AC6B8A46-0859-8B51-F073-A30848D8D1F3}"/>
                </a:ext>
              </a:extLst>
            </p:cNvPr>
            <p:cNvSpPr txBox="1"/>
            <p:nvPr/>
          </p:nvSpPr>
          <p:spPr>
            <a:xfrm>
              <a:off x="278836" y="391603"/>
              <a:ext cx="700513" cy="5693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3100" b="1" spc="-13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2">
                      <a:lumMod val="50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01.</a:t>
              </a:r>
              <a:endParaRPr lang="ko-KR" altLang="en-US" sz="3100" b="1" spc="-13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2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09F25B62-ACC3-218E-C9E3-39282FEC563C}"/>
                </a:ext>
              </a:extLst>
            </p:cNvPr>
            <p:cNvSpPr txBox="1"/>
            <p:nvPr/>
          </p:nvSpPr>
          <p:spPr>
            <a:xfrm>
              <a:off x="908667" y="414686"/>
              <a:ext cx="7459869" cy="954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2800" b="1" spc="-150" dirty="0">
                  <a:latin typeface="+mn-ea"/>
                </a:rPr>
                <a:t>AQ Linkage</a:t>
              </a:r>
              <a:r>
                <a:rPr lang="ko-KR" altLang="en-US" sz="2800" b="1" spc="-150" dirty="0">
                  <a:latin typeface="+mn-ea"/>
                </a:rPr>
                <a:t> 결과 검증</a:t>
              </a:r>
              <a:endParaRPr lang="en-US" altLang="ko-KR" sz="2800" b="1" spc="-150" dirty="0">
                <a:latin typeface="+mn-ea"/>
              </a:endParaRPr>
            </a:p>
            <a:p>
              <a:endParaRPr lang="en-US" altLang="ko-KR" sz="2800" b="1" spc="-1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2E5B5547-3D3A-85CD-A291-2AE4C8DBE63C}"/>
              </a:ext>
            </a:extLst>
          </p:cNvPr>
          <p:cNvGrpSpPr/>
          <p:nvPr/>
        </p:nvGrpSpPr>
        <p:grpSpPr>
          <a:xfrm>
            <a:off x="414000" y="1149913"/>
            <a:ext cx="140400" cy="313200"/>
            <a:chOff x="3767328" y="1146994"/>
            <a:chExt cx="1609344" cy="1334252"/>
          </a:xfrm>
        </p:grpSpPr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962BDD0B-DA58-FE28-FB15-AA0277426DF1}"/>
                </a:ext>
              </a:extLst>
            </p:cNvPr>
            <p:cNvSpPr/>
            <p:nvPr/>
          </p:nvSpPr>
          <p:spPr>
            <a:xfrm>
              <a:off x="3767328" y="1146994"/>
              <a:ext cx="1609344" cy="1334252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" name="직사각형 27">
              <a:extLst>
                <a:ext uri="{FF2B5EF4-FFF2-40B4-BE49-F238E27FC236}">
                  <a16:creationId xmlns:a16="http://schemas.microsoft.com/office/drawing/2014/main" id="{A7895FEC-08D7-CC23-C16D-84837386298B}"/>
                </a:ext>
              </a:extLst>
            </p:cNvPr>
            <p:cNvSpPr/>
            <p:nvPr/>
          </p:nvSpPr>
          <p:spPr>
            <a:xfrm>
              <a:off x="3767328" y="1146994"/>
              <a:ext cx="927337" cy="1334252"/>
            </a:xfrm>
            <a:custGeom>
              <a:avLst/>
              <a:gdLst/>
              <a:ahLst/>
              <a:cxnLst/>
              <a:rect l="l" t="t" r="r" b="b"/>
              <a:pathLst>
                <a:path w="927337" h="1334252">
                  <a:moveTo>
                    <a:pt x="0" y="0"/>
                  </a:moveTo>
                  <a:lnTo>
                    <a:pt x="927337" y="0"/>
                  </a:lnTo>
                  <a:lnTo>
                    <a:pt x="269673" y="1334252"/>
                  </a:lnTo>
                  <a:lnTo>
                    <a:pt x="0" y="1334252"/>
                  </a:lnTo>
                  <a:close/>
                </a:path>
              </a:pathLst>
            </a:custGeom>
            <a:solidFill>
              <a:schemeClr val="bg1">
                <a:alpha val="12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20" name="직사각형 27">
            <a:extLst>
              <a:ext uri="{FF2B5EF4-FFF2-40B4-BE49-F238E27FC236}">
                <a16:creationId xmlns:a16="http://schemas.microsoft.com/office/drawing/2014/main" id="{D2A5CB4A-BAA3-A460-D39D-D1E6B3121B5F}"/>
              </a:ext>
            </a:extLst>
          </p:cNvPr>
          <p:cNvSpPr/>
          <p:nvPr/>
        </p:nvSpPr>
        <p:spPr>
          <a:xfrm>
            <a:off x="-2252700" y="1538244"/>
            <a:ext cx="80901" cy="313200"/>
          </a:xfrm>
          <a:custGeom>
            <a:avLst/>
            <a:gdLst/>
            <a:ahLst/>
            <a:cxnLst/>
            <a:rect l="l" t="t" r="r" b="b"/>
            <a:pathLst>
              <a:path w="927337" h="1334252">
                <a:moveTo>
                  <a:pt x="0" y="0"/>
                </a:moveTo>
                <a:lnTo>
                  <a:pt x="927337" y="0"/>
                </a:lnTo>
                <a:lnTo>
                  <a:pt x="269673" y="1334252"/>
                </a:lnTo>
                <a:lnTo>
                  <a:pt x="0" y="1334252"/>
                </a:lnTo>
                <a:close/>
              </a:path>
            </a:pathLst>
          </a:custGeom>
          <a:solidFill>
            <a:schemeClr val="bg1">
              <a:alpha val="1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191001F-D9C0-67D4-EB89-4012FFA6BBC5}"/>
              </a:ext>
            </a:extLst>
          </p:cNvPr>
          <p:cNvSpPr txBox="1"/>
          <p:nvPr/>
        </p:nvSpPr>
        <p:spPr>
          <a:xfrm>
            <a:off x="1790713" y="5531782"/>
            <a:ext cx="8610571" cy="116955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ko-KR" altLang="en-US" sz="1400" b="1" dirty="0"/>
              <a:t>중국</a:t>
            </a:r>
            <a:r>
              <a:rPr lang="en-US" altLang="ko-KR" sz="1400" dirty="0"/>
              <a:t>: </a:t>
            </a:r>
            <a:r>
              <a:rPr lang="ko-KR" altLang="en-US" sz="1400" dirty="0"/>
              <a:t>세계 최대 자본 공급국으로 부상 → 저축 초과</a:t>
            </a:r>
            <a:r>
              <a:rPr lang="en-US" altLang="ko-KR" sz="1400" dirty="0"/>
              <a:t>, </a:t>
            </a:r>
            <a:r>
              <a:rPr lang="ko-KR" altLang="en-US" sz="1400" dirty="0"/>
              <a:t>무역흑자</a:t>
            </a:r>
            <a:r>
              <a:rPr lang="en-US" altLang="ko-KR" sz="1400" dirty="0"/>
              <a:t>, </a:t>
            </a:r>
            <a:r>
              <a:rPr lang="ko-KR" altLang="en-US" sz="1400" dirty="0"/>
              <a:t>투자수출 확대 가능성</a:t>
            </a:r>
          </a:p>
          <a:p>
            <a:pPr algn="ctr"/>
            <a:r>
              <a:rPr lang="ko-KR" altLang="en-US" sz="1400" b="1" dirty="0"/>
              <a:t>한국</a:t>
            </a:r>
            <a:r>
              <a:rPr lang="en-US" altLang="ko-KR" sz="1400" b="1" dirty="0"/>
              <a:t>·</a:t>
            </a:r>
            <a:r>
              <a:rPr lang="ko-KR" altLang="en-US" sz="1400" b="1" dirty="0"/>
              <a:t>러시아</a:t>
            </a:r>
            <a:r>
              <a:rPr lang="en-US" altLang="ko-KR" sz="1400" dirty="0"/>
              <a:t>: </a:t>
            </a:r>
            <a:r>
              <a:rPr lang="ko-KR" altLang="en-US" sz="1400" dirty="0"/>
              <a:t>안정적 </a:t>
            </a:r>
            <a:r>
              <a:rPr lang="ko-KR" altLang="en-US" sz="1400" dirty="0" err="1"/>
              <a:t>순유출</a:t>
            </a:r>
            <a:r>
              <a:rPr lang="ko-KR" altLang="en-US" sz="1400" dirty="0"/>
              <a:t> 구조 → 제조</a:t>
            </a:r>
            <a:r>
              <a:rPr lang="en-US" altLang="ko-KR" sz="1400" dirty="0"/>
              <a:t>·</a:t>
            </a:r>
            <a:r>
              <a:rPr lang="ko-KR" altLang="en-US" sz="1400" dirty="0"/>
              <a:t>자원 기반 수출국 특성 유지</a:t>
            </a:r>
            <a:endParaRPr lang="en-US" altLang="ko-KR" sz="1400" dirty="0"/>
          </a:p>
          <a:p>
            <a:pPr algn="ctr"/>
            <a:r>
              <a:rPr lang="ko-KR" altLang="en-US" sz="1400" b="1" dirty="0"/>
              <a:t>몽골</a:t>
            </a:r>
            <a:r>
              <a:rPr lang="en-US" altLang="ko-KR" sz="1400" dirty="0"/>
              <a:t>: </a:t>
            </a:r>
            <a:r>
              <a:rPr lang="ko-KR" altLang="en-US" sz="1400" dirty="0" err="1"/>
              <a:t>순유출</a:t>
            </a:r>
            <a:r>
              <a:rPr lang="ko-KR" altLang="en-US" sz="1400" dirty="0"/>
              <a:t> 규모는 작지만 점진적으로 확대 → </a:t>
            </a:r>
            <a:r>
              <a:rPr lang="ko-KR" altLang="en-US" sz="1400" dirty="0" err="1"/>
              <a:t>중소득</a:t>
            </a:r>
            <a:r>
              <a:rPr lang="ko-KR" altLang="en-US" sz="1400" dirty="0"/>
              <a:t> 성장국의 자본공급국 이행 가능성</a:t>
            </a:r>
          </a:p>
          <a:p>
            <a:pPr algn="ctr"/>
            <a:r>
              <a:rPr lang="ko-KR" altLang="en-US" sz="1400" b="1" dirty="0"/>
              <a:t>일본</a:t>
            </a:r>
            <a:r>
              <a:rPr lang="en-US" altLang="ko-KR" sz="1400" dirty="0"/>
              <a:t>: </a:t>
            </a:r>
            <a:r>
              <a:rPr lang="ko-KR" altLang="en-US" sz="1400" dirty="0"/>
              <a:t>고령화에 따라 </a:t>
            </a:r>
            <a:r>
              <a:rPr lang="ko-KR" altLang="en-US" sz="1400" dirty="0" err="1"/>
              <a:t>순유입</a:t>
            </a:r>
            <a:r>
              <a:rPr lang="ko-KR" altLang="en-US" sz="1400" dirty="0"/>
              <a:t> 유지 또는 확대 가능성</a:t>
            </a:r>
          </a:p>
          <a:p>
            <a:pPr algn="ctr"/>
            <a:r>
              <a:rPr lang="ko-KR" altLang="en-US" sz="1400" b="1" dirty="0"/>
              <a:t>북한</a:t>
            </a:r>
            <a:r>
              <a:rPr lang="en-US" altLang="ko-KR" sz="1400" dirty="0"/>
              <a:t>: </a:t>
            </a:r>
            <a:r>
              <a:rPr lang="en" altLang="ko-KR" sz="1400" dirty="0"/>
              <a:t>SROW </a:t>
            </a:r>
            <a:r>
              <a:rPr lang="ko-KR" altLang="en-US" sz="1400" dirty="0"/>
              <a:t>변화 거의 없음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56E92023-460D-A3A2-7B3A-D21738C09BAA}"/>
              </a:ext>
            </a:extLst>
          </p:cNvPr>
          <p:cNvSpPr/>
          <p:nvPr/>
        </p:nvSpPr>
        <p:spPr>
          <a:xfrm>
            <a:off x="562172" y="1087242"/>
            <a:ext cx="9734163" cy="400110"/>
          </a:xfrm>
          <a:prstGeom prst="rect">
            <a:avLst/>
          </a:prstGeom>
        </p:spPr>
        <p:txBody>
          <a:bodyPr wrap="square" anchor="ctr" anchorCtr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2000" b="1" kern="0" spc="-150" dirty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내적 정합성 검증</a:t>
            </a:r>
            <a:r>
              <a:rPr lang="en-US" altLang="ko-KR" sz="2000" b="1" kern="0" spc="-150" dirty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_(2)</a:t>
            </a:r>
            <a:r>
              <a:rPr lang="ko-KR" altLang="en-US" sz="2000" b="1" kern="0" spc="-150" dirty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 가계 저축률 및 </a:t>
            </a:r>
            <a:r>
              <a:rPr lang="ko-KR" altLang="en-US" sz="2000" b="1" kern="0" spc="-150" dirty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C00000"/>
                </a:solidFill>
                <a:latin typeface="맑은 고딕"/>
                <a:ea typeface="맑은 고딕" panose="020B0503020000020004" pitchFamily="50" charset="-127"/>
              </a:rPr>
              <a:t>국가 무역수지구조</a:t>
            </a:r>
            <a:endParaRPr kumimoji="0" lang="ko-KR" altLang="en-US" sz="1400" b="1" i="0" u="none" strike="noStrike" kern="0" cap="none" spc="-150" normalizeH="0" baseline="0" noProof="0" dirty="0">
              <a:ln>
                <a:solidFill>
                  <a:srgbClr val="4472C4">
                    <a:alpha val="0"/>
                  </a:srgbClr>
                </a:solidFill>
              </a:ln>
              <a:solidFill>
                <a:srgbClr val="C00000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graphicFrame>
        <p:nvGraphicFramePr>
          <p:cNvPr id="11" name="차트 10">
            <a:extLst>
              <a:ext uri="{FF2B5EF4-FFF2-40B4-BE49-F238E27FC236}">
                <a16:creationId xmlns:a16="http://schemas.microsoft.com/office/drawing/2014/main" id="{559B97A6-D6ED-8A87-7EEA-83D0FC98D47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675276851"/>
              </p:ext>
            </p:extLst>
          </p:nvPr>
        </p:nvGraphicFramePr>
        <p:xfrm>
          <a:off x="2349689" y="1538244"/>
          <a:ext cx="7492621" cy="35623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4135556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452EC5-B053-781A-CA31-84B68B1165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그룹 7">
            <a:extLst>
              <a:ext uri="{FF2B5EF4-FFF2-40B4-BE49-F238E27FC236}">
                <a16:creationId xmlns:a16="http://schemas.microsoft.com/office/drawing/2014/main" id="{B6B5536C-7A81-529E-FE09-85FE3E17263B}"/>
              </a:ext>
            </a:extLst>
          </p:cNvPr>
          <p:cNvGrpSpPr/>
          <p:nvPr/>
        </p:nvGrpSpPr>
        <p:grpSpPr>
          <a:xfrm>
            <a:off x="280800" y="491352"/>
            <a:ext cx="8089700" cy="977190"/>
            <a:chOff x="278836" y="391603"/>
            <a:chExt cx="8089700" cy="977190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7086F415-81B4-CF50-773E-B52C9EFC02C8}"/>
                </a:ext>
              </a:extLst>
            </p:cNvPr>
            <p:cNvSpPr txBox="1"/>
            <p:nvPr/>
          </p:nvSpPr>
          <p:spPr>
            <a:xfrm>
              <a:off x="278836" y="391603"/>
              <a:ext cx="700513" cy="5693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3100" b="1" spc="-13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2">
                      <a:lumMod val="50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01.</a:t>
              </a:r>
              <a:endParaRPr lang="ko-KR" altLang="en-US" sz="3100" b="1" spc="-13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2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F302F924-3965-22B6-0CE7-C6C179E78BF2}"/>
                </a:ext>
              </a:extLst>
            </p:cNvPr>
            <p:cNvSpPr txBox="1"/>
            <p:nvPr/>
          </p:nvSpPr>
          <p:spPr>
            <a:xfrm>
              <a:off x="908667" y="414686"/>
              <a:ext cx="7459869" cy="954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2800" b="1" spc="-150" dirty="0">
                  <a:latin typeface="+mn-ea"/>
                </a:rPr>
                <a:t>AQ Linkage </a:t>
              </a:r>
              <a:r>
                <a:rPr lang="ko-KR" altLang="en-US" sz="2800" b="1" spc="-150" dirty="0">
                  <a:latin typeface="+mn-ea"/>
                </a:rPr>
                <a:t>결과 검증</a:t>
              </a:r>
              <a:endParaRPr lang="en-US" altLang="ko-KR" sz="2800" b="1" spc="-150" dirty="0">
                <a:latin typeface="+mn-ea"/>
              </a:endParaRPr>
            </a:p>
            <a:p>
              <a:endParaRPr lang="en-US" altLang="ko-KR" sz="2800" b="1" spc="-1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30F62660-E475-5F57-1C3E-7D864445343E}"/>
              </a:ext>
            </a:extLst>
          </p:cNvPr>
          <p:cNvGrpSpPr/>
          <p:nvPr/>
        </p:nvGrpSpPr>
        <p:grpSpPr>
          <a:xfrm>
            <a:off x="414000" y="1149913"/>
            <a:ext cx="140400" cy="313200"/>
            <a:chOff x="3767328" y="1146994"/>
            <a:chExt cx="1609344" cy="1334252"/>
          </a:xfrm>
        </p:grpSpPr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0E63FE22-A12E-6246-0509-D634C8E054DF}"/>
                </a:ext>
              </a:extLst>
            </p:cNvPr>
            <p:cNvSpPr/>
            <p:nvPr/>
          </p:nvSpPr>
          <p:spPr>
            <a:xfrm>
              <a:off x="3767328" y="1146994"/>
              <a:ext cx="1609344" cy="1334252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" name="직사각형 27">
              <a:extLst>
                <a:ext uri="{FF2B5EF4-FFF2-40B4-BE49-F238E27FC236}">
                  <a16:creationId xmlns:a16="http://schemas.microsoft.com/office/drawing/2014/main" id="{1813C210-09D3-6D07-9297-6EA3B2796715}"/>
                </a:ext>
              </a:extLst>
            </p:cNvPr>
            <p:cNvSpPr/>
            <p:nvPr/>
          </p:nvSpPr>
          <p:spPr>
            <a:xfrm>
              <a:off x="3767328" y="1146994"/>
              <a:ext cx="927337" cy="1334252"/>
            </a:xfrm>
            <a:custGeom>
              <a:avLst/>
              <a:gdLst/>
              <a:ahLst/>
              <a:cxnLst/>
              <a:rect l="l" t="t" r="r" b="b"/>
              <a:pathLst>
                <a:path w="927337" h="1334252">
                  <a:moveTo>
                    <a:pt x="0" y="0"/>
                  </a:moveTo>
                  <a:lnTo>
                    <a:pt x="927337" y="0"/>
                  </a:lnTo>
                  <a:lnTo>
                    <a:pt x="269673" y="1334252"/>
                  </a:lnTo>
                  <a:lnTo>
                    <a:pt x="0" y="1334252"/>
                  </a:lnTo>
                  <a:close/>
                </a:path>
              </a:pathLst>
            </a:custGeom>
            <a:solidFill>
              <a:schemeClr val="bg1">
                <a:alpha val="12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D470A762-54AD-ECE5-4E69-DC5D954436AB}"/>
              </a:ext>
            </a:extLst>
          </p:cNvPr>
          <p:cNvGrpSpPr/>
          <p:nvPr/>
        </p:nvGrpSpPr>
        <p:grpSpPr>
          <a:xfrm>
            <a:off x="407373" y="1087242"/>
            <a:ext cx="9888962" cy="400110"/>
            <a:chOff x="456760" y="946438"/>
            <a:chExt cx="9888962" cy="400110"/>
          </a:xfrm>
        </p:grpSpPr>
        <p:sp>
          <p:nvSpPr>
            <p:cNvPr id="17" name="직사각형 16">
              <a:extLst>
                <a:ext uri="{FF2B5EF4-FFF2-40B4-BE49-F238E27FC236}">
                  <a16:creationId xmlns:a16="http://schemas.microsoft.com/office/drawing/2014/main" id="{3B9837A3-1E38-7958-35E4-8CB4BDCA5497}"/>
                </a:ext>
              </a:extLst>
            </p:cNvPr>
            <p:cNvSpPr/>
            <p:nvPr/>
          </p:nvSpPr>
          <p:spPr>
            <a:xfrm>
              <a:off x="611559" y="946438"/>
              <a:ext cx="9734163" cy="400110"/>
            </a:xfrm>
            <a:prstGeom prst="rect">
              <a:avLst/>
            </a:prstGeom>
          </p:spPr>
          <p:txBody>
            <a:bodyPr wrap="square" anchor="ctr" anchorCtr="0">
              <a:spAutoFit/>
            </a:bodyPr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2000" b="1" i="0" u="none" strike="noStrike" kern="0" cap="none" spc="-150" normalizeH="0" baseline="0" noProof="0" dirty="0">
                  <a:ln>
                    <a:solidFill>
                      <a:srgbClr val="4472C4">
                        <a:alpha val="0"/>
                      </a:srgbClr>
                    </a:solidFill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/>
                  <a:ea typeface="맑은 고딕" panose="020B0503020000020004" pitchFamily="50" charset="-127"/>
                  <a:cs typeface="+mn-cs"/>
                </a:rPr>
                <a:t>결과 정리 및 </a:t>
              </a:r>
              <a:r>
                <a:rPr kumimoji="0" lang="en-US" altLang="ko-KR" sz="2000" b="1" i="0" u="none" strike="noStrike" kern="0" cap="none" spc="-150" normalizeH="0" baseline="0" noProof="0" dirty="0">
                  <a:ln>
                    <a:solidFill>
                      <a:srgbClr val="4472C4">
                        <a:alpha val="0"/>
                      </a:srgbClr>
                    </a:solidFill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/>
                  <a:ea typeface="맑은 고딕" panose="020B0503020000020004" pitchFamily="50" charset="-127"/>
                  <a:cs typeface="+mn-cs"/>
                </a:rPr>
                <a:t>7</a:t>
              </a:r>
              <a:r>
                <a:rPr kumimoji="0" lang="ko-KR" altLang="en-US" sz="2000" b="1" i="0" u="none" strike="noStrike" kern="0" cap="none" spc="-150" normalizeH="0" baseline="0" noProof="0" dirty="0">
                  <a:ln>
                    <a:solidFill>
                      <a:srgbClr val="4472C4">
                        <a:alpha val="0"/>
                      </a:srgbClr>
                    </a:solidFill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/>
                  <a:ea typeface="맑은 고딕" panose="020B0503020000020004" pitchFamily="50" charset="-127"/>
                  <a:cs typeface="+mn-cs"/>
                </a:rPr>
                <a:t>월 연구 진행 방향</a:t>
              </a:r>
              <a:endParaRPr kumimoji="0" lang="ko-KR" altLang="en-US" sz="1400" b="1" i="0" u="none" strike="noStrike" kern="0" cap="none" spc="-150" normalizeH="0" baseline="0" noProof="0" dirty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srgbClr val="1F497D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20" name="직사각형 27">
              <a:extLst>
                <a:ext uri="{FF2B5EF4-FFF2-40B4-BE49-F238E27FC236}">
                  <a16:creationId xmlns:a16="http://schemas.microsoft.com/office/drawing/2014/main" id="{D996B5A5-108D-2A5E-40F5-22D0E3C57C84}"/>
                </a:ext>
              </a:extLst>
            </p:cNvPr>
            <p:cNvSpPr/>
            <p:nvPr/>
          </p:nvSpPr>
          <p:spPr>
            <a:xfrm>
              <a:off x="456760" y="1024183"/>
              <a:ext cx="80901" cy="313200"/>
            </a:xfrm>
            <a:custGeom>
              <a:avLst/>
              <a:gdLst/>
              <a:ahLst/>
              <a:cxnLst/>
              <a:rect l="l" t="t" r="r" b="b"/>
              <a:pathLst>
                <a:path w="927337" h="1334252">
                  <a:moveTo>
                    <a:pt x="0" y="0"/>
                  </a:moveTo>
                  <a:lnTo>
                    <a:pt x="927337" y="0"/>
                  </a:lnTo>
                  <a:lnTo>
                    <a:pt x="269673" y="1334252"/>
                  </a:lnTo>
                  <a:lnTo>
                    <a:pt x="0" y="1334252"/>
                  </a:lnTo>
                  <a:close/>
                </a:path>
              </a:pathLst>
            </a:custGeom>
            <a:solidFill>
              <a:schemeClr val="bg1">
                <a:alpha val="12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3192AB8-F72F-E410-30CC-873BF5A24B17}"/>
              </a:ext>
            </a:extLst>
          </p:cNvPr>
          <p:cNvSpPr txBox="1">
            <a:spLocks/>
          </p:cNvSpPr>
          <p:nvPr/>
        </p:nvSpPr>
        <p:spPr bwMode="auto">
          <a:xfrm>
            <a:off x="318050" y="5693013"/>
            <a:ext cx="11555900" cy="7906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>
            <a:lvl1pPr marL="457200" indent="-457200" algn="l" rtl="0" eaLnBrk="1" fontAlgn="base" latinLnBrk="1" hangingPunct="1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•"/>
              <a:defRPr sz="1800" b="1" kern="1200" spc="-60">
                <a:solidFill>
                  <a:schemeClr val="tx1"/>
                </a:solidFill>
                <a:latin typeface="+mn-lt"/>
                <a:ea typeface="맑은 고딕" pitchFamily="50" charset="-127"/>
                <a:cs typeface="+mn-cs"/>
              </a:defRPr>
            </a:lvl1pPr>
            <a:lvl2pPr marL="742950" indent="-285750" algn="l" rtl="0" eaLnBrk="1" fontAlgn="base" latinLnBrk="1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1600" kern="1200" spc="-60">
                <a:solidFill>
                  <a:schemeClr val="tx1"/>
                </a:solidFill>
                <a:latin typeface="+mn-lt"/>
                <a:ea typeface="맑은 고딕" pitchFamily="50" charset="-127"/>
                <a:cs typeface="+mn-cs"/>
              </a:defRPr>
            </a:lvl2pPr>
            <a:lvl3pPr marL="1143000" indent="-228600" algn="l" rtl="0" eaLnBrk="1" fontAlgn="base" latinLnBrk="1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1400" kern="1200" spc="-60">
                <a:solidFill>
                  <a:schemeClr val="tx1"/>
                </a:solidFill>
                <a:latin typeface="+mn-lt"/>
                <a:ea typeface="맑은 고딕" pitchFamily="50" charset="-127"/>
                <a:cs typeface="+mn-cs"/>
              </a:defRPr>
            </a:lvl3pPr>
            <a:lvl4pPr marL="1600200" indent="-228600" algn="l" rtl="0" eaLnBrk="1" fontAlgn="base" latinLnBrk="1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1200" kern="1200" spc="-60">
                <a:solidFill>
                  <a:schemeClr val="tx1"/>
                </a:solidFill>
                <a:latin typeface="+mn-lt"/>
                <a:ea typeface="맑은 고딕" pitchFamily="50" charset="-127"/>
                <a:cs typeface="+mn-cs"/>
              </a:defRPr>
            </a:lvl4pPr>
            <a:lvl5pPr marL="2057400" indent="-228600" algn="l" rtl="0" eaLnBrk="1" fontAlgn="base" latinLnBrk="1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1200" kern="1200" spc="-60">
                <a:solidFill>
                  <a:schemeClr val="tx1"/>
                </a:solidFill>
                <a:latin typeface="+mn-lt"/>
                <a:ea typeface="맑은 고딕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defTabSz="457200">
              <a:lnSpc>
                <a:spcPct val="150000"/>
              </a:lnSpc>
              <a:buNone/>
              <a:defRPr/>
            </a:pPr>
            <a:r>
              <a:rPr lang="en-US" altLang="ko-KR" sz="1500" i="1" kern="0" spc="-150" dirty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7</a:t>
            </a:r>
            <a:r>
              <a:rPr lang="ko-KR" altLang="en-US" sz="1500" i="1" kern="0" spc="-150" dirty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월 연구에서는</a:t>
            </a:r>
            <a:r>
              <a:rPr lang="en-US" altLang="ko-KR" sz="1500" i="1" kern="0" spc="-150" dirty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,</a:t>
            </a:r>
            <a:r>
              <a:rPr lang="ko-KR" altLang="en-US" sz="1500" i="1" kern="0" spc="-150" dirty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" altLang="ko-KR" sz="1500" i="1" kern="0" spc="-150" dirty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G-RDEM </a:t>
            </a:r>
            <a:r>
              <a:rPr lang="ko-KR" altLang="en-US" sz="1500" i="1" kern="0" spc="-150" dirty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기반 산업연관</a:t>
            </a:r>
            <a:r>
              <a:rPr lang="en-US" altLang="ko-KR" sz="1500" i="1" kern="0" spc="-150" dirty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en" altLang="ko-KR" sz="1500" i="1" kern="0" spc="-150" dirty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IO) </a:t>
            </a:r>
            <a:r>
              <a:rPr lang="ko-KR" altLang="en-US" sz="1500" i="1" kern="0" spc="-150" dirty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구조 변화를 분석하여 경제성장에 따른 구조적 전환을 검토예정</a:t>
            </a:r>
            <a:r>
              <a:rPr lang="en-US" altLang="ko-KR" sz="1500" i="1" kern="0" spc="-150" dirty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</a:p>
          <a:p>
            <a:pPr marL="0" indent="0" algn="ctr" defTabSz="457200">
              <a:lnSpc>
                <a:spcPct val="150000"/>
              </a:lnSpc>
              <a:buNone/>
              <a:defRPr/>
            </a:pPr>
            <a:r>
              <a:rPr lang="ko-KR" altLang="en-US" sz="1500" i="1" kern="0" spc="-150" dirty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부가가치 및 중간재 투입 비중의 변화를 중심으로 산업구조 전환의 내적 정합성을 평가 예정</a:t>
            </a:r>
            <a:r>
              <a:rPr lang="en-US" altLang="ko-KR" sz="1500" i="1" kern="0" spc="-150" dirty="0">
                <a:ln>
                  <a:solidFill>
                    <a:srgbClr val="4472C4">
                      <a:alpha val="0"/>
                    </a:srgbClr>
                  </a:solidFill>
                </a:ln>
                <a:solidFill>
                  <a:prstClr val="black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  <a:endParaRPr lang="ko-KR" altLang="en-US" sz="1500" i="1" kern="0" spc="-150" dirty="0">
              <a:ln>
                <a:solidFill>
                  <a:srgbClr val="4472C4">
                    <a:alpha val="0"/>
                  </a:srgbClr>
                </a:solidFill>
              </a:ln>
              <a:solidFill>
                <a:prstClr val="black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6CA97699-62CF-20CC-39CF-7B11F434FFC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29323100"/>
              </p:ext>
            </p:extLst>
          </p:nvPr>
        </p:nvGraphicFramePr>
        <p:xfrm>
          <a:off x="407372" y="1750148"/>
          <a:ext cx="11555900" cy="3640756"/>
        </p:xfrm>
        <a:graphic>
          <a:graphicData uri="http://schemas.openxmlformats.org/drawingml/2006/table">
            <a:tbl>
              <a:tblPr>
                <a:tableStyleId>{793D81CF-94F2-401A-BA57-92F5A7B2D0C5}</a:tableStyleId>
              </a:tblPr>
              <a:tblGrid>
                <a:gridCol w="831804">
                  <a:extLst>
                    <a:ext uri="{9D8B030D-6E8A-4147-A177-3AD203B41FA5}">
                      <a16:colId xmlns:a16="http://schemas.microsoft.com/office/drawing/2014/main" val="395142077"/>
                    </a:ext>
                  </a:extLst>
                </a:gridCol>
                <a:gridCol w="3526478">
                  <a:extLst>
                    <a:ext uri="{9D8B030D-6E8A-4147-A177-3AD203B41FA5}">
                      <a16:colId xmlns:a16="http://schemas.microsoft.com/office/drawing/2014/main" val="955527306"/>
                    </a:ext>
                  </a:extLst>
                </a:gridCol>
                <a:gridCol w="1695659">
                  <a:extLst>
                    <a:ext uri="{9D8B030D-6E8A-4147-A177-3AD203B41FA5}">
                      <a16:colId xmlns:a16="http://schemas.microsoft.com/office/drawing/2014/main" val="2288009937"/>
                    </a:ext>
                  </a:extLst>
                </a:gridCol>
                <a:gridCol w="2408327">
                  <a:extLst>
                    <a:ext uri="{9D8B030D-6E8A-4147-A177-3AD203B41FA5}">
                      <a16:colId xmlns:a16="http://schemas.microsoft.com/office/drawing/2014/main" val="3311618538"/>
                    </a:ext>
                  </a:extLst>
                </a:gridCol>
                <a:gridCol w="1153134">
                  <a:extLst>
                    <a:ext uri="{9D8B030D-6E8A-4147-A177-3AD203B41FA5}">
                      <a16:colId xmlns:a16="http://schemas.microsoft.com/office/drawing/2014/main" val="2742781336"/>
                    </a:ext>
                  </a:extLst>
                </a:gridCol>
                <a:gridCol w="1940498">
                  <a:extLst>
                    <a:ext uri="{9D8B030D-6E8A-4147-A177-3AD203B41FA5}">
                      <a16:colId xmlns:a16="http://schemas.microsoft.com/office/drawing/2014/main" val="3559045050"/>
                    </a:ext>
                  </a:extLst>
                </a:gridCol>
              </a:tblGrid>
              <a:tr h="55561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200" b="1" dirty="0"/>
                        <a:t>국가</a:t>
                      </a:r>
                      <a:endParaRPr lang="ko-KR" altLang="en-US" sz="1200" dirty="0"/>
                    </a:p>
                  </a:txBody>
                  <a:tcPr marL="31995" marR="31995" marT="15998" marB="15998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200" b="1" dirty="0"/>
                        <a:t>소비 구조 변화 </a:t>
                      </a:r>
                      <a:r>
                        <a:rPr lang="en-US" altLang="ko-KR" sz="1200" b="1" dirty="0"/>
                        <a:t>(6</a:t>
                      </a:r>
                      <a:r>
                        <a:rPr lang="ko-KR" altLang="en-US" sz="1200" b="1" dirty="0"/>
                        <a:t>대 품목 기준</a:t>
                      </a:r>
                      <a:r>
                        <a:rPr lang="en-US" altLang="ko-KR" sz="1200" b="1" dirty="0"/>
                        <a:t>)</a:t>
                      </a:r>
                      <a:endParaRPr lang="ko-KR" altLang="en-US" sz="1200" dirty="0"/>
                    </a:p>
                  </a:txBody>
                  <a:tcPr marL="31995" marR="31995" marT="15998" marB="15998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200" b="1" dirty="0"/>
                        <a:t>저축률 변화 </a:t>
                      </a:r>
                      <a:r>
                        <a:rPr lang="en-US" altLang="ko-KR" sz="1200" b="1" dirty="0"/>
                        <a:t>(</a:t>
                      </a:r>
                      <a:r>
                        <a:rPr lang="en" sz="1200" b="1" dirty="0"/>
                        <a:t>SH/YDH)</a:t>
                      </a:r>
                      <a:endParaRPr lang="en" sz="1200" dirty="0"/>
                    </a:p>
                  </a:txBody>
                  <a:tcPr marL="31995" marR="31995" marT="15998" marB="15998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" sz="1200" b="1" dirty="0"/>
                        <a:t>SROW </a:t>
                      </a:r>
                      <a:r>
                        <a:rPr lang="ko-KR" altLang="en-US" sz="1200" b="1" dirty="0"/>
                        <a:t>변화 </a:t>
                      </a:r>
                      <a:r>
                        <a:rPr lang="en-US" altLang="ko-KR" sz="1200" b="1" dirty="0"/>
                        <a:t>(</a:t>
                      </a:r>
                      <a:r>
                        <a:rPr lang="ko-KR" altLang="en-US" sz="1200" b="1" dirty="0"/>
                        <a:t>자본 </a:t>
                      </a:r>
                      <a:r>
                        <a:rPr lang="ko-KR" altLang="en-US" sz="1200" b="1" dirty="0" err="1"/>
                        <a:t>유출입</a:t>
                      </a:r>
                      <a:r>
                        <a:rPr lang="en-US" altLang="ko-KR" sz="1200" b="1" dirty="0"/>
                        <a:t>)</a:t>
                      </a:r>
                      <a:endParaRPr lang="ko-KR" altLang="en-US" sz="1200" dirty="0"/>
                    </a:p>
                  </a:txBody>
                  <a:tcPr marL="31995" marR="31995" marT="15998" marB="15998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200" b="1" dirty="0"/>
                        <a:t>정합성 평가</a:t>
                      </a:r>
                      <a:endParaRPr lang="ko-KR" altLang="en-US" sz="1200" dirty="0"/>
                    </a:p>
                  </a:txBody>
                  <a:tcPr marL="31995" marR="31995" marT="15998" marB="15998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200" b="1" dirty="0"/>
                        <a:t>사유</a:t>
                      </a:r>
                      <a:endParaRPr lang="ko-KR" altLang="en-US" sz="1200" dirty="0"/>
                    </a:p>
                  </a:txBody>
                  <a:tcPr marL="31995" marR="31995" marT="15998" marB="15998" anchor="ctr"/>
                </a:tc>
                <a:extLst>
                  <a:ext uri="{0D108BD9-81ED-4DB2-BD59-A6C34878D82A}">
                    <a16:rowId xmlns:a16="http://schemas.microsoft.com/office/drawing/2014/main" val="2833145016"/>
                  </a:ext>
                </a:extLst>
              </a:tr>
              <a:tr h="53867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200" b="1"/>
                        <a:t>한국</a:t>
                      </a:r>
                      <a:endParaRPr lang="ko-KR" altLang="en-US" sz="1200"/>
                    </a:p>
                  </a:txBody>
                  <a:tcPr marL="31995" marR="31995" marT="15998" marB="1599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200" dirty="0"/>
                        <a:t>서비스</a:t>
                      </a:r>
                      <a:r>
                        <a:rPr lang="en-US" altLang="ko-KR" sz="1200" dirty="0"/>
                        <a:t>(⑥), </a:t>
                      </a:r>
                      <a:r>
                        <a:rPr lang="ko-KR" altLang="en-US" sz="1200" dirty="0"/>
                        <a:t>공산품</a:t>
                      </a:r>
                      <a:r>
                        <a:rPr lang="en-US" altLang="ko-KR" sz="1200" dirty="0"/>
                        <a:t>(③) </a:t>
                      </a:r>
                      <a:r>
                        <a:rPr lang="ko-KR" altLang="en-US" sz="1200" dirty="0"/>
                        <a:t>비중 증가</a:t>
                      </a:r>
                      <a:r>
                        <a:rPr lang="en-US" altLang="ko-KR" sz="1200" dirty="0"/>
                        <a:t>, </a:t>
                      </a:r>
                      <a:r>
                        <a:rPr lang="ko-KR" altLang="en-US" sz="1200" dirty="0" err="1"/>
                        <a:t>필수재</a:t>
                      </a:r>
                      <a:r>
                        <a:rPr lang="en-US" altLang="ko-KR" sz="1200" dirty="0"/>
                        <a:t>(①~②) </a:t>
                      </a:r>
                      <a:r>
                        <a:rPr lang="ko-KR" altLang="en-US" sz="1200" dirty="0"/>
                        <a:t>정체 → </a:t>
                      </a:r>
                      <a:r>
                        <a:rPr lang="en" sz="1200" dirty="0"/>
                        <a:t>Engel’s </a:t>
                      </a:r>
                      <a:r>
                        <a:rPr lang="ko-KR" altLang="en-US" sz="1200" dirty="0"/>
                        <a:t>법칙 부합</a:t>
                      </a:r>
                    </a:p>
                  </a:txBody>
                  <a:tcPr marL="31995" marR="31995" marT="15998" marB="1599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200" dirty="0"/>
                        <a:t>▲ </a:t>
                      </a:r>
                      <a:r>
                        <a:rPr lang="en-US" altLang="ko-KR" sz="1200" dirty="0"/>
                        <a:t>38% → 42%</a:t>
                      </a:r>
                    </a:p>
                  </a:txBody>
                  <a:tcPr marL="31995" marR="31995" marT="15998" marB="1599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200" dirty="0"/>
                        <a:t>–12.8 → –15.1 (</a:t>
                      </a:r>
                      <a:r>
                        <a:rPr lang="ko-KR" altLang="en-US" sz="1200" dirty="0"/>
                        <a:t>유출 유지</a:t>
                      </a:r>
                      <a:r>
                        <a:rPr lang="en-US" altLang="ko-KR" sz="1200" dirty="0"/>
                        <a:t>)</a:t>
                      </a:r>
                    </a:p>
                  </a:txBody>
                  <a:tcPr marL="31995" marR="31995" marT="15998" marB="1599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200" dirty="0"/>
                        <a:t>내적 정합성 </a:t>
                      </a:r>
                      <a:r>
                        <a:rPr lang="en-US" altLang="ko-KR" sz="1200" dirty="0"/>
                        <a:t>O</a:t>
                      </a:r>
                      <a:endParaRPr lang="ko-KR" altLang="en-US" sz="1200" dirty="0"/>
                    </a:p>
                  </a:txBody>
                  <a:tcPr marL="31995" marR="31995" marT="15998" marB="1599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200" dirty="0"/>
                        <a:t>–</a:t>
                      </a:r>
                    </a:p>
                  </a:txBody>
                  <a:tcPr marL="31995" marR="31995" marT="15998" marB="15998" anchor="ctr"/>
                </a:tc>
                <a:extLst>
                  <a:ext uri="{0D108BD9-81ED-4DB2-BD59-A6C34878D82A}">
                    <a16:rowId xmlns:a16="http://schemas.microsoft.com/office/drawing/2014/main" val="1992037823"/>
                  </a:ext>
                </a:extLst>
              </a:tr>
              <a:tr h="53867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200" b="1"/>
                        <a:t>중국</a:t>
                      </a:r>
                      <a:endParaRPr lang="ko-KR" altLang="en-US" sz="1200"/>
                    </a:p>
                  </a:txBody>
                  <a:tcPr marL="31995" marR="31995" marT="15998" marB="1599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200"/>
                        <a:t>필수재</a:t>
                      </a:r>
                      <a:r>
                        <a:rPr lang="en-US" altLang="ko-KR" sz="1200"/>
                        <a:t>(①~③) </a:t>
                      </a:r>
                      <a:r>
                        <a:rPr lang="ko-KR" altLang="en-US" sz="1200"/>
                        <a:t>비중 유지</a:t>
                      </a:r>
                      <a:r>
                        <a:rPr lang="en-US" altLang="ko-KR" sz="1200"/>
                        <a:t>, </a:t>
                      </a:r>
                      <a:r>
                        <a:rPr lang="ko-KR" altLang="en-US" sz="1200"/>
                        <a:t>서비스</a:t>
                      </a:r>
                      <a:r>
                        <a:rPr lang="en-US" altLang="ko-KR" sz="1200"/>
                        <a:t>(⑥) </a:t>
                      </a:r>
                      <a:r>
                        <a:rPr lang="ko-KR" altLang="en-US" sz="1200"/>
                        <a:t>확대 미미 → 중소득 소비 구조 지속</a:t>
                      </a:r>
                    </a:p>
                  </a:txBody>
                  <a:tcPr marL="31995" marR="31995" marT="15998" marB="1599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200"/>
                        <a:t>▲ </a:t>
                      </a:r>
                      <a:r>
                        <a:rPr lang="en-US" altLang="ko-KR" sz="1200"/>
                        <a:t>52% → 72%</a:t>
                      </a:r>
                    </a:p>
                  </a:txBody>
                  <a:tcPr marL="31995" marR="31995" marT="15998" marB="1599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200"/>
                        <a:t>–21.9 → –61.5 (</a:t>
                      </a:r>
                      <a:r>
                        <a:rPr lang="ko-KR" altLang="en-US" sz="1200" b="1"/>
                        <a:t>대규모 유출</a:t>
                      </a:r>
                      <a:r>
                        <a:rPr lang="en-US" altLang="ko-KR" sz="1200"/>
                        <a:t>)</a:t>
                      </a:r>
                    </a:p>
                  </a:txBody>
                  <a:tcPr marL="31995" marR="31995" marT="15998" marB="1599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200" dirty="0"/>
                        <a:t>△ 부분 정합</a:t>
                      </a:r>
                    </a:p>
                  </a:txBody>
                  <a:tcPr marL="31995" marR="31995" marT="15998" marB="1599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200" dirty="0"/>
                        <a:t>서비스 소비 미약</a:t>
                      </a:r>
                      <a:r>
                        <a:rPr lang="en-US" altLang="ko-KR" sz="1200" dirty="0"/>
                        <a:t>, </a:t>
                      </a:r>
                    </a:p>
                    <a:p>
                      <a:pPr>
                        <a:buNone/>
                      </a:pPr>
                      <a:r>
                        <a:rPr lang="ko-KR" altLang="en-US" sz="1200" b="1" dirty="0"/>
                        <a:t>과도한 </a:t>
                      </a:r>
                      <a:r>
                        <a:rPr lang="en" sz="1200" b="1" dirty="0"/>
                        <a:t>SROW </a:t>
                      </a:r>
                      <a:r>
                        <a:rPr lang="ko-KR" altLang="en-US" sz="1200" b="1" dirty="0"/>
                        <a:t>유출</a:t>
                      </a:r>
                    </a:p>
                  </a:txBody>
                  <a:tcPr marL="31995" marR="31995" marT="15998" marB="15998" anchor="ctr"/>
                </a:tc>
                <a:extLst>
                  <a:ext uri="{0D108BD9-81ED-4DB2-BD59-A6C34878D82A}">
                    <a16:rowId xmlns:a16="http://schemas.microsoft.com/office/drawing/2014/main" val="4144765474"/>
                  </a:ext>
                </a:extLst>
              </a:tr>
              <a:tr h="46521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200" b="1"/>
                        <a:t>일본</a:t>
                      </a:r>
                      <a:endParaRPr lang="ko-KR" altLang="en-US" sz="1200"/>
                    </a:p>
                  </a:txBody>
                  <a:tcPr marL="31995" marR="31995" marT="15998" marB="1599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200"/>
                        <a:t>서비스</a:t>
                      </a:r>
                      <a:r>
                        <a:rPr lang="en-US" altLang="ko-KR" sz="1200"/>
                        <a:t>(⑥) </a:t>
                      </a:r>
                      <a:r>
                        <a:rPr lang="ko-KR" altLang="en-US" sz="1200"/>
                        <a:t>압도적 비중</a:t>
                      </a:r>
                      <a:r>
                        <a:rPr lang="en-US" altLang="ko-KR" sz="1200"/>
                        <a:t>(77%) </a:t>
                      </a:r>
                      <a:r>
                        <a:rPr lang="ko-KR" altLang="en-US" sz="1200"/>
                        <a:t>유지</a:t>
                      </a:r>
                      <a:r>
                        <a:rPr lang="en-US" altLang="ko-KR" sz="1200"/>
                        <a:t>, ①~④ </a:t>
                      </a:r>
                      <a:r>
                        <a:rPr lang="ko-KR" altLang="en-US" sz="1200"/>
                        <a:t>축소 → 고소득 소비 구조 정착</a:t>
                      </a:r>
                    </a:p>
                  </a:txBody>
                  <a:tcPr marL="31995" marR="31995" marT="15998" marB="1599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200"/>
                        <a:t>▼ </a:t>
                      </a:r>
                      <a:r>
                        <a:rPr lang="en-US" altLang="ko-KR" sz="1200"/>
                        <a:t>18% → 16%</a:t>
                      </a:r>
                    </a:p>
                  </a:txBody>
                  <a:tcPr marL="31995" marR="31995" marT="15998" marB="1599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200" dirty="0"/>
                        <a:t>+0.77 → +0.89 (</a:t>
                      </a:r>
                      <a:r>
                        <a:rPr lang="ko-KR" altLang="en-US" sz="1200" dirty="0"/>
                        <a:t>유입 지속</a:t>
                      </a:r>
                      <a:r>
                        <a:rPr lang="en-US" altLang="ko-KR" sz="1200" dirty="0"/>
                        <a:t>)</a:t>
                      </a:r>
                    </a:p>
                  </a:txBody>
                  <a:tcPr marL="31995" marR="31995" marT="15998" marB="1599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200" dirty="0"/>
                        <a:t>내적 정합성 </a:t>
                      </a:r>
                      <a:r>
                        <a:rPr lang="en-US" altLang="ko-KR" sz="1200" dirty="0"/>
                        <a:t>O</a:t>
                      </a:r>
                      <a:endParaRPr lang="ko-KR" altLang="en-US" sz="1200" dirty="0"/>
                    </a:p>
                  </a:txBody>
                  <a:tcPr marL="31995" marR="31995" marT="15998" marB="1599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200"/>
                        <a:t>–</a:t>
                      </a:r>
                    </a:p>
                  </a:txBody>
                  <a:tcPr marL="31995" marR="31995" marT="15998" marB="15998" anchor="ctr"/>
                </a:tc>
                <a:extLst>
                  <a:ext uri="{0D108BD9-81ED-4DB2-BD59-A6C34878D82A}">
                    <a16:rowId xmlns:a16="http://schemas.microsoft.com/office/drawing/2014/main" val="3600119173"/>
                  </a:ext>
                </a:extLst>
              </a:tr>
              <a:tr h="53867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200" b="1"/>
                        <a:t>러시아</a:t>
                      </a:r>
                      <a:endParaRPr lang="ko-KR" altLang="en-US" sz="1200"/>
                    </a:p>
                  </a:txBody>
                  <a:tcPr marL="31995" marR="31995" marT="15998" marB="1599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200"/>
                        <a:t>광산</a:t>
                      </a:r>
                      <a:r>
                        <a:rPr lang="en-US" altLang="ko-KR" sz="1200"/>
                        <a:t>(②), </a:t>
                      </a:r>
                      <a:r>
                        <a:rPr lang="ko-KR" altLang="en-US" sz="1200"/>
                        <a:t>공산품</a:t>
                      </a:r>
                      <a:r>
                        <a:rPr lang="en-US" altLang="ko-KR" sz="1200"/>
                        <a:t>(③), </a:t>
                      </a:r>
                      <a:r>
                        <a:rPr lang="ko-KR" altLang="en-US" sz="1200"/>
                        <a:t>전력</a:t>
                      </a:r>
                      <a:r>
                        <a:rPr lang="en-US" altLang="ko-KR" sz="1200"/>
                        <a:t>(④) </a:t>
                      </a:r>
                      <a:r>
                        <a:rPr lang="ko-KR" altLang="en-US" sz="1200"/>
                        <a:t>비중 유지</a:t>
                      </a:r>
                      <a:r>
                        <a:rPr lang="en-US" altLang="ko-KR" sz="1200"/>
                        <a:t>, </a:t>
                      </a:r>
                      <a:r>
                        <a:rPr lang="ko-KR" altLang="en-US" sz="1200"/>
                        <a:t>서비스</a:t>
                      </a:r>
                      <a:r>
                        <a:rPr lang="en-US" altLang="ko-KR" sz="1200"/>
                        <a:t>(⑥) </a:t>
                      </a:r>
                      <a:r>
                        <a:rPr lang="ko-KR" altLang="en-US" sz="1200"/>
                        <a:t>정체 → </a:t>
                      </a:r>
                      <a:r>
                        <a:rPr lang="en-US" altLang="ko-KR" sz="1200"/>
                        <a:t>1</a:t>
                      </a:r>
                      <a:r>
                        <a:rPr lang="ko-KR" altLang="en-US" sz="1200"/>
                        <a:t>차재 소비 고착화</a:t>
                      </a:r>
                    </a:p>
                  </a:txBody>
                  <a:tcPr marL="31995" marR="31995" marT="15998" marB="1599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200"/>
                        <a:t>▼ </a:t>
                      </a:r>
                      <a:r>
                        <a:rPr lang="en-US" altLang="ko-KR" sz="1200"/>
                        <a:t>37% → 25%</a:t>
                      </a:r>
                    </a:p>
                  </a:txBody>
                  <a:tcPr marL="31995" marR="31995" marT="15998" marB="1599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200"/>
                        <a:t>–14.7 → –17.6 (</a:t>
                      </a:r>
                      <a:r>
                        <a:rPr lang="ko-KR" altLang="en-US" sz="1200"/>
                        <a:t>유출 유지</a:t>
                      </a:r>
                      <a:r>
                        <a:rPr lang="en-US" altLang="ko-KR" sz="1200"/>
                        <a:t>)</a:t>
                      </a:r>
                    </a:p>
                  </a:txBody>
                  <a:tcPr marL="31995" marR="31995" marT="15998" marB="1599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200" dirty="0"/>
                        <a:t>△ 부분 정합</a:t>
                      </a:r>
                    </a:p>
                  </a:txBody>
                  <a:tcPr marL="31995" marR="31995" marT="15998" marB="1599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200" dirty="0"/>
                        <a:t>저축 감소와 </a:t>
                      </a:r>
                      <a:r>
                        <a:rPr lang="en-US" altLang="ko-KR" sz="1200" dirty="0"/>
                        <a:t>SROW </a:t>
                      </a:r>
                      <a:r>
                        <a:rPr lang="ko-KR" altLang="en-US" sz="1200" dirty="0"/>
                        <a:t>유출 지속 간 불균형</a:t>
                      </a:r>
                    </a:p>
                  </a:txBody>
                  <a:tcPr marL="31995" marR="31995" marT="15998" marB="15998" anchor="ctr"/>
                </a:tc>
                <a:extLst>
                  <a:ext uri="{0D108BD9-81ED-4DB2-BD59-A6C34878D82A}">
                    <a16:rowId xmlns:a16="http://schemas.microsoft.com/office/drawing/2014/main" val="1540070010"/>
                  </a:ext>
                </a:extLst>
              </a:tr>
              <a:tr h="53867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200" b="1"/>
                        <a:t>몽골</a:t>
                      </a:r>
                      <a:endParaRPr lang="ko-KR" altLang="en-US" sz="1200"/>
                    </a:p>
                  </a:txBody>
                  <a:tcPr marL="31995" marR="31995" marT="15998" marB="1599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200"/>
                        <a:t>1</a:t>
                      </a:r>
                      <a:r>
                        <a:rPr lang="ko-KR" altLang="en-US" sz="1200"/>
                        <a:t>차재</a:t>
                      </a:r>
                      <a:r>
                        <a:rPr lang="en-US" altLang="ko-KR" sz="1200"/>
                        <a:t>(①~③) </a:t>
                      </a:r>
                      <a:r>
                        <a:rPr lang="ko-KR" altLang="en-US" sz="1200"/>
                        <a:t>중심 유지</a:t>
                      </a:r>
                      <a:r>
                        <a:rPr lang="en-US" altLang="ko-KR" sz="1200"/>
                        <a:t>, </a:t>
                      </a:r>
                      <a:r>
                        <a:rPr lang="ko-KR" altLang="en-US" sz="1200"/>
                        <a:t>서비스</a:t>
                      </a:r>
                      <a:r>
                        <a:rPr lang="en-US" altLang="ko-KR" sz="1200"/>
                        <a:t>(⑥) </a:t>
                      </a:r>
                      <a:r>
                        <a:rPr lang="ko-KR" altLang="en-US" sz="1200"/>
                        <a:t>비중 소폭 증가 → 소비 구조 전환 미약</a:t>
                      </a:r>
                    </a:p>
                  </a:txBody>
                  <a:tcPr marL="31995" marR="31995" marT="15998" marB="1599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200"/>
                        <a:t>▲ </a:t>
                      </a:r>
                      <a:r>
                        <a:rPr lang="en-US" altLang="ko-KR" sz="1200"/>
                        <a:t>45% → 60%</a:t>
                      </a:r>
                    </a:p>
                  </a:txBody>
                  <a:tcPr marL="31995" marR="31995" marT="15998" marB="1599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200"/>
                        <a:t>–0.42 → –0.80 (</a:t>
                      </a:r>
                      <a:r>
                        <a:rPr lang="ko-KR" altLang="en-US" sz="1200"/>
                        <a:t>유출 확대</a:t>
                      </a:r>
                      <a:r>
                        <a:rPr lang="en-US" altLang="ko-KR" sz="1200"/>
                        <a:t>)</a:t>
                      </a:r>
                    </a:p>
                  </a:txBody>
                  <a:tcPr marL="31995" marR="31995" marT="15998" marB="1599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200" dirty="0"/>
                        <a:t>△ 부분 정합</a:t>
                      </a:r>
                    </a:p>
                  </a:txBody>
                  <a:tcPr marL="31995" marR="31995" marT="15998" marB="1599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200" dirty="0"/>
                        <a:t>고저축에도 소비 구조 고착</a:t>
                      </a:r>
                    </a:p>
                  </a:txBody>
                  <a:tcPr marL="31995" marR="31995" marT="15998" marB="15998" anchor="ctr"/>
                </a:tc>
                <a:extLst>
                  <a:ext uri="{0D108BD9-81ED-4DB2-BD59-A6C34878D82A}">
                    <a16:rowId xmlns:a16="http://schemas.microsoft.com/office/drawing/2014/main" val="2092734580"/>
                  </a:ext>
                </a:extLst>
              </a:tr>
              <a:tr h="46521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200" b="1"/>
                        <a:t>북한</a:t>
                      </a:r>
                      <a:endParaRPr lang="ko-KR" altLang="en-US" sz="1200"/>
                    </a:p>
                  </a:txBody>
                  <a:tcPr marL="31995" marR="31995" marT="15998" marB="1599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200"/>
                        <a:t>모든 품목 비중 정체</a:t>
                      </a:r>
                      <a:r>
                        <a:rPr lang="en-US" altLang="ko-KR" sz="1200"/>
                        <a:t>, </a:t>
                      </a:r>
                      <a:r>
                        <a:rPr lang="ko-KR" altLang="en-US" sz="1200"/>
                        <a:t>서비스</a:t>
                      </a:r>
                      <a:r>
                        <a:rPr lang="en-US" altLang="ko-KR" sz="1200"/>
                        <a:t>(⑥) </a:t>
                      </a:r>
                      <a:r>
                        <a:rPr lang="ko-KR" altLang="en-US" sz="1200"/>
                        <a:t>변화 없음 → 소비 반응 없음</a:t>
                      </a:r>
                    </a:p>
                  </a:txBody>
                  <a:tcPr marL="31995" marR="31995" marT="15998" marB="1599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200" dirty="0"/>
                        <a:t>— 51% → 51%</a:t>
                      </a:r>
                    </a:p>
                  </a:txBody>
                  <a:tcPr marL="31995" marR="31995" marT="15998" marB="1599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200" dirty="0"/>
                        <a:t>–0.16 → –0.09 (</a:t>
                      </a:r>
                      <a:r>
                        <a:rPr lang="ko-KR" altLang="en-US" sz="1200" dirty="0"/>
                        <a:t>거의 변화 없음</a:t>
                      </a:r>
                      <a:r>
                        <a:rPr lang="en-US" altLang="ko-KR" sz="1200" dirty="0"/>
                        <a:t>)</a:t>
                      </a:r>
                    </a:p>
                  </a:txBody>
                  <a:tcPr marL="31995" marR="31995" marT="15998" marB="1599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200" dirty="0"/>
                        <a:t>내적 정합성 </a:t>
                      </a:r>
                      <a:r>
                        <a:rPr lang="en-US" altLang="ko-KR" sz="1200" dirty="0"/>
                        <a:t>X</a:t>
                      </a:r>
                      <a:endParaRPr lang="ko-KR" altLang="en-US" sz="1200" dirty="0"/>
                    </a:p>
                  </a:txBody>
                  <a:tcPr marL="31995" marR="31995" marT="15998" marB="1599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200" dirty="0"/>
                        <a:t>소비</a:t>
                      </a:r>
                      <a:r>
                        <a:rPr lang="en-US" altLang="ko-KR" sz="1200" dirty="0"/>
                        <a:t>·</a:t>
                      </a:r>
                      <a:r>
                        <a:rPr lang="ko-KR" altLang="en-US" sz="1200" dirty="0"/>
                        <a:t>저축 </a:t>
                      </a:r>
                      <a:r>
                        <a:rPr lang="ko-KR" altLang="en-US" sz="1200" b="1" dirty="0"/>
                        <a:t>모두 정체</a:t>
                      </a:r>
                    </a:p>
                  </a:txBody>
                  <a:tcPr marL="31995" marR="31995" marT="15998" marB="15998" anchor="ctr"/>
                </a:tc>
                <a:extLst>
                  <a:ext uri="{0D108BD9-81ED-4DB2-BD59-A6C34878D82A}">
                    <a16:rowId xmlns:a16="http://schemas.microsoft.com/office/drawing/2014/main" val="326201967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93704652"/>
      </p:ext>
    </p:extLst>
  </p:cSld>
  <p:clrMapOvr>
    <a:masterClrMapping/>
  </p:clrMapOvr>
</p:sld>
</file>

<file path=ppt/theme/theme1.xml><?xml version="1.0" encoding="utf-8"?>
<a:theme xmlns:a="http://schemas.openxmlformats.org/drawingml/2006/main" name="GUIDE_국문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GUIDE_영문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5bcc02bb-509a-425a-b41f-7dc2c5cd7755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문서" ma:contentTypeID="0x01010050D053D10722644188575BD2C78AF005" ma:contentTypeVersion="16" ma:contentTypeDescription="새 문서를 만듭니다." ma:contentTypeScope="" ma:versionID="c9529d07e5af284fedacb9d1258482c7">
  <xsd:schema xmlns:xsd="http://www.w3.org/2001/XMLSchema" xmlns:xs="http://www.w3.org/2001/XMLSchema" xmlns:p="http://schemas.microsoft.com/office/2006/metadata/properties" xmlns:ns3="5bcc02bb-509a-425a-b41f-7dc2c5cd7755" xmlns:ns4="252bf9ee-d2f4-4a1e-9c28-929a2dfbc213" targetNamespace="http://schemas.microsoft.com/office/2006/metadata/properties" ma:root="true" ma:fieldsID="bb00bcfd29a48aaaaa3cce92a6d1829a" ns3:_="" ns4:_="">
    <xsd:import namespace="5bcc02bb-509a-425a-b41f-7dc2c5cd7755"/>
    <xsd:import namespace="252bf9ee-d2f4-4a1e-9c28-929a2dfbc213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Tags" minOccurs="0"/>
                <xsd:element ref="ns3:MediaServiceOCR" minOccurs="0"/>
                <xsd:element ref="ns3:MediaServiceDateTaken" minOccurs="0"/>
                <xsd:element ref="ns3:MediaServiceLocation" minOccurs="0"/>
                <xsd:element ref="ns3:MediaServiceGenerationTime" minOccurs="0"/>
                <xsd:element ref="ns3:MediaServiceEventHashCode" minOccurs="0"/>
                <xsd:element ref="ns3:MediaServiceAutoKeyPoints" minOccurs="0"/>
                <xsd:element ref="ns3:MediaServiceKeyPoints" minOccurs="0"/>
                <xsd:element ref="ns4:SharedWithUsers" minOccurs="0"/>
                <xsd:element ref="ns4:SharedWithDetails" minOccurs="0"/>
                <xsd:element ref="ns4:SharingHintHash" minOccurs="0"/>
                <xsd:element ref="ns3:MediaLengthInSeconds" minOccurs="0"/>
                <xsd:element ref="ns3:_activity" minOccurs="0"/>
                <xsd:element ref="ns3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bcc02bb-509a-425a-b41f-7dc2c5cd775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3" nillable="true" ma:displayName="Location" ma:internalName="MediaServiceLocation" ma:readOnly="true">
      <xsd:simpleType>
        <xsd:restriction base="dms:Text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1" nillable="true" ma:displayName="Length (seconds)" ma:internalName="MediaLengthInSeconds" ma:readOnly="true">
      <xsd:simpleType>
        <xsd:restriction base="dms:Unknown"/>
      </xsd:simpleType>
    </xsd:element>
    <xsd:element name="_activity" ma:index="22" nillable="true" ma:displayName="_activity" ma:hidden="true" ma:internalName="_activity">
      <xsd:simpleType>
        <xsd:restriction base="dms:Note"/>
      </xsd:simpleType>
    </xsd:element>
    <xsd:element name="MediaServiceObjectDetectorVersions" ma:index="23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52bf9ee-d2f4-4a1e-9c28-929a2dfbc213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공유 대상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세부 정보 공유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20" nillable="true" ma:displayName="힌트 해시 공유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콘텐츠 형식"/>
        <xsd:element ref="dc:title" minOccurs="0" maxOccurs="1" ma:index="4" ma:displayName="제목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B32EBBC4-9355-4057-9D3D-A638392C9843}">
  <ds:schemaRefs>
    <ds:schemaRef ds:uri="http://schemas.microsoft.com/office/2006/metadata/properties"/>
    <ds:schemaRef ds:uri="http://schemas.microsoft.com/office/infopath/2007/PartnerControls"/>
    <ds:schemaRef ds:uri="5bcc02bb-509a-425a-b41f-7dc2c5cd7755"/>
  </ds:schemaRefs>
</ds:datastoreItem>
</file>

<file path=customXml/itemProps2.xml><?xml version="1.0" encoding="utf-8"?>
<ds:datastoreItem xmlns:ds="http://schemas.openxmlformats.org/officeDocument/2006/customXml" ds:itemID="{BB56DC51-5717-4C38-B98E-3306631306B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5bcc02bb-509a-425a-b41f-7dc2c5cd7755"/>
    <ds:schemaRef ds:uri="252bf9ee-d2f4-4a1e-9c28-929a2dfbc213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B91D3DFC-3009-466B-9B79-683949CA2BB6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7031</TotalTime>
  <Words>1910</Words>
  <Application>Microsoft Macintosh PowerPoint</Application>
  <PresentationFormat>와이드스크린</PresentationFormat>
  <Paragraphs>325</Paragraphs>
  <Slides>10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2</vt:i4>
      </vt:variant>
      <vt:variant>
        <vt:lpstr>슬라이드 제목</vt:lpstr>
      </vt:variant>
      <vt:variant>
        <vt:i4>10</vt:i4>
      </vt:variant>
    </vt:vector>
  </HeadingPairs>
  <TitlesOfParts>
    <vt:vector size="19" baseType="lpstr">
      <vt:lpstr>나눔고딕</vt:lpstr>
      <vt:lpstr>맑은 고딕</vt:lpstr>
      <vt:lpstr>맑은 고딕</vt:lpstr>
      <vt:lpstr>NanumBarunGothicOTF</vt:lpstr>
      <vt:lpstr>Arial</vt:lpstr>
      <vt:lpstr>Cambria Math</vt:lpstr>
      <vt:lpstr>Wingdings</vt:lpstr>
      <vt:lpstr>GUIDE_국문</vt:lpstr>
      <vt:lpstr>GUIDE_영문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KSS</dc:creator>
  <cp:lastModifiedBy>이한결</cp:lastModifiedBy>
  <cp:revision>334</cp:revision>
  <dcterms:created xsi:type="dcterms:W3CDTF">2018-07-09T07:43:46Z</dcterms:created>
  <dcterms:modified xsi:type="dcterms:W3CDTF">2025-06-28T04:01:22Z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0x01010050D053D10722644188575BD2C78AF005</vt:lpwstr>
  </property>
</Properties>
</file>