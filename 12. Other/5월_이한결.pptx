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1" r:id="rId5"/>
  </p:sldMasterIdLst>
  <p:notesMasterIdLst>
    <p:notesMasterId r:id="rId16"/>
  </p:notesMasterIdLst>
  <p:handoutMasterIdLst>
    <p:handoutMasterId r:id="rId17"/>
  </p:handoutMasterIdLst>
  <p:sldIdLst>
    <p:sldId id="3781" r:id="rId6"/>
    <p:sldId id="3771" r:id="rId7"/>
    <p:sldId id="3782" r:id="rId8"/>
    <p:sldId id="3783" r:id="rId9"/>
    <p:sldId id="3787" r:id="rId10"/>
    <p:sldId id="3788" r:id="rId11"/>
    <p:sldId id="3784" r:id="rId12"/>
    <p:sldId id="3785" r:id="rId13"/>
    <p:sldId id="3786" r:id="rId14"/>
    <p:sldId id="378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="" roundtripDataSignature="AMtx7mhNA0fD7cqUszQJtVzHpjliEsXVTA==" r:id="rId178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INTAE KIM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5D5B"/>
    <a:srgbClr val="DBE9F5"/>
    <a:srgbClr val="FCE6FE"/>
    <a:srgbClr val="1E4649"/>
    <a:srgbClr val="385D8A"/>
    <a:srgbClr val="AFAFAF"/>
    <a:srgbClr val="F8FDFF"/>
    <a:srgbClr val="E8F5FA"/>
    <a:srgbClr val="D6EDF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 autoAdjust="0"/>
    <p:restoredTop sz="94355" autoAdjust="0"/>
  </p:normalViewPr>
  <p:slideViewPr>
    <p:cSldViewPr snapToGrid="0" showGuides="1">
      <p:cViewPr varScale="1">
        <p:scale>
          <a:sx n="122" d="100"/>
          <a:sy n="122" d="100"/>
        </p:scale>
        <p:origin x="368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18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179" Type="http://schemas.openxmlformats.org/officeDocument/2006/relationships/commentAuthors" Target="commentAuthors.xml"/><Relationship Id="rId18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178" Type="http://customschemas.google.com/relationships/presentationmetadata" Target="meta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81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18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8A5589C-7FE6-46B2-B41A-1DB2DFDF58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82F4BB-4F5B-4789-A545-D50268CAC6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B3D99-BD19-4860-B122-7A3464E5579B}" type="datetimeFigureOut">
              <a:rPr lang="ko-KR" altLang="en-US" smtClean="0"/>
              <a:t>2025. 5. 21.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F5FCA5-8196-439C-960E-AFB3B7759B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200B7B-F18B-46F2-9F6E-CE315BE8DD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7181D-6B6E-4188-B3F0-7D20B550C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0965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72406-DC73-4677-AAF9-8F682C9A831A}" type="datetimeFigureOut">
              <a:rPr lang="ko-KR" altLang="en-US" smtClean="0"/>
              <a:t>2025. 5. 21.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E6E0A0-4D6C-478B-831C-44A69CCC47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42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6E0A0-4D6C-478B-831C-44A69CCC47F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657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관명 없는 레이아웃 (국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1784"/>
          </a:xfrm>
          <a:prstGeom prst="rect">
            <a:avLst/>
          </a:prstGeom>
          <a:gradFill flip="none" rotWithShape="1">
            <a:gsLst>
              <a:gs pos="16000">
                <a:srgbClr val="193282"/>
              </a:gs>
              <a:gs pos="100000">
                <a:srgbClr val="00C0D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6" name="모서리가 둥근 직사각형 5"/>
          <p:cNvSpPr/>
          <p:nvPr userDrawn="1"/>
        </p:nvSpPr>
        <p:spPr>
          <a:xfrm>
            <a:off x="11723078" y="6606279"/>
            <a:ext cx="342087" cy="171024"/>
          </a:xfrm>
          <a:prstGeom prst="roundRect">
            <a:avLst>
              <a:gd name="adj" fmla="val 15728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7" name="직사각형 6"/>
          <p:cNvSpPr/>
          <p:nvPr userDrawn="1"/>
        </p:nvSpPr>
        <p:spPr>
          <a:xfrm>
            <a:off x="0" y="349441"/>
            <a:ext cx="46329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TextBox 9"/>
          <p:cNvSpPr txBox="1"/>
          <p:nvPr userDrawn="1"/>
        </p:nvSpPr>
        <p:spPr>
          <a:xfrm>
            <a:off x="420549" y="252993"/>
            <a:ext cx="37561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글로벌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동북아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기후변화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대기오염 원인물질 통합관리 모델링 시스템 개발</a:t>
            </a:r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11537344" y="6570208"/>
            <a:ext cx="710544" cy="24316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9E6E609A-B78F-41B4-AD79-1EA184FB106E}" type="slidenum">
              <a:rPr lang="ko-KR" altLang="en-US" sz="1000" b="1" spc="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ko-KR" altLang="en-US" sz="900" b="1" spc="0" baseline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825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서울대학교-경희대학교 (국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1784"/>
          </a:xfrm>
          <a:prstGeom prst="rect">
            <a:avLst/>
          </a:prstGeom>
          <a:gradFill flip="none" rotWithShape="1">
            <a:gsLst>
              <a:gs pos="16000">
                <a:srgbClr val="193282"/>
              </a:gs>
              <a:gs pos="100000">
                <a:srgbClr val="00C0D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6" name="모서리가 둥근 직사각형 5"/>
          <p:cNvSpPr/>
          <p:nvPr userDrawn="1"/>
        </p:nvSpPr>
        <p:spPr>
          <a:xfrm>
            <a:off x="11723078" y="6606279"/>
            <a:ext cx="342087" cy="171024"/>
          </a:xfrm>
          <a:prstGeom prst="roundRect">
            <a:avLst>
              <a:gd name="adj" fmla="val 15728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7" name="직사각형 6"/>
          <p:cNvSpPr/>
          <p:nvPr userDrawn="1"/>
        </p:nvSpPr>
        <p:spPr>
          <a:xfrm>
            <a:off x="0" y="349441"/>
            <a:ext cx="46329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TextBox 9"/>
          <p:cNvSpPr txBox="1"/>
          <p:nvPr userDrawn="1"/>
        </p:nvSpPr>
        <p:spPr>
          <a:xfrm>
            <a:off x="420549" y="252993"/>
            <a:ext cx="37561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글로벌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동북아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기후변화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대기오염 원인물질 통합관리 모델링 시스템 개발</a:t>
            </a:r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11537344" y="6570208"/>
            <a:ext cx="710544" cy="24316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9E6E609A-B78F-41B4-AD79-1EA184FB106E}" type="slidenum">
              <a:rPr lang="ko-KR" altLang="en-US" sz="1000" b="1" spc="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ko-KR" altLang="en-US" sz="900" b="1" spc="0" baseline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ED79192D-6169-EF5C-CE03-C0F8CC45397E}"/>
              </a:ext>
            </a:extLst>
          </p:cNvPr>
          <p:cNvPicPr preferRelativeResize="0"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8580" y="113903"/>
            <a:ext cx="5184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그림 16" descr="텍스트이(가) 표시된 사진&#10;&#10;자동 생성된 설명">
            <a:extLst>
              <a:ext uri="{FF2B5EF4-FFF2-40B4-BE49-F238E27FC236}">
                <a16:creationId xmlns:a16="http://schemas.microsoft.com/office/drawing/2014/main" id="{C1E0800A-E80D-444E-F6B0-241D1D860FE5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/>
          <a:srcRect l="31181" t="29052" r="32236" b="33289"/>
          <a:stretch/>
        </p:blipFill>
        <p:spPr>
          <a:xfrm>
            <a:off x="11295015" y="124165"/>
            <a:ext cx="7416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77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831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관명 없는 레이아웃 (영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1784"/>
          </a:xfrm>
          <a:prstGeom prst="rect">
            <a:avLst/>
          </a:prstGeom>
          <a:gradFill flip="none" rotWithShape="1">
            <a:gsLst>
              <a:gs pos="16000">
                <a:srgbClr val="193282"/>
              </a:gs>
              <a:gs pos="100000">
                <a:srgbClr val="00C0D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6" name="모서리가 둥근 직사각형 5"/>
          <p:cNvSpPr/>
          <p:nvPr userDrawn="1"/>
        </p:nvSpPr>
        <p:spPr>
          <a:xfrm>
            <a:off x="11723078" y="6606279"/>
            <a:ext cx="342087" cy="171024"/>
          </a:xfrm>
          <a:prstGeom prst="roundRect">
            <a:avLst>
              <a:gd name="adj" fmla="val 15728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7" name="직사각형 6"/>
          <p:cNvSpPr/>
          <p:nvPr userDrawn="1"/>
        </p:nvSpPr>
        <p:spPr>
          <a:xfrm>
            <a:off x="0" y="349441"/>
            <a:ext cx="46329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TextBox 9"/>
          <p:cNvSpPr txBox="1"/>
          <p:nvPr userDrawn="1"/>
        </p:nvSpPr>
        <p:spPr>
          <a:xfrm>
            <a:off x="420550" y="252993"/>
            <a:ext cx="67239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3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Development of Global Integrated Assessment Modeling Systems for Climate-Air pollutants Management Focused on Northeast Asia</a:t>
            </a:r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11537344" y="6570208"/>
            <a:ext cx="710544" cy="24316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9E6E609A-B78F-41B4-AD79-1EA184FB106E}" type="slidenum">
              <a:rPr lang="ko-KR" altLang="en-US" sz="1000" b="1" spc="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ko-KR" altLang="en-US" sz="900" b="1" spc="0" baseline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226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서울대학교-경희대학교 (영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1784"/>
          </a:xfrm>
          <a:prstGeom prst="rect">
            <a:avLst/>
          </a:prstGeom>
          <a:gradFill flip="none" rotWithShape="1">
            <a:gsLst>
              <a:gs pos="16000">
                <a:srgbClr val="193282"/>
              </a:gs>
              <a:gs pos="100000">
                <a:srgbClr val="00C0D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6" name="모서리가 둥근 직사각형 5"/>
          <p:cNvSpPr/>
          <p:nvPr userDrawn="1"/>
        </p:nvSpPr>
        <p:spPr>
          <a:xfrm>
            <a:off x="11723078" y="6606279"/>
            <a:ext cx="342087" cy="171024"/>
          </a:xfrm>
          <a:prstGeom prst="roundRect">
            <a:avLst>
              <a:gd name="adj" fmla="val 15728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7" name="직사각형 6"/>
          <p:cNvSpPr/>
          <p:nvPr userDrawn="1"/>
        </p:nvSpPr>
        <p:spPr>
          <a:xfrm>
            <a:off x="0" y="349441"/>
            <a:ext cx="46329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11537344" y="6570208"/>
            <a:ext cx="710544" cy="24316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9E6E609A-B78F-41B4-AD79-1EA184FB106E}" type="slidenum">
              <a:rPr lang="ko-KR" altLang="en-US" sz="1000" b="1" spc="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ko-KR" altLang="en-US" sz="900" b="1" spc="0" baseline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9ACA41-8780-3CCD-7837-4AD0B8DDD6FC}"/>
              </a:ext>
            </a:extLst>
          </p:cNvPr>
          <p:cNvSpPr txBox="1"/>
          <p:nvPr userDrawn="1"/>
        </p:nvSpPr>
        <p:spPr>
          <a:xfrm>
            <a:off x="420550" y="252993"/>
            <a:ext cx="67239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3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Development of Global Integrated Assessment Modeling Systems for Climate-Air pollutants Management Focused on Northeast Asia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17FA241B-9DAB-9048-1FEB-64B809174475}"/>
              </a:ext>
            </a:extLst>
          </p:cNvPr>
          <p:cNvPicPr preferRelativeResize="0"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8580" y="113903"/>
            <a:ext cx="5184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AA12F19C-525E-D79A-3C57-9545A2AF1229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/>
          <a:srcRect l="31181" t="29052" r="32236" b="33289"/>
          <a:stretch/>
        </p:blipFill>
        <p:spPr>
          <a:xfrm>
            <a:off x="11295015" y="124165"/>
            <a:ext cx="7416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91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8368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1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1268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5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02F164-7362-259C-0BC7-9F0158B969AF}"/>
              </a:ext>
            </a:extLst>
          </p:cNvPr>
          <p:cNvSpPr txBox="1"/>
          <p:nvPr/>
        </p:nvSpPr>
        <p:spPr>
          <a:xfrm>
            <a:off x="5270293" y="324433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이한결 연구원</a:t>
            </a:r>
          </a:p>
        </p:txBody>
      </p:sp>
    </p:spTree>
    <p:extLst>
      <p:ext uri="{BB962C8B-B14F-4D97-AF65-F5344CB8AC3E}">
        <p14:creationId xmlns:p14="http://schemas.microsoft.com/office/powerpoint/2010/main" val="3316819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B680956F-9091-4DA5-BF81-80BA3437F908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307C8B5-4060-4135-AE5D-02C4DF49E01A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0481547-1A2B-4354-A575-8E21CB9D35CC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6F21D57-C3A6-4ED8-A617-153349474AED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8F28E8E-36C5-464A-8D1B-946EFF9AD50B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B055F994-D7EF-433D-B179-0E26FE68B408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E81B453-3FBD-4A69-983F-600B900B64E3}"/>
              </a:ext>
            </a:extLst>
          </p:cNvPr>
          <p:cNvGrpSpPr/>
          <p:nvPr/>
        </p:nvGrpSpPr>
        <p:grpSpPr>
          <a:xfrm>
            <a:off x="407373" y="1102090"/>
            <a:ext cx="9888962" cy="400110"/>
            <a:chOff x="456760" y="946438"/>
            <a:chExt cx="9888962" cy="40011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18168AB-0E41-4DC8-A862-60072E142495}"/>
                </a:ext>
              </a:extLst>
            </p:cNvPr>
            <p:cNvSpPr/>
            <p:nvPr/>
          </p:nvSpPr>
          <p:spPr>
            <a:xfrm>
              <a:off x="611559" y="946438"/>
              <a:ext cx="9734163" cy="400110"/>
            </a:xfrm>
            <a:prstGeom prst="rect">
              <a:avLst/>
            </a:prstGeom>
          </p:spPr>
          <p:txBody>
            <a:bodyPr wrap="square" anchor="ctr" anchorCtr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000" b="1" kern="0" spc="-1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연구 진행방향</a:t>
              </a:r>
              <a:endParaRPr kumimoji="0" lang="ko-KR" altLang="en-US" sz="1400" b="1" i="0" u="none" strike="noStrike" kern="0" cap="none" spc="-1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1F497D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27">
              <a:extLst>
                <a:ext uri="{FF2B5EF4-FFF2-40B4-BE49-F238E27FC236}">
                  <a16:creationId xmlns:a16="http://schemas.microsoft.com/office/drawing/2014/main" id="{27924238-A541-49B8-918C-61E19D7AE3D8}"/>
                </a:ext>
              </a:extLst>
            </p:cNvPr>
            <p:cNvSpPr/>
            <p:nvPr/>
          </p:nvSpPr>
          <p:spPr>
            <a:xfrm>
              <a:off x="456760" y="1024183"/>
              <a:ext cx="80901" cy="313200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6" name="내용 개체 틀 2">
            <a:extLst>
              <a:ext uri="{FF2B5EF4-FFF2-40B4-BE49-F238E27FC236}">
                <a16:creationId xmlns:a16="http://schemas.microsoft.com/office/drawing/2014/main" id="{1010A98C-74BB-4677-AB4A-2EEDB7ABBE8F}"/>
              </a:ext>
            </a:extLst>
          </p:cNvPr>
          <p:cNvSpPr txBox="1">
            <a:spLocks/>
          </p:cNvSpPr>
          <p:nvPr/>
        </p:nvSpPr>
        <p:spPr bwMode="auto">
          <a:xfrm>
            <a:off x="407373" y="1631956"/>
            <a:ext cx="11555900" cy="790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7200" indent="-4572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1800" b="1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4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indent="-176213" defTabSz="457200">
              <a:lnSpc>
                <a:spcPct val="150000"/>
              </a:lnSpc>
              <a:defRPr/>
            </a:pP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내적 정합성 검증을 위해</a:t>
            </a:r>
            <a:r>
              <a:rPr lang="en-US" altLang="ko-KR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CGE </a:t>
            </a: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 내 산업구조 변화 및 소비 패턴 변화 확인 </a:t>
            </a:r>
            <a:endParaRPr lang="en-US" altLang="ko-KR" sz="1500" kern="0" spc="-15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6213" indent="-176213" defTabSz="457200">
              <a:lnSpc>
                <a:spcPct val="150000"/>
              </a:lnSpc>
              <a:defRPr/>
            </a:pP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특히</a:t>
            </a:r>
            <a:r>
              <a:rPr lang="en-US" altLang="ko-KR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지난 월례회 보고를 통해 소개한</a:t>
            </a:r>
            <a:r>
              <a:rPr lang="en-US" altLang="ko-KR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500" kern="0" spc="-15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Britz&amp;Roson</a:t>
            </a:r>
            <a:r>
              <a:rPr lang="en-US" altLang="ko-KR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(2019, G-RDEM) </a:t>
            </a: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문헌을 참고하여 내적 정합성 검증 진행 </a:t>
            </a:r>
            <a:endParaRPr lang="en-US" altLang="ko-KR" sz="1500" kern="0" spc="-15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AC46BF0-CACE-1288-171F-988A22BE4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205122"/>
              </p:ext>
            </p:extLst>
          </p:nvPr>
        </p:nvGraphicFramePr>
        <p:xfrm>
          <a:off x="312764" y="2820956"/>
          <a:ext cx="11745118" cy="3309255"/>
        </p:xfrm>
        <a:graphic>
          <a:graphicData uri="http://schemas.openxmlformats.org/drawingml/2006/table">
            <a:tbl>
              <a:tblPr/>
              <a:tblGrid>
                <a:gridCol w="2626083">
                  <a:extLst>
                    <a:ext uri="{9D8B030D-6E8A-4147-A177-3AD203B41FA5}">
                      <a16:colId xmlns:a16="http://schemas.microsoft.com/office/drawing/2014/main" val="1706116315"/>
                    </a:ext>
                  </a:extLst>
                </a:gridCol>
                <a:gridCol w="1475112">
                  <a:extLst>
                    <a:ext uri="{9D8B030D-6E8A-4147-A177-3AD203B41FA5}">
                      <a16:colId xmlns:a16="http://schemas.microsoft.com/office/drawing/2014/main" val="3287463926"/>
                    </a:ext>
                  </a:extLst>
                </a:gridCol>
                <a:gridCol w="2173184">
                  <a:extLst>
                    <a:ext uri="{9D8B030D-6E8A-4147-A177-3AD203B41FA5}">
                      <a16:colId xmlns:a16="http://schemas.microsoft.com/office/drawing/2014/main" val="1069079506"/>
                    </a:ext>
                  </a:extLst>
                </a:gridCol>
                <a:gridCol w="5470739">
                  <a:extLst>
                    <a:ext uri="{9D8B030D-6E8A-4147-A177-3AD203B41FA5}">
                      <a16:colId xmlns:a16="http://schemas.microsoft.com/office/drawing/2014/main" val="1195805325"/>
                    </a:ext>
                  </a:extLst>
                </a:gridCol>
              </a:tblGrid>
              <a:tr h="32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문헌 </a:t>
                      </a:r>
                      <a:r>
                        <a:rPr lang="en-US" altLang="ko-KR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/ </a:t>
                      </a:r>
                      <a:r>
                        <a:rPr lang="ko-KR" altLang="en-US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모델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검증 유형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주요 검증 항목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AQ Linkage validation </a:t>
                      </a:r>
                      <a:r>
                        <a:rPr lang="ko-KR" altLang="en-US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적용 예시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32768"/>
                  </a:ext>
                </a:extLst>
              </a:tr>
              <a:tr h="87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① 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국가 온실가스 인벤토리 보고서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내적 정합성 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</a:t>
                      </a:r>
                      <a:r>
                        <a:rPr lang="en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QA/QC)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활동자료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·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배출계수 검증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단위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·</a:t>
                      </a:r>
                      <a:r>
                        <a:rPr lang="ko-KR" altLang="en-US" sz="1200" b="1" i="0" dirty="0" err="1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산정식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오류 점검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내부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/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외부 전문가 검토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Emissions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변수와 실제 배출통계 비교</a:t>
                      </a:r>
                      <a:endParaRPr lang="en-US" altLang="ko-KR" sz="14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QC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체크리스트 작성</a:t>
                      </a:r>
                      <a:endParaRPr lang="en-US" altLang="ko-KR" sz="14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(EX) </a:t>
                      </a:r>
                      <a:r>
                        <a:rPr lang="en" altLang="ko-KR" sz="1200" dirty="0"/>
                        <a:t>CO2 (</a:t>
                      </a:r>
                      <a:r>
                        <a:rPr lang="ko-KR" altLang="en-US" sz="1200" dirty="0"/>
                        <a:t>전체 및 부문별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와 국가 인벤토리 수치</a:t>
                      </a:r>
                      <a:r>
                        <a:rPr lang="en-US" altLang="ko-KR" sz="1200" dirty="0"/>
                        <a:t>(2019–2020) </a:t>
                      </a:r>
                      <a:r>
                        <a:rPr lang="ko-KR" altLang="en-US" sz="1200" dirty="0"/>
                        <a:t>직접 비교</a:t>
                      </a:r>
                      <a:endParaRPr lang="en-US" altLang="ko-KR" sz="12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dirty="0"/>
                        <a:t>단위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환산 후 오차율 계산</a:t>
                      </a:r>
                      <a:endParaRPr lang="en-US" altLang="ko-KR" sz="12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" altLang="ko-KR" sz="1200" dirty="0"/>
                        <a:t>GDP </a:t>
                      </a:r>
                      <a:r>
                        <a:rPr lang="ko-KR" altLang="en-US" sz="1200" dirty="0"/>
                        <a:t>대비 배출량</a:t>
                      </a:r>
                      <a:r>
                        <a:rPr lang="en-US" altLang="ko-KR" sz="1200" dirty="0"/>
                        <a:t>(</a:t>
                      </a:r>
                      <a:r>
                        <a:rPr lang="en" altLang="ko-KR" sz="1200" dirty="0"/>
                        <a:t>GHG intensity) </a:t>
                      </a:r>
                      <a:r>
                        <a:rPr lang="ko-KR" altLang="en-US" sz="1200" dirty="0"/>
                        <a:t>계산</a:t>
                      </a:r>
                      <a:endParaRPr lang="en-US" altLang="ko-KR" sz="12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dirty="0"/>
                        <a:t>계산식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단위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부호</a:t>
                      </a:r>
                      <a:r>
                        <a:rPr lang="en-US" altLang="ko-KR" sz="1200" dirty="0"/>
                        <a:t>(±) </a:t>
                      </a:r>
                      <a:r>
                        <a:rPr lang="ko-KR" altLang="en-US" sz="1200" dirty="0"/>
                        <a:t>오류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914227"/>
                  </a:ext>
                </a:extLst>
              </a:tr>
              <a:tr h="87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 i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② Britz &amp; Roson (2019, G-RDEM)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내적 정합성 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구조 기반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산업구조 변화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소비패턴 변화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저축률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/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생산성 경로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I-O 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구조 변화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Value added</a:t>
                      </a:r>
                      <a:r>
                        <a:rPr lang="en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비중 시계열 분석</a:t>
                      </a:r>
                      <a:endParaRPr lang="en-US" altLang="ko-KR" sz="14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" altLang="ko-KR" sz="1200" b="1" dirty="0"/>
                        <a:t>(EX) </a:t>
                      </a:r>
                      <a:r>
                        <a:rPr lang="en" altLang="ko-KR" sz="1200" dirty="0"/>
                        <a:t>Agriculture, Industry, Services → GDP </a:t>
                      </a:r>
                      <a:r>
                        <a:rPr lang="ko-KR" altLang="en-US" sz="1200" dirty="0"/>
                        <a:t>대비 비중 시계열화 </a:t>
                      </a:r>
                      <a:r>
                        <a:rPr lang="en-US" altLang="ko-KR" sz="1200" dirty="0"/>
                        <a:t>(2019~2050)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dirty="0"/>
                        <a:t>소비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저축 구조 변화 여부 점검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소득 증가 → 서비스 소비 비중↑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178397"/>
                  </a:ext>
                </a:extLst>
              </a:tr>
              <a:tr h="878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③ Dixon &amp; Rimmer (2009)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외적 정합성 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실측 비교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순수 예측 </a:t>
                      </a:r>
                      <a:r>
                        <a:rPr lang="en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vs. 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통계 비교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AE / M 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지표 계산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변수별 오차 추적 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" altLang="ko-KR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GDP, Population, VA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등 주요 변수에 대해 </a:t>
                      </a:r>
                      <a:r>
                        <a:rPr lang="en-US" altLang="ko-KR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2019–2020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실제 통계와 오차율</a:t>
                      </a:r>
                      <a:r>
                        <a:rPr lang="en-US" altLang="ko-KR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(%)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계산</a:t>
                      </a:r>
                      <a:endParaRPr lang="en-US" altLang="ko-KR" sz="14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(EX) 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과거 추세 </a:t>
                      </a:r>
                      <a:r>
                        <a:rPr lang="ko-KR" altLang="en-US" sz="1200" b="0" i="0" dirty="0" err="1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외삽</a:t>
                      </a: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(2010~2018 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평균</a:t>
                      </a: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)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과 모델 예측치 비교 → </a:t>
                      </a:r>
                      <a:r>
                        <a:rPr lang="en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M 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계산</a:t>
                      </a:r>
                      <a:endParaRPr lang="en-US" altLang="ko-KR" sz="1200" b="0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외생 변수</a:t>
                      </a: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예</a:t>
                      </a: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: 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인구</a:t>
                      </a: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, </a:t>
                      </a:r>
                      <a:r>
                        <a:rPr lang="en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TFP)</a:t>
                      </a:r>
                      <a:r>
                        <a:rPr lang="ko-KR" altLang="en-US" sz="1200" b="0" i="0" dirty="0" err="1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를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altLang="en-US" sz="1200" b="0" i="0" dirty="0" err="1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실제값으로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교체하여 결과 민감도 확인</a:t>
                      </a:r>
                      <a:endParaRPr lang="en-US" altLang="ko-KR" sz="1200" b="0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459511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B311ACE6-D3D1-EF96-24A2-2A69B89856B3}"/>
              </a:ext>
            </a:extLst>
          </p:cNvPr>
          <p:cNvSpPr/>
          <p:nvPr/>
        </p:nvSpPr>
        <p:spPr>
          <a:xfrm>
            <a:off x="296782" y="4349579"/>
            <a:ext cx="11777082" cy="876466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AE410B-6852-98A7-4DB3-CA370AE9B6CA}"/>
              </a:ext>
            </a:extLst>
          </p:cNvPr>
          <p:cNvSpPr/>
          <p:nvPr/>
        </p:nvSpPr>
        <p:spPr>
          <a:xfrm>
            <a:off x="4425844" y="4470327"/>
            <a:ext cx="2174982" cy="115614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A670585-0AED-8A4C-585F-EEDCC836EC9A}"/>
              </a:ext>
            </a:extLst>
          </p:cNvPr>
          <p:cNvSpPr/>
          <p:nvPr/>
        </p:nvSpPr>
        <p:spPr>
          <a:xfrm>
            <a:off x="4425844" y="4633587"/>
            <a:ext cx="2174982" cy="115614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35102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0C762-A1B2-8D46-AB24-374A69799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D89970C2-8549-CC0C-F0A6-6250FD23D7E5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C384CC7-E64C-C95E-456B-6078A7FE0FA0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F8319A7-FCFF-3508-7D20-BB4A21784940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1428BB1-AE5D-A350-5A4C-AA82C1773E33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C8A441F-9C90-29D6-EC02-4ADEEE9E03A1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79D2F772-45C3-CB94-3A2B-1C07619D2467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90F9F0E-0C64-FB8E-87AC-903455EB88EA}"/>
              </a:ext>
            </a:extLst>
          </p:cNvPr>
          <p:cNvGrpSpPr/>
          <p:nvPr/>
        </p:nvGrpSpPr>
        <p:grpSpPr>
          <a:xfrm>
            <a:off x="414000" y="1522489"/>
            <a:ext cx="10979214" cy="2431435"/>
            <a:chOff x="456760" y="826191"/>
            <a:chExt cx="11515877" cy="2544537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B8624F9-92E3-D42E-510D-B54D192D72D8}"/>
                </a:ext>
              </a:extLst>
            </p:cNvPr>
            <p:cNvSpPr/>
            <p:nvPr/>
          </p:nvSpPr>
          <p:spPr>
            <a:xfrm>
              <a:off x="456760" y="826191"/>
              <a:ext cx="11515877" cy="2544537"/>
            </a:xfrm>
            <a:prstGeom prst="rect">
              <a:avLst/>
            </a:prstGeom>
          </p:spPr>
          <p:txBody>
            <a:bodyPr wrap="square" anchor="ctr" anchorCtr="0">
              <a:spAutoFit/>
            </a:bodyPr>
            <a:lstStyle/>
            <a:p>
              <a:pPr marR="0" lvl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" altLang="ko-KR" sz="1400" b="1" i="1" kern="0" spc="-1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Britz &amp; </a:t>
              </a:r>
              <a:r>
                <a:rPr lang="en" altLang="ko-KR" sz="1400" b="1" i="1" kern="0" spc="-150" dirty="0" err="1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Roson</a:t>
              </a:r>
              <a:r>
                <a:rPr lang="en" altLang="ko-KR" sz="1400" b="1" i="1" kern="0" spc="-1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 (2019), “G-RDEM: A GTAP-Based Recursive Dynamic CGE Model for Long-Term Baseline Generation and Analysis”</a:t>
              </a:r>
              <a:endParaRPr lang="en-US" altLang="ko-KR" sz="14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lnSpc>
                  <a:spcPct val="150000"/>
                </a:lnSpc>
                <a:defRPr/>
              </a:pPr>
              <a:endParaRPr lang="en-US" altLang="ko-KR" sz="6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NanumBarunGothicOTF" panose="02020603020101020101" pitchFamily="18" charset="-127"/>
                <a:ea typeface="NanumBarunGothicOTF" panose="02020603020101020101" pitchFamily="18" charset="-127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ko-KR" sz="1400" b="1" kern="0" spc="-1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-</a:t>
              </a:r>
              <a:r>
                <a:rPr lang="ko-KR" altLang="en-US" sz="1400" b="1" kern="0" spc="-1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전제조건</a:t>
              </a:r>
              <a:endParaRPr lang="en-US" altLang="ko-KR" sz="14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NanumBarunGothicOTF" panose="02020603020101020101" pitchFamily="18" charset="-127"/>
                <a:ea typeface="NanumBarunGothicOTF" panose="02020603020101020101" pitchFamily="18" charset="-127"/>
              </a:endParaRPr>
            </a:p>
            <a:p>
              <a:pPr>
                <a:buFont typeface="+mj-lt"/>
                <a:buAutoNum type="arabicPeriod"/>
              </a:pPr>
              <a:r>
                <a:rPr lang="ko-KR" altLang="en-US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경제성장에 따른 구조전환 이론</a:t>
              </a:r>
              <a:endParaRPr lang="en-US" altLang="ko-KR" sz="1200" dirty="0">
                <a:latin typeface="NanumBarunGothicOTF" panose="02020603020101020101" pitchFamily="18" charset="-127"/>
                <a:ea typeface="NanumBarunGothicOTF" panose="02020603020101020101" pitchFamily="18" charset="-127"/>
              </a:endParaRPr>
            </a:p>
            <a:p>
              <a:r>
                <a:rPr lang="ko-KR" altLang="en-US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경제가 성장할수록 농업의 경제 비중은 감소</a:t>
              </a:r>
              <a:r>
                <a:rPr lang="en-US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, </a:t>
              </a:r>
              <a:r>
                <a:rPr lang="ko-KR" altLang="en-US" sz="1200" b="1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산업 → 서비스로 중심축이 이동</a:t>
              </a:r>
              <a:r>
                <a:rPr lang="en-US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(</a:t>
              </a:r>
              <a:r>
                <a:rPr lang="en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Kuznets, 1966; Timmer et al., 2014).</a:t>
              </a:r>
            </a:p>
            <a:p>
              <a:endParaRPr lang="en" altLang="ko-KR" sz="1200" dirty="0">
                <a:latin typeface="NanumBarunGothicOTF" panose="02020603020101020101" pitchFamily="18" charset="-127"/>
                <a:ea typeface="NanumBarunGothicOTF" panose="02020603020101020101" pitchFamily="18" charset="-127"/>
              </a:endParaRPr>
            </a:p>
            <a:p>
              <a:r>
                <a:rPr lang="en-US" altLang="ko-KR" sz="1200" b="1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2.</a:t>
              </a:r>
              <a:r>
                <a:rPr lang="ko-KR" altLang="en-US" sz="1200" b="1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 소득수준에 따른 소비지출 변화 </a:t>
              </a:r>
              <a:r>
                <a:rPr lang="en-US" altLang="ko-KR" sz="1200" b="1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(</a:t>
              </a:r>
              <a:r>
                <a:rPr lang="en" altLang="ko-KR" sz="1200" b="1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Engel’s Law)</a:t>
              </a:r>
            </a:p>
            <a:p>
              <a:r>
                <a:rPr lang="ko-KR" altLang="en-US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가처분소득이 증가할수록 </a:t>
              </a:r>
              <a:r>
                <a:rPr lang="ko-KR" altLang="en-US" sz="1200" b="1" dirty="0" err="1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필수재</a:t>
              </a:r>
              <a:r>
                <a:rPr lang="en-US" altLang="ko-KR" sz="1200" b="1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(</a:t>
              </a:r>
              <a:r>
                <a:rPr lang="ko-KR" altLang="en-US" sz="1200" b="1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식품 등</a:t>
              </a:r>
              <a:r>
                <a:rPr lang="en-US" altLang="ko-KR" sz="1200" b="1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) </a:t>
              </a:r>
              <a:r>
                <a:rPr lang="ko-KR" altLang="en-US" sz="1200" b="1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지출의 비중은 감소</a:t>
              </a:r>
              <a:r>
                <a:rPr lang="en-US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, </a:t>
              </a:r>
              <a:r>
                <a:rPr lang="ko-KR" altLang="en-US" sz="1200" dirty="0" err="1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선택재</a:t>
              </a:r>
              <a:r>
                <a:rPr lang="en-US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(</a:t>
              </a:r>
              <a:r>
                <a:rPr lang="ko-KR" altLang="en-US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서비스</a:t>
              </a:r>
              <a:r>
                <a:rPr lang="en-US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, </a:t>
              </a:r>
              <a:r>
                <a:rPr lang="ko-KR" altLang="en-US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외식</a:t>
              </a:r>
              <a:r>
                <a:rPr lang="en-US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, </a:t>
              </a:r>
              <a:r>
                <a:rPr lang="ko-KR" altLang="en-US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문화 등</a:t>
              </a:r>
              <a:r>
                <a:rPr lang="en-US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)</a:t>
              </a:r>
              <a:r>
                <a:rPr lang="ko-KR" altLang="en-US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의 비중은 증가</a:t>
              </a:r>
              <a:r>
                <a:rPr lang="en-US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.</a:t>
              </a:r>
            </a:p>
            <a:p>
              <a:r>
                <a:rPr lang="en-US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=&gt;</a:t>
              </a:r>
              <a:r>
                <a:rPr lang="ko-KR" altLang="en-US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이러한 비선형 반응을 반영하기 위해 </a:t>
              </a:r>
              <a:r>
                <a:rPr lang="en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G-RDEM</a:t>
              </a:r>
              <a:r>
                <a:rPr lang="ko-KR" altLang="en-US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은 </a:t>
              </a:r>
              <a:r>
                <a:rPr lang="en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AIDADS </a:t>
              </a:r>
              <a:r>
                <a:rPr lang="ko-KR" altLang="en-US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수요체계를 채택</a:t>
              </a:r>
              <a:r>
                <a:rPr lang="en-US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.</a:t>
              </a:r>
            </a:p>
            <a:p>
              <a:endParaRPr lang="en-US" altLang="ko-KR" sz="1200" dirty="0">
                <a:latin typeface="NanumBarunGothicOTF" panose="02020603020101020101" pitchFamily="18" charset="-127"/>
                <a:ea typeface="NanumBarunGothicOTF" panose="02020603020101020101" pitchFamily="18" charset="-127"/>
              </a:endParaRPr>
            </a:p>
            <a:p>
              <a:r>
                <a:rPr lang="en-US" altLang="ko-KR" sz="1200" b="1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3.</a:t>
              </a:r>
              <a:r>
                <a:rPr lang="ko-KR" altLang="en-US" sz="1200" b="1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 생산성 차이에 기반한 산업 간 성장 차별화</a:t>
              </a:r>
              <a:r>
                <a:rPr lang="en-US" altLang="ko-KR" sz="1200" b="1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(TFP)</a:t>
              </a:r>
              <a:endParaRPr lang="ko-KR" altLang="en-US" sz="1200" b="1" dirty="0">
                <a:latin typeface="NanumBarunGothicOTF" panose="02020603020101020101" pitchFamily="18" charset="-127"/>
                <a:ea typeface="NanumBarunGothicOTF" panose="02020603020101020101" pitchFamily="18" charset="-127"/>
              </a:endParaRPr>
            </a:p>
            <a:p>
              <a:r>
                <a:rPr lang="ko-KR" altLang="en-US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농업 </a:t>
              </a:r>
              <a:r>
                <a:rPr lang="en-US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&lt; </a:t>
              </a:r>
              <a:r>
                <a:rPr lang="ko-KR" altLang="en-US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서비스 </a:t>
              </a:r>
              <a:r>
                <a:rPr lang="en-US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&lt; </a:t>
              </a:r>
              <a:r>
                <a:rPr lang="ko-KR" altLang="en-US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제조업 순으로 생산성 증가율</a:t>
              </a:r>
              <a:r>
                <a:rPr lang="en-US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(</a:t>
              </a:r>
              <a:r>
                <a:rPr lang="en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TFP)</a:t>
              </a:r>
              <a:r>
                <a:rPr lang="ko-KR" altLang="en-US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 증가 및 장기적 산업구조 재편</a:t>
              </a:r>
              <a:r>
                <a:rPr lang="en-US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.</a:t>
              </a:r>
              <a:r>
                <a:rPr lang="ko-KR" altLang="en-US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 산업별 </a:t>
              </a:r>
              <a:r>
                <a:rPr lang="en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TFP</a:t>
              </a:r>
              <a:r>
                <a:rPr lang="ko-KR" altLang="en-US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는 </a:t>
              </a:r>
              <a:r>
                <a:rPr lang="en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GDP </a:t>
              </a:r>
              <a:r>
                <a:rPr lang="ko-KR" altLang="en-US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성장률의 함수로 결정</a:t>
              </a:r>
              <a:r>
                <a:rPr lang="en-US" altLang="ko-KR" sz="1200" dirty="0"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.</a:t>
              </a:r>
              <a:endParaRPr lang="ko-KR" altLang="en-US" sz="1200" dirty="0">
                <a:latin typeface="NanumBarunGothicOTF" panose="02020603020101020101" pitchFamily="18" charset="-127"/>
                <a:ea typeface="NanumBarunGothicOTF" panose="02020603020101020101" pitchFamily="18" charset="-127"/>
              </a:endParaRPr>
            </a:p>
          </p:txBody>
        </p:sp>
        <p:sp>
          <p:nvSpPr>
            <p:cNvPr id="20" name="직사각형 27">
              <a:extLst>
                <a:ext uri="{FF2B5EF4-FFF2-40B4-BE49-F238E27FC236}">
                  <a16:creationId xmlns:a16="http://schemas.microsoft.com/office/drawing/2014/main" id="{6464768A-12F6-D355-5C6B-9453040807B7}"/>
                </a:ext>
              </a:extLst>
            </p:cNvPr>
            <p:cNvSpPr/>
            <p:nvPr/>
          </p:nvSpPr>
          <p:spPr>
            <a:xfrm>
              <a:off x="456760" y="1024183"/>
              <a:ext cx="80901" cy="313200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B74ADBE2-2658-134E-E79D-7BD8B5D1B247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Britz &amp; </a:t>
            </a:r>
            <a:r>
              <a:rPr lang="en" altLang="ko-KR" sz="2000" b="1" kern="0" spc="-15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Roson</a:t>
            </a:r>
            <a:r>
              <a:rPr lang="en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(2019)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내적 정합성 검증 기준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6724D8E9-8A3B-3BCE-9427-A9C408312A05}"/>
              </a:ext>
            </a:extLst>
          </p:cNvPr>
          <p:cNvSpPr/>
          <p:nvPr/>
        </p:nvSpPr>
        <p:spPr>
          <a:xfrm>
            <a:off x="9928638" y="996910"/>
            <a:ext cx="1995055" cy="43938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/>
              <a:t>내적 정합성 검증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E42ED2-F6C2-207C-065E-FC5207AAB4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025748"/>
              </p:ext>
            </p:extLst>
          </p:nvPr>
        </p:nvGraphicFramePr>
        <p:xfrm>
          <a:off x="414000" y="4040116"/>
          <a:ext cx="11284015" cy="2076906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1709090">
                  <a:extLst>
                    <a:ext uri="{9D8B030D-6E8A-4147-A177-3AD203B41FA5}">
                      <a16:colId xmlns:a16="http://schemas.microsoft.com/office/drawing/2014/main" val="692438089"/>
                    </a:ext>
                  </a:extLst>
                </a:gridCol>
                <a:gridCol w="2804516">
                  <a:extLst>
                    <a:ext uri="{9D8B030D-6E8A-4147-A177-3AD203B41FA5}">
                      <a16:colId xmlns:a16="http://schemas.microsoft.com/office/drawing/2014/main" val="2569268082"/>
                    </a:ext>
                  </a:extLst>
                </a:gridCol>
                <a:gridCol w="2860560">
                  <a:extLst>
                    <a:ext uri="{9D8B030D-6E8A-4147-A177-3AD203B41FA5}">
                      <a16:colId xmlns:a16="http://schemas.microsoft.com/office/drawing/2014/main" val="2674232511"/>
                    </a:ext>
                  </a:extLst>
                </a:gridCol>
                <a:gridCol w="2501462">
                  <a:extLst>
                    <a:ext uri="{9D8B030D-6E8A-4147-A177-3AD203B41FA5}">
                      <a16:colId xmlns:a16="http://schemas.microsoft.com/office/drawing/2014/main" val="1859561711"/>
                    </a:ext>
                  </a:extLst>
                </a:gridCol>
                <a:gridCol w="1408387">
                  <a:extLst>
                    <a:ext uri="{9D8B030D-6E8A-4147-A177-3AD203B41FA5}">
                      <a16:colId xmlns:a16="http://schemas.microsoft.com/office/drawing/2014/main" val="3881400853"/>
                    </a:ext>
                  </a:extLst>
                </a:gridCol>
              </a:tblGrid>
              <a:tr h="286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/>
                        <a:t>구분</a:t>
                      </a:r>
                      <a:endParaRPr lang="ko-KR" altLang="en-US" sz="1100" dirty="0"/>
                    </a:p>
                  </a:txBody>
                  <a:tcPr marL="59607" marR="59607" marT="29804" marB="2980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/>
                        <a:t>검토 항목</a:t>
                      </a:r>
                      <a:endParaRPr lang="ko-KR" altLang="en-US" sz="1100" dirty="0"/>
                    </a:p>
                  </a:txBody>
                  <a:tcPr marL="59607" marR="59607" marT="29804" marB="2980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/>
                        <a:t>내적 정합성 기준 </a:t>
                      </a:r>
                      <a:r>
                        <a:rPr lang="en-US" altLang="ko-KR" sz="1100" b="1" dirty="0"/>
                        <a:t>(</a:t>
                      </a:r>
                      <a:r>
                        <a:rPr lang="ko-KR" altLang="en-US" sz="1100" b="1" dirty="0"/>
                        <a:t>이론적 방향</a:t>
                      </a:r>
                      <a:r>
                        <a:rPr lang="en-US" altLang="ko-KR" sz="1100" b="1" dirty="0"/>
                        <a:t>)</a:t>
                      </a:r>
                      <a:endParaRPr lang="ko-KR" altLang="en-US" sz="1100" dirty="0"/>
                    </a:p>
                  </a:txBody>
                  <a:tcPr marL="59607" marR="59607" marT="29804" marB="2980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 dirty="0"/>
                        <a:t>G-RDEM </a:t>
                      </a:r>
                      <a:r>
                        <a:rPr lang="ko-KR" altLang="en-US" sz="1100" b="1" dirty="0"/>
                        <a:t>내 구현 방식</a:t>
                      </a:r>
                      <a:endParaRPr lang="ko-KR" altLang="en-US" sz="1100" dirty="0"/>
                    </a:p>
                  </a:txBody>
                  <a:tcPr marL="59607" marR="59607" marT="29804" marB="2980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/>
                        <a:t>수치 예시 </a:t>
                      </a:r>
                      <a:r>
                        <a:rPr lang="en-US" altLang="ko-KR" sz="1100" b="1" dirty="0"/>
                        <a:t>(</a:t>
                      </a:r>
                      <a:r>
                        <a:rPr lang="ko-KR" altLang="en-US" sz="1100" b="1" dirty="0"/>
                        <a:t>변화폭</a:t>
                      </a:r>
                      <a:r>
                        <a:rPr lang="en-US" altLang="ko-KR" sz="1100" b="1" dirty="0"/>
                        <a:t>)</a:t>
                      </a:r>
                      <a:endParaRPr lang="ko-KR" altLang="en-US" sz="1100" dirty="0"/>
                    </a:p>
                  </a:txBody>
                  <a:tcPr marL="59607" marR="59607" marT="29804" marB="2980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1535711"/>
                  </a:ext>
                </a:extLst>
              </a:tr>
              <a:tr h="4164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/>
                        <a:t>산업구조 변화</a:t>
                      </a:r>
                    </a:p>
                  </a:txBody>
                  <a:tcPr marL="59607" marR="59607" marT="29804" marB="2980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산업별 </a:t>
                      </a:r>
                      <a:r>
                        <a:rPr lang="en" sz="1100" dirty="0"/>
                        <a:t>VA </a:t>
                      </a:r>
                      <a:r>
                        <a:rPr lang="ko-KR" altLang="en-US" sz="1100" dirty="0"/>
                        <a:t>비중 변화</a:t>
                      </a:r>
                    </a:p>
                  </a:txBody>
                  <a:tcPr marL="59607" marR="59607" marT="29804" marB="2980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경제성장에 따라 농업 ↓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서비스업 ↑</a:t>
                      </a:r>
                    </a:p>
                  </a:txBody>
                  <a:tcPr marL="59607" marR="59607" marT="29804" marB="2980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산업별 </a:t>
                      </a:r>
                      <a:r>
                        <a:rPr lang="en" sz="1100" dirty="0"/>
                        <a:t>TFP</a:t>
                      </a:r>
                      <a:r>
                        <a:rPr lang="ko-KR" altLang="en-US" sz="1100" dirty="0" err="1"/>
                        <a:t>를</a:t>
                      </a:r>
                      <a:r>
                        <a:rPr lang="ko-KR" altLang="en-US" sz="1100" dirty="0"/>
                        <a:t> </a:t>
                      </a:r>
                      <a:r>
                        <a:rPr lang="en" sz="1100" dirty="0"/>
                        <a:t>GDP </a:t>
                      </a:r>
                      <a:r>
                        <a:rPr lang="ko-KR" altLang="en-US" sz="1100" dirty="0"/>
                        <a:t>성장률에 따라 차등 적용</a:t>
                      </a:r>
                    </a:p>
                  </a:txBody>
                  <a:tcPr marL="59607" marR="59607" marT="29804" marB="2980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농업 </a:t>
                      </a:r>
                      <a:r>
                        <a:rPr lang="en" sz="1100" dirty="0"/>
                        <a:t>VA </a:t>
                      </a:r>
                      <a:r>
                        <a:rPr lang="ko-KR" altLang="en-US" sz="1100" dirty="0"/>
                        <a:t>비중</a:t>
                      </a:r>
                      <a:r>
                        <a:rPr lang="en-US" altLang="ko-KR" sz="1100" dirty="0"/>
                        <a:t>: 4.5% → 1.8% (–60%)</a:t>
                      </a:r>
                    </a:p>
                  </a:txBody>
                  <a:tcPr marL="59607" marR="59607" marT="29804" marB="2980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68796683"/>
                  </a:ext>
                </a:extLst>
              </a:tr>
              <a:tr h="541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/>
                        <a:t>TFP </a:t>
                      </a:r>
                      <a:r>
                        <a:rPr lang="ko-KR" altLang="en-US" sz="1100"/>
                        <a:t>차등 성장률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제조업 </a:t>
                      </a:r>
                      <a:r>
                        <a:rPr lang="en" sz="1100" dirty="0"/>
                        <a:t>TFP &gt; </a:t>
                      </a:r>
                      <a:r>
                        <a:rPr lang="ko-KR" altLang="en-US" sz="1100" dirty="0"/>
                        <a:t>서비스업 </a:t>
                      </a:r>
                      <a:r>
                        <a:rPr lang="en" sz="1100" dirty="0"/>
                        <a:t>TFP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클러스터별 </a:t>
                      </a:r>
                      <a:r>
                        <a:rPr lang="en" sz="1100" dirty="0"/>
                        <a:t>TFP: </a:t>
                      </a:r>
                      <a:r>
                        <a:rPr lang="ko-KR" altLang="en-US" sz="1100" dirty="0"/>
                        <a:t>제조업 최대 </a:t>
                      </a:r>
                      <a:r>
                        <a:rPr lang="en-US" altLang="ko-KR" sz="1100" dirty="0"/>
                        <a:t>11.4%, </a:t>
                      </a:r>
                      <a:r>
                        <a:rPr lang="ko-KR" altLang="en-US" sz="1100" dirty="0"/>
                        <a:t>서비스 약 </a:t>
                      </a:r>
                      <a:r>
                        <a:rPr lang="en-US" altLang="ko-KR" sz="1100" dirty="0"/>
                        <a:t>5.6%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Rising </a:t>
                      </a:r>
                      <a:r>
                        <a:rPr lang="ko-KR" altLang="en-US" sz="1100" dirty="0"/>
                        <a:t>그룹 기준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제조업 </a:t>
                      </a:r>
                      <a:r>
                        <a:rPr lang="en" sz="1100" dirty="0"/>
                        <a:t>TFP = 2</a:t>
                      </a:r>
                      <a:r>
                        <a:rPr lang="ko-KR" altLang="en-US" sz="1100" dirty="0"/>
                        <a:t>배 이상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59607" marR="59607" marT="29804" marB="29804"/>
                </a:tc>
                <a:extLst>
                  <a:ext uri="{0D108BD9-81ED-4DB2-BD59-A6C34878D82A}">
                    <a16:rowId xmlns:a16="http://schemas.microsoft.com/office/drawing/2014/main" val="4266447085"/>
                  </a:ext>
                </a:extLst>
              </a:tr>
              <a:tr h="4164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/>
                        <a:t>소비구조 변화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식품 등 </a:t>
                      </a:r>
                      <a:r>
                        <a:rPr lang="ko-KR" altLang="en-US" sz="1100" dirty="0" err="1"/>
                        <a:t>필수재</a:t>
                      </a:r>
                      <a:r>
                        <a:rPr lang="ko-KR" altLang="en-US" sz="1100" dirty="0"/>
                        <a:t> 비중 변화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/>
                        <a:t>소득 증가 시 식품 비중 ↓ </a:t>
                      </a:r>
                      <a:r>
                        <a:rPr lang="en-US" altLang="ko-KR" sz="1100"/>
                        <a:t>(</a:t>
                      </a:r>
                      <a:r>
                        <a:rPr lang="en" sz="1100"/>
                        <a:t>Engel</a:t>
                      </a:r>
                      <a:r>
                        <a:rPr lang="ko-KR" altLang="en-US" sz="1100"/>
                        <a:t>의 법칙</a:t>
                      </a:r>
                      <a:r>
                        <a:rPr lang="en-US" altLang="ko-KR" sz="1100"/>
                        <a:t>)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/>
                        <a:t>AIDADS </a:t>
                      </a:r>
                      <a:r>
                        <a:rPr lang="ko-KR" altLang="en-US" sz="1100"/>
                        <a:t>수요함수로 비선형 소득 반응 반영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식품 소비 비중</a:t>
                      </a:r>
                      <a:r>
                        <a:rPr lang="en-US" altLang="ko-KR" sz="1100" dirty="0"/>
                        <a:t>: 38% → 15% (–60%)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3076597111"/>
                  </a:ext>
                </a:extLst>
              </a:tr>
              <a:tr h="4164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/>
                        <a:t>고급재</a:t>
                      </a:r>
                      <a:r>
                        <a:rPr lang="en-US" altLang="ko-KR" sz="1100"/>
                        <a:t>·</a:t>
                      </a:r>
                      <a:r>
                        <a:rPr lang="ko-KR" altLang="en-US" sz="1100"/>
                        <a:t>서비스 소비 증가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외식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문화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여가 등 고소득 소비 비중 ↑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/>
                        <a:t>ICP </a:t>
                      </a:r>
                      <a:r>
                        <a:rPr lang="ko-KR" altLang="en-US" sz="1100"/>
                        <a:t>자료 기반 </a:t>
                      </a:r>
                      <a:r>
                        <a:rPr lang="en" sz="1100"/>
                        <a:t>AIDADS </a:t>
                      </a:r>
                      <a:r>
                        <a:rPr lang="ko-KR" altLang="en-US" sz="1100"/>
                        <a:t>계수 추정 및 적용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/>
                        <a:t>외식 소비 비중</a:t>
                      </a:r>
                      <a:r>
                        <a:rPr lang="en-US" altLang="ko-KR" sz="1100"/>
                        <a:t>: 1.5% → 8% (+433%)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59607" marR="59607" marT="29804" marB="29804"/>
                </a:tc>
                <a:extLst>
                  <a:ext uri="{0D108BD9-81ED-4DB2-BD59-A6C34878D82A}">
                    <a16:rowId xmlns:a16="http://schemas.microsoft.com/office/drawing/2014/main" val="28061291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9EB8BA-E3F1-84FC-53F1-F1979F9AADD0}"/>
              </a:ext>
            </a:extLst>
          </p:cNvPr>
          <p:cNvSpPr txBox="1"/>
          <p:nvPr/>
        </p:nvSpPr>
        <p:spPr>
          <a:xfrm>
            <a:off x="1875934" y="6343565"/>
            <a:ext cx="84401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➔ 연구 내 내적 정합성 검증기준을 벤치마크 하여</a:t>
            </a:r>
            <a:r>
              <a:rPr kumimoji="1" lang="en-US" altLang="ko-KR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  <a:r>
              <a:rPr kumimoji="1" lang="ko-KR" altLang="en-US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kumimoji="1" lang="en-US" altLang="ko-KR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CGE</a:t>
            </a:r>
            <a:r>
              <a:rPr kumimoji="1" lang="ko-KR" altLang="en-US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모형 내 </a:t>
            </a:r>
            <a:r>
              <a:rPr kumimoji="1" lang="en-US" altLang="ko-KR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6</a:t>
            </a:r>
            <a:r>
              <a:rPr kumimoji="1" lang="ko-KR" altLang="en-US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개국 대상 내적 정합 검증 진행</a:t>
            </a:r>
            <a:r>
              <a:rPr kumimoji="1" lang="en-US" altLang="ko-KR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(</a:t>
            </a:r>
            <a:r>
              <a:rPr kumimoji="1" lang="ko-KR" altLang="en-US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산업구조</a:t>
            </a:r>
            <a:r>
              <a:rPr kumimoji="1" lang="en-US" altLang="ko-KR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  <a:r>
              <a:rPr kumimoji="1" lang="ko-KR" altLang="en-US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소비변화</a:t>
            </a:r>
            <a:r>
              <a:rPr kumimoji="1" lang="en-US" altLang="ko-KR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)</a:t>
            </a:r>
            <a:endParaRPr kumimoji="1" lang="ko-KR" altLang="en-US" sz="1400" b="1" i="1" dirty="0">
              <a:solidFill>
                <a:srgbClr val="C00000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1460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BF9D8-C75E-2EAF-E616-41793FB7A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A5D9156C-3BC8-A2B3-A7E3-DD59A9849FB4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EBD57B-0271-08E6-C183-68A8B00205D1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F086079-C6D4-52F8-308E-8934AF02277F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59E259F-F16E-3363-726A-963FD6A56C5D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8D1FAE5-68A1-1BF3-B997-0EC8E4918312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5A96A4DD-53BF-5F66-AD71-DD0DEA7EC2C8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155A3FF0-D458-B565-79EB-F345CD440BA6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ABA02D-12CC-5F55-6235-298DD000AA35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내적 정합성 검증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_(1)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산업구조 변화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B9BB24-EBE1-C345-7826-0304D67D4108}"/>
              </a:ext>
            </a:extLst>
          </p:cNvPr>
          <p:cNvSpPr txBox="1"/>
          <p:nvPr/>
        </p:nvSpPr>
        <p:spPr>
          <a:xfrm>
            <a:off x="981313" y="5531328"/>
            <a:ext cx="4665280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부가가치 규모는 </a:t>
            </a:r>
            <a:r>
              <a:rPr lang="en-US" altLang="ko-KR" sz="1200" dirty="0"/>
              <a:t>2019</a:t>
            </a:r>
            <a:r>
              <a:rPr lang="ko-KR" altLang="en-US" sz="1200" dirty="0"/>
              <a:t>년 대비 </a:t>
            </a:r>
            <a:r>
              <a:rPr lang="en-US" altLang="ko-KR" sz="1200" dirty="0"/>
              <a:t>2050</a:t>
            </a:r>
            <a:r>
              <a:rPr lang="ko-KR" altLang="en-US" sz="1200" dirty="0"/>
              <a:t>년 약 </a:t>
            </a:r>
            <a:r>
              <a:rPr lang="en-US" altLang="ko-KR" sz="1200" dirty="0"/>
              <a:t>30% </a:t>
            </a:r>
            <a:r>
              <a:rPr lang="ko-KR" altLang="en-US" sz="1200" dirty="0"/>
              <a:t>이상 증가 </a:t>
            </a:r>
            <a:endParaRPr lang="en-US" altLang="ko-KR" sz="1200" dirty="0"/>
          </a:p>
          <a:p>
            <a:pPr algn="ctr"/>
            <a:r>
              <a:rPr lang="ko-KR" altLang="en-US" sz="1200" b="1" dirty="0"/>
              <a:t>→장기 경제성장 반영</a:t>
            </a:r>
            <a:endParaRPr lang="en-US" altLang="ko-KR" sz="1200" b="1" dirty="0"/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서비스업</a:t>
            </a:r>
            <a:r>
              <a:rPr lang="en-US" altLang="ko-KR" sz="1200" dirty="0"/>
              <a:t>(31_</a:t>
            </a:r>
            <a:r>
              <a:rPr lang="en" altLang="ko-KR" sz="1200" dirty="0"/>
              <a:t>SER)</a:t>
            </a:r>
            <a:r>
              <a:rPr lang="ko-KR" altLang="en-US" sz="1200" dirty="0"/>
              <a:t>의 절대 규모 및 상대 비중이 가장 많이 증가</a:t>
            </a:r>
            <a:endParaRPr lang="en-US" altLang="ko-KR" sz="1200" dirty="0"/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농업</a:t>
            </a:r>
            <a:r>
              <a:rPr lang="en-US" altLang="ko-KR" sz="1200" dirty="0"/>
              <a:t>(01_</a:t>
            </a:r>
            <a:r>
              <a:rPr lang="en" altLang="ko-KR" sz="1200" dirty="0"/>
              <a:t>AGRICULT)</a:t>
            </a:r>
            <a:r>
              <a:rPr lang="ko-KR" altLang="en-US" sz="1200" dirty="0"/>
              <a:t>은 매우 낮은 비중으로 유지</a:t>
            </a:r>
          </a:p>
          <a:p>
            <a:pPr algn="ctr"/>
            <a:r>
              <a:rPr lang="en-US" altLang="ko-KR" sz="1200" dirty="0">
                <a:sym typeface="Wingdings" pitchFamily="2" charset="2"/>
              </a:rPr>
              <a:t></a:t>
            </a:r>
            <a:r>
              <a:rPr lang="ko-KR" altLang="en-US" sz="1200" dirty="0">
                <a:sym typeface="Wingdings" pitchFamily="2" charset="2"/>
              </a:rPr>
              <a:t> </a:t>
            </a:r>
            <a:r>
              <a:rPr lang="en" altLang="ko-KR" sz="1200" dirty="0"/>
              <a:t>G-RDEM</a:t>
            </a:r>
            <a:r>
              <a:rPr lang="ko-KR" altLang="en-US" sz="1200" dirty="0"/>
              <a:t>이 제시하는 산업구조 변화의 </a:t>
            </a:r>
            <a:r>
              <a:rPr lang="ko-KR" altLang="en-US" sz="1200" b="1" dirty="0"/>
              <a:t>내적 정합성</a:t>
            </a:r>
            <a:r>
              <a:rPr lang="ko-KR" altLang="en-US" sz="1200" dirty="0"/>
              <a:t> 기준</a:t>
            </a:r>
            <a:r>
              <a:rPr lang="en-US" altLang="ko-KR" sz="1200" dirty="0"/>
              <a:t>(</a:t>
            </a:r>
            <a:r>
              <a:rPr lang="ko-KR" altLang="en-US" sz="1200" dirty="0"/>
              <a:t>농업↓</a:t>
            </a:r>
            <a:r>
              <a:rPr lang="en-US" altLang="ko-KR" sz="1200" dirty="0"/>
              <a:t>, </a:t>
            </a:r>
            <a:r>
              <a:rPr lang="ko-KR" altLang="en-US" sz="1200" dirty="0"/>
              <a:t>서비스↑</a:t>
            </a:r>
            <a:r>
              <a:rPr lang="en-US" altLang="ko-KR" sz="1200" dirty="0"/>
              <a:t>, </a:t>
            </a:r>
            <a:r>
              <a:rPr lang="ko-KR" altLang="en-US" sz="1200" dirty="0"/>
              <a:t>산업↓</a:t>
            </a:r>
            <a:r>
              <a:rPr lang="en-US" altLang="ko-KR" sz="1200" dirty="0"/>
              <a:t>)</a:t>
            </a:r>
            <a:r>
              <a:rPr lang="ko-KR" altLang="en-US" sz="1200" dirty="0" err="1"/>
              <a:t>에</a:t>
            </a:r>
            <a:r>
              <a:rPr lang="ko-KR" altLang="en-US" sz="1200" dirty="0"/>
              <a:t> 매우 부합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66F81D6-E0DF-61A5-D109-EDC2E82B1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93" y="1726779"/>
            <a:ext cx="4120055" cy="3604495"/>
          </a:xfrm>
          <a:prstGeom prst="rect">
            <a:avLst/>
          </a:prstGeom>
        </p:spPr>
      </p:pic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A8683FB-5943-42DC-A47C-869E86BB2289}"/>
              </a:ext>
            </a:extLst>
          </p:cNvPr>
          <p:cNvSpPr/>
          <p:nvPr/>
        </p:nvSpPr>
        <p:spPr>
          <a:xfrm>
            <a:off x="2293378" y="1526725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01_</a:t>
            </a:r>
            <a:r>
              <a:rPr kumimoji="1" lang="ko-KR" altLang="en-US" sz="1400" b="1" dirty="0"/>
              <a:t>대한민국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6ED54D4-3D53-8E5F-785A-A52A8EB4B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329" y="1679825"/>
            <a:ext cx="4120054" cy="3651449"/>
          </a:xfrm>
          <a:prstGeom prst="rect">
            <a:avLst/>
          </a:prstGeom>
        </p:spPr>
      </p:pic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3C5696B2-0A85-2674-47C4-3215222552F3}"/>
              </a:ext>
            </a:extLst>
          </p:cNvPr>
          <p:cNvSpPr/>
          <p:nvPr/>
        </p:nvSpPr>
        <p:spPr>
          <a:xfrm>
            <a:off x="8048242" y="1460960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02_</a:t>
            </a:r>
            <a:r>
              <a:rPr kumimoji="1" lang="ko-KR" altLang="en-US" sz="1400" b="1" dirty="0"/>
              <a:t>중국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CBC7ED-AA1B-47FE-2592-0869673124CA}"/>
              </a:ext>
            </a:extLst>
          </p:cNvPr>
          <p:cNvSpPr txBox="1"/>
          <p:nvPr/>
        </p:nvSpPr>
        <p:spPr>
          <a:xfrm>
            <a:off x="6600716" y="5473005"/>
            <a:ext cx="4665280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부가가치 규모는 </a:t>
            </a:r>
            <a:r>
              <a:rPr lang="en-US" altLang="ko-KR" sz="1200" dirty="0"/>
              <a:t>2019</a:t>
            </a:r>
            <a:r>
              <a:rPr lang="ko-KR" altLang="en-US" sz="1200" dirty="0"/>
              <a:t>년 대비 </a:t>
            </a:r>
            <a:r>
              <a:rPr lang="en-US" altLang="ko-KR" sz="1200" dirty="0"/>
              <a:t>2050</a:t>
            </a:r>
            <a:r>
              <a:rPr lang="ko-KR" altLang="en-US" sz="1200" dirty="0"/>
              <a:t>년 약 </a:t>
            </a:r>
            <a:r>
              <a:rPr lang="en-US" altLang="ko-KR" sz="1200" dirty="0"/>
              <a:t>2.5</a:t>
            </a:r>
            <a:r>
              <a:rPr lang="ko-KR" altLang="en-US" sz="1200" dirty="0"/>
              <a:t>배 이상 증가</a:t>
            </a:r>
            <a:endParaRPr lang="en-US" altLang="ko-KR" sz="1200" dirty="0"/>
          </a:p>
          <a:p>
            <a:pPr algn="ctr"/>
            <a:r>
              <a:rPr lang="ko-KR" altLang="en-US" sz="1200" b="1" dirty="0"/>
              <a:t>→중국의 지속적인 경제성장 반영</a:t>
            </a:r>
            <a:endParaRPr lang="en-US" altLang="ko-KR" sz="1200" b="1" dirty="0"/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서비스업</a:t>
            </a:r>
            <a:r>
              <a:rPr lang="en-US" altLang="ko-KR" sz="1200" dirty="0"/>
              <a:t>(31_</a:t>
            </a:r>
            <a:r>
              <a:rPr lang="en" altLang="ko-KR" sz="1200" dirty="0"/>
              <a:t>SER)</a:t>
            </a:r>
            <a:r>
              <a:rPr lang="ko-KR" altLang="en-US" sz="1200" dirty="0"/>
              <a:t>이 절대적으로 크게 증가</a:t>
            </a:r>
            <a:endParaRPr lang="en-US" altLang="ko-KR" sz="1200" dirty="0"/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농업</a:t>
            </a:r>
            <a:r>
              <a:rPr lang="en-US" altLang="ko-KR" sz="1200" dirty="0"/>
              <a:t>(01_</a:t>
            </a:r>
            <a:r>
              <a:rPr lang="en" altLang="ko-KR" sz="1200" dirty="0"/>
              <a:t>AGRICULT)</a:t>
            </a:r>
            <a:r>
              <a:rPr lang="ko-KR" altLang="en-US" sz="1200" dirty="0"/>
              <a:t>은 절대량 증가</a:t>
            </a:r>
            <a:r>
              <a:rPr lang="en-US" altLang="ko-KR" sz="1200" dirty="0"/>
              <a:t>,</a:t>
            </a:r>
            <a:r>
              <a:rPr lang="ko-KR" altLang="en-US" sz="1200" dirty="0"/>
              <a:t> 상대 비중은 소폭 감소</a:t>
            </a:r>
          </a:p>
          <a:p>
            <a:pPr marL="171450" indent="-171450" algn="ctr">
              <a:buFont typeface="Wingdings" pitchFamily="2" charset="2"/>
              <a:buChar char="à"/>
            </a:pPr>
            <a:r>
              <a:rPr lang="en-US" altLang="ko-KR" sz="1200" dirty="0"/>
              <a:t>2050</a:t>
            </a:r>
            <a:r>
              <a:rPr lang="ko-KR" altLang="en-US" sz="1200" dirty="0"/>
              <a:t>년까지 서비스 부문이 확대되며 점진적 전환</a:t>
            </a:r>
            <a:r>
              <a:rPr lang="en-US" altLang="ko-KR" sz="1200" dirty="0"/>
              <a:t>,</a:t>
            </a:r>
            <a:r>
              <a:rPr lang="ko-KR" altLang="en-US" sz="1200" dirty="0"/>
              <a:t> 그러나 </a:t>
            </a:r>
            <a:endParaRPr lang="en-US" altLang="ko-KR" sz="1200" dirty="0"/>
          </a:p>
          <a:p>
            <a:pPr algn="ctr"/>
            <a:r>
              <a:rPr lang="ko-KR" altLang="en-US" sz="1200" dirty="0"/>
              <a:t>농업 부문의 상대적 비중 정체를 통해 </a:t>
            </a:r>
            <a:r>
              <a:rPr lang="ko-KR" altLang="en-US" sz="1200" b="1" dirty="0"/>
              <a:t>개발도상국 구조 잔존 확인</a:t>
            </a:r>
          </a:p>
        </p:txBody>
      </p:sp>
    </p:spTree>
    <p:extLst>
      <p:ext uri="{BB962C8B-B14F-4D97-AF65-F5344CB8AC3E}">
        <p14:creationId xmlns:p14="http://schemas.microsoft.com/office/powerpoint/2010/main" val="2865249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E3192-B892-81CA-208E-5C1F2023F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15A86A29-0920-DCDB-2E09-B50438B1CD5E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4568D6A-29E1-DE9A-12B4-C5CD3CDBF8C3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A6C25A3-03E5-D880-A422-6D768B193356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9A534C2-B812-D3BC-5FC5-23FF0C2FBDE1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421BBE8-E28E-3006-755C-DF1BF772E1F0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08F092E6-E513-274A-8918-0C9EF51AEC0A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83F49236-7D7D-D77E-886F-486614424C51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7D9DE22-F9F5-023A-05CA-4CCEFF4A4F2F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내적 정합성 검증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_(1)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산업구조 변화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C8217D-5A77-75C7-E54F-12227BAFD37B}"/>
              </a:ext>
            </a:extLst>
          </p:cNvPr>
          <p:cNvSpPr txBox="1"/>
          <p:nvPr/>
        </p:nvSpPr>
        <p:spPr>
          <a:xfrm>
            <a:off x="722928" y="5473005"/>
            <a:ext cx="5057761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부가가치 규모는 </a:t>
            </a:r>
            <a:r>
              <a:rPr lang="en-US" altLang="ko-KR" sz="1200" dirty="0"/>
              <a:t>2019</a:t>
            </a:r>
            <a:r>
              <a:rPr lang="ko-KR" altLang="en-US" sz="1200" dirty="0"/>
              <a:t>년 대비 </a:t>
            </a:r>
            <a:r>
              <a:rPr lang="en-US" altLang="ko-KR" sz="1200" dirty="0"/>
              <a:t>2050</a:t>
            </a:r>
            <a:r>
              <a:rPr lang="ko-KR" altLang="en-US" sz="1200" dirty="0"/>
              <a:t>년에 약 </a:t>
            </a:r>
            <a:r>
              <a:rPr lang="en-US" altLang="ko-KR" sz="1200" dirty="0"/>
              <a:t>25% </a:t>
            </a:r>
            <a:r>
              <a:rPr lang="ko-KR" altLang="en-US" sz="1200" dirty="0"/>
              <a:t>증가 </a:t>
            </a:r>
            <a:endParaRPr lang="en-US" altLang="ko-KR" sz="1200" dirty="0"/>
          </a:p>
          <a:p>
            <a:pPr algn="ctr"/>
            <a:r>
              <a:rPr lang="ko-KR" altLang="en-US" sz="1200" dirty="0"/>
              <a:t>→ </a:t>
            </a:r>
            <a:r>
              <a:rPr lang="ko-KR" altLang="en-US" sz="1200" b="1" dirty="0"/>
              <a:t>안정적인 선진국 경제구조 확장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b="1" dirty="0"/>
              <a:t>서비스업</a:t>
            </a:r>
            <a:r>
              <a:rPr lang="en-US" altLang="ko-KR" sz="1200" b="1" dirty="0"/>
              <a:t>(31_</a:t>
            </a:r>
            <a:r>
              <a:rPr lang="en" altLang="ko-KR" sz="1200" b="1" dirty="0"/>
              <a:t>SER)</a:t>
            </a:r>
            <a:r>
              <a:rPr lang="ko-KR" altLang="en-US" sz="1200" b="1" dirty="0"/>
              <a:t>의 압도적으로 높은 비중</a:t>
            </a:r>
            <a:r>
              <a:rPr lang="en-US" altLang="ko-KR" sz="1200" dirty="0"/>
              <a:t>, 2050</a:t>
            </a:r>
            <a:r>
              <a:rPr lang="ko-KR" altLang="en-US" sz="1200" dirty="0"/>
              <a:t>년에는 더욱 확대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농업</a:t>
            </a:r>
            <a:r>
              <a:rPr lang="en-US" altLang="ko-KR" sz="1200" dirty="0"/>
              <a:t>(01_</a:t>
            </a:r>
            <a:r>
              <a:rPr lang="en" altLang="ko-KR" sz="1200" dirty="0"/>
              <a:t>AGRICULT)</a:t>
            </a:r>
            <a:r>
              <a:rPr lang="ko-KR" altLang="en-US" sz="1200" dirty="0"/>
              <a:t>은 매우 낮은 비중으로 유지</a:t>
            </a:r>
          </a:p>
          <a:p>
            <a:pPr marL="171450" indent="-171450">
              <a:buFont typeface="Wingdings" pitchFamily="2" charset="2"/>
              <a:buChar char="à"/>
            </a:pPr>
            <a:r>
              <a:rPr lang="en-US" altLang="ko-KR" sz="1200" dirty="0"/>
              <a:t>2019</a:t>
            </a:r>
            <a:r>
              <a:rPr lang="ko-KR" altLang="en-US" sz="1200" dirty="0"/>
              <a:t>년에 서비스업 중심 구조를 구축하고 있으며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en-US" altLang="ko-KR" sz="1200" dirty="0"/>
              <a:t>2050</a:t>
            </a:r>
            <a:r>
              <a:rPr lang="ko-KR" altLang="en-US" sz="1200" dirty="0"/>
              <a:t>년에는 </a:t>
            </a:r>
            <a:endParaRPr lang="en-US" altLang="ko-KR" sz="1200" dirty="0"/>
          </a:p>
          <a:p>
            <a:r>
              <a:rPr lang="ko-KR" altLang="en-US" sz="1200" dirty="0"/>
              <a:t>서비스 비중이 확대되어 </a:t>
            </a:r>
            <a:r>
              <a:rPr lang="ko-KR" altLang="en-US" sz="1200" b="1" dirty="0"/>
              <a:t>고소득 서비스경제로의 구조 전환이 거의 완결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1DAD3B-BCCC-12D7-38AA-AE688664C149}"/>
              </a:ext>
            </a:extLst>
          </p:cNvPr>
          <p:cNvSpPr txBox="1"/>
          <p:nvPr/>
        </p:nvSpPr>
        <p:spPr>
          <a:xfrm>
            <a:off x="6640793" y="5488632"/>
            <a:ext cx="466528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부가가치 규모는 </a:t>
            </a:r>
            <a:r>
              <a:rPr lang="en-US" altLang="ko-KR" sz="1200" dirty="0"/>
              <a:t>2019</a:t>
            </a:r>
            <a:r>
              <a:rPr lang="ko-KR" altLang="en-US" sz="1200" dirty="0"/>
              <a:t>년 대비 </a:t>
            </a:r>
            <a:r>
              <a:rPr lang="en-US" altLang="ko-KR" sz="1200" dirty="0"/>
              <a:t>2050</a:t>
            </a:r>
            <a:r>
              <a:rPr lang="ko-KR" altLang="en-US" sz="1200" dirty="0"/>
              <a:t>년에 약 </a:t>
            </a:r>
            <a:r>
              <a:rPr lang="en-US" altLang="ko-KR" sz="1200" dirty="0"/>
              <a:t>50% </a:t>
            </a:r>
            <a:r>
              <a:rPr lang="ko-KR" altLang="en-US" sz="1200" dirty="0"/>
              <a:t>이상 증가함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서비스업</a:t>
            </a:r>
            <a:r>
              <a:rPr lang="en-US" altLang="ko-KR" sz="1200" dirty="0"/>
              <a:t>(31_</a:t>
            </a:r>
            <a:r>
              <a:rPr lang="en" altLang="ko-KR" sz="1200" dirty="0"/>
              <a:t>SER)</a:t>
            </a:r>
            <a:r>
              <a:rPr lang="ko-KR" altLang="en-US" sz="1200" dirty="0"/>
              <a:t>부문 비중이 크게 증가</a:t>
            </a:r>
            <a:endParaRPr lang="en-US" altLang="ko-KR" sz="1200" dirty="0"/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농업</a:t>
            </a:r>
            <a:r>
              <a:rPr lang="en-US" altLang="ko-KR" sz="1200" dirty="0"/>
              <a:t>(01_</a:t>
            </a:r>
            <a:r>
              <a:rPr lang="en" altLang="ko-KR" sz="1200" dirty="0"/>
              <a:t>AGRICULT)</a:t>
            </a:r>
            <a:r>
              <a:rPr lang="ko-KR" altLang="en-US" sz="1200" dirty="0"/>
              <a:t>은 절대량 증가</a:t>
            </a:r>
            <a:r>
              <a:rPr lang="en-US" altLang="ko-KR" sz="1200" dirty="0"/>
              <a:t>,</a:t>
            </a:r>
            <a:r>
              <a:rPr lang="ko-KR" altLang="en-US" sz="1200" dirty="0"/>
              <a:t> 상대 비중은 소폭 감소</a:t>
            </a:r>
          </a:p>
          <a:p>
            <a:pPr algn="ctr"/>
            <a:r>
              <a:rPr lang="ko-KR" altLang="en-US" sz="1200" dirty="0"/>
              <a:t>→</a:t>
            </a:r>
            <a:r>
              <a:rPr lang="ko-KR" altLang="en-US" sz="1200" b="1" dirty="0"/>
              <a:t>고소득 서비스경제로의 구조 전환이 진행 중</a:t>
            </a:r>
            <a:r>
              <a:rPr lang="ko-KR" altLang="en-US" sz="1200" dirty="0"/>
              <a:t>이나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algn="ctr"/>
            <a:r>
              <a:rPr lang="ko-KR" altLang="en-US" sz="1200" dirty="0"/>
              <a:t>변화 폭은 제한적으로 진행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20A73E-6469-8691-AE41-1FA0212FF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542" y="1631314"/>
            <a:ext cx="4120054" cy="3697728"/>
          </a:xfrm>
          <a:prstGeom prst="rect">
            <a:avLst/>
          </a:prstGeom>
        </p:spPr>
      </p:pic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6B13D2BF-48AF-1C87-2004-FD9FF879565B}"/>
              </a:ext>
            </a:extLst>
          </p:cNvPr>
          <p:cNvSpPr/>
          <p:nvPr/>
        </p:nvSpPr>
        <p:spPr>
          <a:xfrm>
            <a:off x="2293378" y="1526725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03_</a:t>
            </a:r>
            <a:r>
              <a:rPr kumimoji="1" lang="ko-KR" altLang="en-US" sz="1400" b="1" dirty="0"/>
              <a:t>일본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BF3A731-8852-C793-AD69-A1ECD6CFA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406" y="1641666"/>
            <a:ext cx="4120055" cy="3697728"/>
          </a:xfrm>
          <a:prstGeom prst="rect">
            <a:avLst/>
          </a:prstGeom>
        </p:spPr>
      </p:pic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1D8533E7-A68D-380C-20F1-42B8F47DA616}"/>
              </a:ext>
            </a:extLst>
          </p:cNvPr>
          <p:cNvSpPr/>
          <p:nvPr/>
        </p:nvSpPr>
        <p:spPr>
          <a:xfrm>
            <a:off x="8048242" y="1492428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04_</a:t>
            </a:r>
            <a:r>
              <a:rPr kumimoji="1" lang="ko-KR" altLang="en-US" sz="1400" b="1" dirty="0"/>
              <a:t>러시아</a:t>
            </a:r>
          </a:p>
        </p:txBody>
      </p:sp>
    </p:spTree>
    <p:extLst>
      <p:ext uri="{BB962C8B-B14F-4D97-AF65-F5344CB8AC3E}">
        <p14:creationId xmlns:p14="http://schemas.microsoft.com/office/powerpoint/2010/main" val="3553567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09BC8-BF14-85BB-CE4C-09B905190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0F47697D-56F1-07CC-791D-53A57B17A74C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E6C3317-5B6D-B600-C1BE-EA141BF21436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240ABE-F43A-B5DD-AB4C-8E2278963BD2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01A6B70-6372-E385-D9A2-4166D5CD9AFF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C44E153-C126-DE7A-EAD0-3D79FB2550D3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E6DF12D9-63F0-012A-C146-2581DCC69B8C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6FF18C23-2F40-17DE-AC63-23436D0F9294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539D616-1E7F-F510-0984-DABAC289AC53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내적 정합성 검증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_(1)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산업구조 변화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580B7-C816-3EFD-2D8F-73F6295840F8}"/>
              </a:ext>
            </a:extLst>
          </p:cNvPr>
          <p:cNvSpPr txBox="1"/>
          <p:nvPr/>
        </p:nvSpPr>
        <p:spPr>
          <a:xfrm>
            <a:off x="926005" y="5473005"/>
            <a:ext cx="4665280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부가가치 규모는 </a:t>
            </a:r>
            <a:r>
              <a:rPr lang="en-US" altLang="ko-KR" sz="1200" dirty="0"/>
              <a:t>2019</a:t>
            </a:r>
            <a:r>
              <a:rPr lang="ko-KR" altLang="en-US" sz="1200" dirty="0"/>
              <a:t>년 대비 약 </a:t>
            </a:r>
            <a:r>
              <a:rPr lang="en-US" altLang="ko-KR" sz="1200" dirty="0"/>
              <a:t>3</a:t>
            </a:r>
            <a:r>
              <a:rPr lang="ko-KR" altLang="en-US" sz="1200" dirty="0"/>
              <a:t>배 증가함 </a:t>
            </a:r>
            <a:r>
              <a:rPr lang="ko-KR" altLang="en-US" sz="1200" b="1" dirty="0"/>
              <a:t>→ 경제성장 반영</a:t>
            </a:r>
            <a:endParaRPr lang="en-US" altLang="ko-KR" sz="1200" b="1" dirty="0"/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b="1" dirty="0"/>
              <a:t>서비스업</a:t>
            </a:r>
            <a:r>
              <a:rPr lang="en-US" altLang="ko-KR" sz="1200" b="1" dirty="0"/>
              <a:t>(31_</a:t>
            </a:r>
            <a:r>
              <a:rPr lang="en" altLang="ko-KR" sz="1200" b="1" dirty="0"/>
              <a:t>SER)</a:t>
            </a:r>
            <a:r>
              <a:rPr lang="ko-KR" altLang="en-US" sz="1200" dirty="0"/>
              <a:t>은 절대량 증가에도 불구하고 상대 비중은 </a:t>
            </a:r>
            <a:r>
              <a:rPr lang="en-US" altLang="ko-KR" sz="1200" b="1" dirty="0"/>
              <a:t>2019</a:t>
            </a:r>
            <a:r>
              <a:rPr lang="ko-KR" altLang="en-US" sz="1200" b="1" dirty="0"/>
              <a:t>년 수준에 비해 정체</a:t>
            </a:r>
            <a:endParaRPr lang="en-US" altLang="ko-KR" sz="1200" b="1" dirty="0"/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농업</a:t>
            </a:r>
            <a:r>
              <a:rPr lang="en-US" altLang="ko-KR" sz="1200" dirty="0"/>
              <a:t>(01_</a:t>
            </a:r>
            <a:r>
              <a:rPr lang="en" altLang="ko-KR" sz="1200" dirty="0"/>
              <a:t>AGRICULT)</a:t>
            </a:r>
            <a:r>
              <a:rPr lang="ko-KR" altLang="en-US" sz="1200" dirty="0"/>
              <a:t>은 절대량 증가</a:t>
            </a:r>
            <a:r>
              <a:rPr lang="en-US" altLang="ko-KR" sz="1200" dirty="0"/>
              <a:t>, </a:t>
            </a:r>
            <a:r>
              <a:rPr lang="ko-KR" altLang="en-US" sz="1200" b="1" dirty="0"/>
              <a:t>상대 비중은 소폭 증가</a:t>
            </a:r>
          </a:p>
          <a:p>
            <a:pPr algn="ctr"/>
            <a:r>
              <a:rPr lang="ko-KR" altLang="en-US" sz="1200" dirty="0">
                <a:sym typeface="Wingdings" pitchFamily="2" charset="2"/>
              </a:rPr>
              <a:t>→ </a:t>
            </a:r>
            <a:r>
              <a:rPr lang="en-US" altLang="ko-KR" sz="1200" dirty="0"/>
              <a:t>2050</a:t>
            </a:r>
            <a:r>
              <a:rPr lang="ko-KR" altLang="en-US" sz="1200" dirty="0"/>
              <a:t>년에도 </a:t>
            </a:r>
            <a:r>
              <a:rPr lang="ko-KR" altLang="en-US" sz="1200" b="1" dirty="0"/>
              <a:t>서비스업 중심의 산업구조로 전환되지 못하며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algn="ctr"/>
            <a:r>
              <a:rPr lang="ko-KR" altLang="en-US" sz="1200" dirty="0"/>
              <a:t>농업 비중 확대 및 산업 중심 구조가 고착되어 있음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D5CF41-37AF-D807-4E5D-62479B840990}"/>
              </a:ext>
            </a:extLst>
          </p:cNvPr>
          <p:cNvSpPr txBox="1"/>
          <p:nvPr/>
        </p:nvSpPr>
        <p:spPr>
          <a:xfrm>
            <a:off x="6600716" y="5473005"/>
            <a:ext cx="4665280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부가가치 규모는 </a:t>
            </a:r>
            <a:r>
              <a:rPr lang="en-US" altLang="ko-KR" sz="1200" dirty="0"/>
              <a:t>2050</a:t>
            </a:r>
            <a:r>
              <a:rPr lang="ko-KR" altLang="en-US" sz="1200" dirty="0"/>
              <a:t>년에 오히려 </a:t>
            </a:r>
            <a:r>
              <a:rPr lang="en-US" altLang="ko-KR" sz="1200" dirty="0"/>
              <a:t>2019</a:t>
            </a:r>
            <a:r>
              <a:rPr lang="ko-KR" altLang="en-US" sz="1200" dirty="0"/>
              <a:t>년보다 감소함 </a:t>
            </a:r>
            <a:endParaRPr lang="en-US" altLang="ko-KR" sz="1200" dirty="0"/>
          </a:p>
          <a:p>
            <a:pPr algn="ctr"/>
            <a:r>
              <a:rPr lang="ko-KR" altLang="en-US" sz="1200" dirty="0"/>
              <a:t>→ </a:t>
            </a:r>
            <a:r>
              <a:rPr lang="ko-KR" altLang="en-US" sz="1200" b="1" dirty="0"/>
              <a:t>성장보다는 수축 가능성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서비스업</a:t>
            </a:r>
            <a:r>
              <a:rPr lang="en-US" altLang="ko-KR" sz="1200" dirty="0"/>
              <a:t>(31_</a:t>
            </a:r>
            <a:r>
              <a:rPr lang="en" altLang="ko-KR" sz="1200" dirty="0"/>
              <a:t>SER)</a:t>
            </a:r>
            <a:r>
              <a:rPr lang="ko-KR" altLang="en-US" sz="1200" dirty="0"/>
              <a:t>의 절대</a:t>
            </a:r>
            <a:r>
              <a:rPr lang="en-US" altLang="ko-KR" sz="1200" dirty="0"/>
              <a:t>·</a:t>
            </a:r>
            <a:r>
              <a:rPr lang="ko-KR" altLang="en-US" sz="1200" dirty="0"/>
              <a:t>상대 비중 모두 소폭 축소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농업</a:t>
            </a:r>
            <a:r>
              <a:rPr lang="en-US" altLang="ko-KR" sz="1200" dirty="0"/>
              <a:t>(01_</a:t>
            </a:r>
            <a:r>
              <a:rPr lang="en" altLang="ko-KR" sz="1200" dirty="0"/>
              <a:t>AGRICULT)</a:t>
            </a:r>
            <a:r>
              <a:rPr lang="ko-KR" altLang="en-US" sz="1200" dirty="0"/>
              <a:t>은 비중 유지</a:t>
            </a:r>
            <a:r>
              <a:rPr lang="en-US" altLang="ko-KR" sz="1200" dirty="0"/>
              <a:t>~</a:t>
            </a:r>
            <a:r>
              <a:rPr lang="ko-KR" altLang="en-US" sz="1200" dirty="0"/>
              <a:t>소폭 증가</a:t>
            </a:r>
          </a:p>
          <a:p>
            <a:pPr algn="ctr"/>
            <a:r>
              <a:rPr lang="ko-KR" altLang="en-US" sz="1200" dirty="0"/>
              <a:t>→산업구조에 큰 변화가 없으며</a:t>
            </a:r>
            <a:r>
              <a:rPr lang="en-US" altLang="ko-KR" sz="1200" dirty="0"/>
              <a:t>, </a:t>
            </a:r>
            <a:r>
              <a:rPr lang="ko-KR" altLang="en-US" sz="1200" b="1" dirty="0"/>
              <a:t>서비스 중심 구조로의 전환이 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이루어지지 않음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3A84B0-581D-A570-97C9-4F9169A0B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539" y="1641666"/>
            <a:ext cx="4120055" cy="3697728"/>
          </a:xfrm>
          <a:prstGeom prst="rect">
            <a:avLst/>
          </a:prstGeom>
        </p:spPr>
      </p:pic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89EAFBA-2EDB-A1B7-7AA0-962947136B4B}"/>
              </a:ext>
            </a:extLst>
          </p:cNvPr>
          <p:cNvSpPr/>
          <p:nvPr/>
        </p:nvSpPr>
        <p:spPr>
          <a:xfrm>
            <a:off x="2293377" y="1495045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05_</a:t>
            </a:r>
            <a:r>
              <a:rPr kumimoji="1" lang="ko-KR" altLang="en-US" sz="1400" b="1" dirty="0"/>
              <a:t>몽골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5FD8AD0-7C50-EC1E-D42C-BE0BF9DA2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408" y="1580135"/>
            <a:ext cx="4120055" cy="3697729"/>
          </a:xfrm>
          <a:prstGeom prst="rect">
            <a:avLst/>
          </a:prstGeom>
        </p:spPr>
      </p:pic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894766F0-69DD-29C4-EC78-AD25828151CE}"/>
              </a:ext>
            </a:extLst>
          </p:cNvPr>
          <p:cNvSpPr/>
          <p:nvPr/>
        </p:nvSpPr>
        <p:spPr>
          <a:xfrm>
            <a:off x="8048242" y="1460960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06_</a:t>
            </a:r>
            <a:r>
              <a:rPr kumimoji="1" lang="ko-KR" altLang="en-US" sz="1400" b="1" dirty="0"/>
              <a:t>북한</a:t>
            </a:r>
          </a:p>
        </p:txBody>
      </p:sp>
    </p:spTree>
    <p:extLst>
      <p:ext uri="{BB962C8B-B14F-4D97-AF65-F5344CB8AC3E}">
        <p14:creationId xmlns:p14="http://schemas.microsoft.com/office/powerpoint/2010/main" val="2898875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7D0AA-208B-ADA8-3D5A-725BDB5DE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AE582AB0-AFAF-06A2-62B0-62E726274203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E92AE59-F727-ED91-2CFE-9CA5B72B2913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73D7E5D-A494-D21A-AD7B-E270936AD6C4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BE8EBEF-285E-2C0E-4D90-B61F90C2D992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5CFC718-BF08-82B9-2489-C1DA6A1EA58C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CCDFA742-8783-5526-3561-85C0BA18A754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821B11B0-B314-97E5-DD70-BDCC7C3B07F8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C4B811D-0327-DDBF-C29F-7A71684DC930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내적 정합성 검증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_(2)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소비구조 변화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B13AC3-63A8-D7AC-FFF3-8BCF493FB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77" y="1712178"/>
            <a:ext cx="4287785" cy="3350122"/>
          </a:xfrm>
          <a:prstGeom prst="rect">
            <a:avLst/>
          </a:prstGeom>
        </p:spPr>
      </p:pic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D9162878-E1A3-3B8F-06CA-726685A9A16D}"/>
              </a:ext>
            </a:extLst>
          </p:cNvPr>
          <p:cNvSpPr/>
          <p:nvPr/>
        </p:nvSpPr>
        <p:spPr>
          <a:xfrm>
            <a:off x="2293378" y="1526725"/>
            <a:ext cx="1850382" cy="40011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01_</a:t>
            </a:r>
            <a:r>
              <a:rPr kumimoji="1" lang="ko-KR" altLang="en-US" sz="1400" b="1" dirty="0"/>
              <a:t>대한민국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256EC1D-C81B-D998-7ED2-1BCF71D438F1}"/>
              </a:ext>
            </a:extLst>
          </p:cNvPr>
          <p:cNvGrpSpPr/>
          <p:nvPr/>
        </p:nvGrpSpPr>
        <p:grpSpPr>
          <a:xfrm>
            <a:off x="6989594" y="1532206"/>
            <a:ext cx="4287783" cy="3470853"/>
            <a:chOff x="6484262" y="1512123"/>
            <a:chExt cx="4287783" cy="347085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1EC7117-2058-4F3A-5D5A-A092ACD4D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84262" y="1632854"/>
              <a:ext cx="4287783" cy="3350122"/>
            </a:xfrm>
            <a:prstGeom prst="rect">
              <a:avLst/>
            </a:prstGeom>
          </p:spPr>
        </p:pic>
        <p:sp>
          <p:nvSpPr>
            <p:cNvPr id="18" name="모서리가 둥근 직사각형 17">
              <a:extLst>
                <a:ext uri="{FF2B5EF4-FFF2-40B4-BE49-F238E27FC236}">
                  <a16:creationId xmlns:a16="http://schemas.microsoft.com/office/drawing/2014/main" id="{6B3F00ED-DFCD-9697-CDA4-AE97583E1E43}"/>
                </a:ext>
              </a:extLst>
            </p:cNvPr>
            <p:cNvSpPr/>
            <p:nvPr/>
          </p:nvSpPr>
          <p:spPr>
            <a:xfrm>
              <a:off x="7702964" y="1512123"/>
              <a:ext cx="1850382" cy="400110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b="1" dirty="0"/>
                <a:t>02_</a:t>
              </a:r>
              <a:r>
                <a:rPr kumimoji="1" lang="ko-KR" altLang="en-US" sz="1400" b="1" dirty="0"/>
                <a:t>중국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C2C85EF-7EEF-9C6B-C5C0-78F86498309C}"/>
              </a:ext>
            </a:extLst>
          </p:cNvPr>
          <p:cNvSpPr txBox="1"/>
          <p:nvPr/>
        </p:nvSpPr>
        <p:spPr>
          <a:xfrm>
            <a:off x="6409816" y="5163156"/>
            <a:ext cx="5447338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 algn="ctr">
              <a:buFont typeface="Wingdings" pitchFamily="2" charset="2"/>
              <a:buChar char="ü"/>
            </a:pPr>
            <a:r>
              <a:rPr lang="en-US" altLang="ko-KR" sz="1200" dirty="0"/>
              <a:t>2050</a:t>
            </a:r>
            <a:r>
              <a:rPr lang="ko-KR" altLang="en-US" sz="1200" dirty="0"/>
              <a:t>년의 총 최종소비 규모는 </a:t>
            </a:r>
            <a:r>
              <a:rPr lang="en-US" altLang="ko-KR" sz="1200" dirty="0"/>
              <a:t>2019</a:t>
            </a:r>
            <a:r>
              <a:rPr lang="ko-KR" altLang="en-US" sz="1200" dirty="0"/>
              <a:t>년 대비 크게 증가 </a:t>
            </a:r>
            <a:r>
              <a:rPr lang="en-US" altLang="ko-KR" sz="1200" dirty="0"/>
              <a:t>(</a:t>
            </a:r>
            <a:r>
              <a:rPr lang="ko-KR" altLang="en-US" sz="1200" dirty="0"/>
              <a:t>약 </a:t>
            </a:r>
            <a:r>
              <a:rPr lang="en-US" altLang="ko-KR" sz="1200" dirty="0"/>
              <a:t>30~40% </a:t>
            </a:r>
            <a:r>
              <a:rPr lang="ko-KR" altLang="en-US" sz="1200" dirty="0"/>
              <a:t>이상</a:t>
            </a:r>
            <a:r>
              <a:rPr lang="en-US" altLang="ko-KR" sz="1200" dirty="0"/>
              <a:t>) </a:t>
            </a:r>
          </a:p>
          <a:p>
            <a:pPr algn="ctr"/>
            <a:r>
              <a:rPr lang="en-US" altLang="ko-KR" sz="1200" b="1" dirty="0"/>
              <a:t>→ </a:t>
            </a:r>
            <a:r>
              <a:rPr lang="ko-KR" altLang="en-US" sz="1200" b="1" dirty="0"/>
              <a:t>경제 성장 반영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농업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(01_</a:t>
            </a:r>
            <a:r>
              <a:rPr lang="en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AGRICULT), 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식품가공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(06_</a:t>
            </a:r>
            <a:r>
              <a:rPr lang="en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FOODPRO), 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석유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(10_</a:t>
            </a:r>
            <a:r>
              <a:rPr lang="en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PETROLCOAL) 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등   </a:t>
            </a:r>
            <a:r>
              <a:rPr lang="en-US" altLang="ko-KR" sz="1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1</a:t>
            </a:r>
            <a:r>
              <a:rPr lang="ko-KR" altLang="en-US" sz="1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차</a:t>
            </a:r>
            <a:r>
              <a:rPr lang="en-US" altLang="ko-KR" sz="1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·</a:t>
            </a:r>
            <a:r>
              <a:rPr lang="ko-KR" altLang="en-US" sz="1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중간재 소비가 여전히 큼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서비스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(23_</a:t>
            </a:r>
            <a:r>
              <a:rPr lang="en" altLang="ko-KR" sz="1200" dirty="0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SER), 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관광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(20_</a:t>
            </a:r>
            <a:r>
              <a:rPr lang="en" altLang="ko-KR" sz="1200" dirty="0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LTRP), 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운송서비스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(22_</a:t>
            </a:r>
            <a:r>
              <a:rPr lang="en" altLang="ko-KR" sz="1200" dirty="0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ATRP)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 등 </a:t>
            </a:r>
            <a:r>
              <a:rPr lang="ko-KR" altLang="en-US" sz="1200" b="1" dirty="0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고소득 항목 비중 확대가 뚜렷하지 않음</a:t>
            </a:r>
            <a:endParaRPr lang="en-US" altLang="ko-KR" sz="1200" b="1" dirty="0">
              <a:latin typeface="Malgun Gothic" panose="020B0503020000020004" pitchFamily="34" charset="-127"/>
              <a:ea typeface="Malgun Gothic" panose="020B0503020000020004" pitchFamily="34" charset="-127"/>
              <a:sym typeface="Wingdings" pitchFamily="2" charset="2"/>
            </a:endParaRP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농산물</a:t>
            </a:r>
            <a:r>
              <a:rPr lang="en-US" altLang="ko-KR" sz="1200" dirty="0"/>
              <a:t>, </a:t>
            </a:r>
            <a:r>
              <a:rPr lang="ko-KR" altLang="en-US" sz="1200" dirty="0"/>
              <a:t>석유</a:t>
            </a:r>
            <a:r>
              <a:rPr lang="en-US" altLang="ko-KR" sz="1200" dirty="0"/>
              <a:t>, </a:t>
            </a:r>
            <a:r>
              <a:rPr lang="ko-KR" altLang="en-US" sz="1200" dirty="0"/>
              <a:t>광업 등 </a:t>
            </a:r>
            <a:r>
              <a:rPr lang="en-US" altLang="ko-KR" sz="1200" dirty="0"/>
              <a:t>1</a:t>
            </a:r>
            <a:r>
              <a:rPr lang="ko-KR" altLang="en-US" sz="1200" dirty="0"/>
              <a:t>차 소비재 비중이 여전히 크고 확대되는 경향</a:t>
            </a:r>
          </a:p>
          <a:p>
            <a:pPr algn="ctr"/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→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Engel’s law</a:t>
            </a:r>
            <a:r>
              <a:rPr lang="ko-KR" altLang="en-US" sz="1200" dirty="0" err="1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에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 부합하다고 보기 어려우며 </a:t>
            </a:r>
            <a:r>
              <a:rPr lang="ko-KR" altLang="en-US" sz="1200" b="1" dirty="0" err="1"/>
              <a:t>중소득</a:t>
            </a:r>
            <a:r>
              <a:rPr lang="ko-KR" altLang="en-US" sz="1200" b="1" dirty="0"/>
              <a:t> 국가 소비 패턴 지속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2795DC-3DC3-C98E-E330-EE74E797DF1D}"/>
              </a:ext>
            </a:extLst>
          </p:cNvPr>
          <p:cNvSpPr txBox="1"/>
          <p:nvPr/>
        </p:nvSpPr>
        <p:spPr>
          <a:xfrm>
            <a:off x="454450" y="5163156"/>
            <a:ext cx="5447338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총 최종소비 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2050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년에 증가 → 경제 성장 및 소비 확대를 반영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서비스</a:t>
            </a:r>
            <a:r>
              <a:rPr lang="en-US" altLang="ko-KR" sz="1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(23_</a:t>
            </a:r>
            <a:r>
              <a:rPr lang="en" altLang="ko-KR" sz="1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SER) </a:t>
            </a:r>
            <a:r>
              <a:rPr lang="ko-KR" altLang="en-US" sz="1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부문의 비중 급증</a:t>
            </a:r>
            <a:endParaRPr lang="en-US" altLang="ko-KR" sz="12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고소득 소비항목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소득탄력적 소비재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의 비중 증가</a:t>
            </a:r>
            <a:endParaRPr lang="en-US" altLang="ko-KR" sz="12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en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23_SER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서비스업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),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20_LTRP(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숙박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여행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레저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),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22ATRP(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운송서비스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))</a:t>
            </a:r>
          </a:p>
          <a:p>
            <a:pPr algn="ctr"/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→선행연구에서 </a:t>
            </a:r>
            <a:r>
              <a:rPr lang="en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 AIDADS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에서 소득탄력성이 높은 품목에 해당하여 정합성 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O</a:t>
            </a:r>
            <a:endParaRPr lang="en" altLang="ko-KR" sz="12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b="1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필수재</a:t>
            </a:r>
            <a:r>
              <a:rPr lang="ko-KR" altLang="en-US" sz="1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및 기본 소비재 비중 정체 또는 감소</a:t>
            </a:r>
          </a:p>
          <a:p>
            <a:pPr algn="ctr"/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en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01_AGRICULT(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농산물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),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06_FOODPRO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식품가공물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))</a:t>
            </a:r>
          </a:p>
          <a:p>
            <a:pPr algn="ctr"/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→ 상대적으로 비중 감소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: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 </a:t>
            </a:r>
            <a:r>
              <a:rPr lang="en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Engel’s Law</a:t>
            </a:r>
            <a:r>
              <a:rPr lang="ko-KR" altLang="en-US" sz="12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에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부합하여 정합성 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O</a:t>
            </a:r>
            <a:endParaRPr lang="en" altLang="ko-KR" sz="12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1593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B0B8A-5BC1-BE16-626C-DA48B1723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23C31D62-D920-9D9F-2823-F7895E8C1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645" y="1652936"/>
            <a:ext cx="4597400" cy="3350123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EE8D8CFA-A36E-280A-E466-5254FA5EA26C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96B4CFD-9DD7-F46B-6D41-A9699BABB569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886D95-1926-1874-0643-FC748124915B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C2A6E18-5B07-AAA7-4F0A-061EA2848C38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5552A68-A7CB-7854-40C7-76078C87AAAF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A1E6FF39-1E4A-D006-E4A4-5BDA300A9FDC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5EA75B82-AB17-E1FC-C82B-5719592451D2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7E068D-A175-CAED-2985-367955EA8E08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내적 정합성 검증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_(2)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소비구조 변화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FA5BEF16-3008-1F59-A33B-591618D0EFBB}"/>
              </a:ext>
            </a:extLst>
          </p:cNvPr>
          <p:cNvSpPr/>
          <p:nvPr/>
        </p:nvSpPr>
        <p:spPr>
          <a:xfrm>
            <a:off x="8208294" y="1492741"/>
            <a:ext cx="1850382" cy="40011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04_</a:t>
            </a:r>
            <a:r>
              <a:rPr kumimoji="1" lang="ko-KR" altLang="en-US" sz="1400" b="1" dirty="0"/>
              <a:t>러시아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7B8137-EE2D-D6A1-6290-FCFFC555893F}"/>
              </a:ext>
            </a:extLst>
          </p:cNvPr>
          <p:cNvSpPr txBox="1"/>
          <p:nvPr/>
        </p:nvSpPr>
        <p:spPr>
          <a:xfrm>
            <a:off x="6510411" y="5165733"/>
            <a:ext cx="4951867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 algn="ctr">
              <a:buFont typeface="Wingdings" pitchFamily="2" charset="2"/>
              <a:buChar char="ü"/>
            </a:pPr>
            <a:r>
              <a:rPr lang="en-US" altLang="ko-KR" sz="1200" dirty="0"/>
              <a:t>2050</a:t>
            </a:r>
            <a:r>
              <a:rPr lang="ko-KR" altLang="en-US" sz="1200" dirty="0"/>
              <a:t>년의 총 최종소비 규모는 </a:t>
            </a:r>
            <a:r>
              <a:rPr lang="en-US" altLang="ko-KR" sz="1200" dirty="0"/>
              <a:t>2019</a:t>
            </a:r>
            <a:r>
              <a:rPr lang="ko-KR" altLang="en-US" sz="1200" dirty="0"/>
              <a:t>년보다 약 </a:t>
            </a:r>
            <a:r>
              <a:rPr lang="en-US" altLang="ko-KR" sz="1200" dirty="0"/>
              <a:t>2</a:t>
            </a:r>
            <a:r>
              <a:rPr lang="ko-KR" altLang="en-US" sz="1200" dirty="0"/>
              <a:t>배 이상 증가</a:t>
            </a:r>
            <a:r>
              <a:rPr lang="en-US" altLang="ko-KR" sz="1200" dirty="0"/>
              <a:t> </a:t>
            </a:r>
          </a:p>
          <a:p>
            <a:pPr algn="ctr"/>
            <a:r>
              <a:rPr lang="en-US" altLang="ko-KR" sz="1200" b="1" dirty="0"/>
              <a:t>→ </a:t>
            </a:r>
            <a:r>
              <a:rPr lang="ko-KR" altLang="en-US" sz="1200" b="1" dirty="0"/>
              <a:t>경제 성장 반영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서비스 소비의 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절대량은 증가하나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lang="ko-KR" altLang="en-US" sz="1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비중은 제한적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식품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·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  <a:sym typeface="Wingdings" pitchFamily="2" charset="2"/>
              </a:rPr>
              <a:t>농업 소비 비중이 정체 혹은 증가 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b="1" dirty="0"/>
              <a:t>석유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석탄 소비 비중</a:t>
            </a:r>
            <a:r>
              <a:rPr lang="en-US" altLang="ko-KR" sz="1200" b="1" dirty="0"/>
              <a:t>(03_OIL)</a:t>
            </a:r>
            <a:r>
              <a:rPr lang="ko-KR" altLang="en-US" sz="1200" b="1" dirty="0"/>
              <a:t>이 증가</a:t>
            </a:r>
            <a:endParaRPr lang="en-US" altLang="ko-KR" sz="1200" b="1" dirty="0"/>
          </a:p>
          <a:p>
            <a:pPr algn="ctr"/>
            <a:r>
              <a:rPr lang="ko-KR" altLang="en-US" sz="1200" dirty="0"/>
              <a:t>→석유</a:t>
            </a:r>
            <a:r>
              <a:rPr lang="en-US" altLang="ko-KR" sz="1200" dirty="0"/>
              <a:t>·</a:t>
            </a:r>
            <a:r>
              <a:rPr lang="ko-KR" altLang="en-US" sz="1200" dirty="0"/>
              <a:t>광물 중심 소비 구조를 유지 및  확대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en-US" altLang="ko-KR" sz="1200" dirty="0"/>
              <a:t>1</a:t>
            </a:r>
            <a:r>
              <a:rPr lang="ko-KR" altLang="en-US" sz="1200" dirty="0" err="1"/>
              <a:t>차재</a:t>
            </a:r>
            <a:r>
              <a:rPr lang="ko-KR" altLang="en-US" sz="1200" dirty="0"/>
              <a:t> 중심 소비 구조 유지됨</a:t>
            </a:r>
          </a:p>
          <a:p>
            <a:pPr algn="ctr"/>
            <a:r>
              <a:rPr lang="ko-KR" altLang="en-US" sz="1200" dirty="0"/>
              <a:t>→</a:t>
            </a:r>
            <a:r>
              <a:rPr lang="ko-KR" altLang="en-US" sz="1200" b="1" dirty="0"/>
              <a:t>소비 패턴 전환</a:t>
            </a:r>
            <a:r>
              <a:rPr lang="en-US" altLang="ko-KR" sz="1200" b="1" dirty="0"/>
              <a:t>(</a:t>
            </a:r>
            <a:r>
              <a:rPr lang="en" altLang="ko-KR" sz="1200" b="1" dirty="0"/>
              <a:t>Engel curve </a:t>
            </a:r>
            <a:r>
              <a:rPr lang="ko-KR" altLang="en-US" sz="1200" b="1" dirty="0"/>
              <a:t>상 반응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이 불완전</a:t>
            </a:r>
            <a:endParaRPr lang="en-US" altLang="ko-KR" sz="12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7FF7E1-AF98-F45D-BD7D-ECA506058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77" y="1652936"/>
            <a:ext cx="4287784" cy="3350123"/>
          </a:xfrm>
          <a:prstGeom prst="rect">
            <a:avLst/>
          </a:prstGeom>
        </p:spPr>
      </p:pic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BF15B8AC-286B-7A66-680D-5A4FC01E05BA}"/>
              </a:ext>
            </a:extLst>
          </p:cNvPr>
          <p:cNvSpPr/>
          <p:nvPr/>
        </p:nvSpPr>
        <p:spPr>
          <a:xfrm>
            <a:off x="2293377" y="1532206"/>
            <a:ext cx="1850382" cy="40011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03_</a:t>
            </a:r>
            <a:r>
              <a:rPr kumimoji="1" lang="ko-KR" altLang="en-US" sz="1400" b="1" dirty="0"/>
              <a:t>일본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1CE0FF-31C1-EB7B-F0A0-D30C1A5B7837}"/>
              </a:ext>
            </a:extLst>
          </p:cNvPr>
          <p:cNvSpPr txBox="1"/>
          <p:nvPr/>
        </p:nvSpPr>
        <p:spPr>
          <a:xfrm>
            <a:off x="494901" y="5258065"/>
            <a:ext cx="5471380" cy="1384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총 최종소비 </a:t>
            </a:r>
            <a:r>
              <a:rPr lang="en-US" altLang="ko-KR" sz="1200" dirty="0"/>
              <a:t>2019</a:t>
            </a:r>
            <a:r>
              <a:rPr lang="ko-KR" altLang="en-US" sz="1200" dirty="0"/>
              <a:t>년 대비 </a:t>
            </a:r>
            <a:r>
              <a:rPr lang="ko-KR" altLang="en-US" sz="1200" b="1" dirty="0"/>
              <a:t>뚜렷한 증가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2019,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2050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년 모두 </a:t>
            </a:r>
            <a:r>
              <a:rPr lang="ko-KR" altLang="en-US" sz="1200" b="1" dirty="0"/>
              <a:t>서비스</a:t>
            </a:r>
            <a:r>
              <a:rPr lang="en-US" altLang="ko-KR" sz="1200" b="1" dirty="0"/>
              <a:t>(23_</a:t>
            </a:r>
            <a:r>
              <a:rPr lang="en" altLang="ko-KR" sz="1200" b="1" dirty="0"/>
              <a:t>SER)</a:t>
            </a:r>
            <a:r>
              <a:rPr lang="ko-KR" altLang="en-US" sz="1200" b="1" dirty="0"/>
              <a:t>의 절대적 비중이 매우 큼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서비스 중심 소비 구조가 이미 정착</a:t>
            </a:r>
            <a:r>
              <a:rPr lang="en-US" altLang="ko-KR" sz="1200" dirty="0"/>
              <a:t>, 2050</a:t>
            </a:r>
            <a:r>
              <a:rPr lang="ko-KR" altLang="en-US" sz="1200" dirty="0"/>
              <a:t>년에는 규모 확대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en" altLang="ko-KR" sz="1200" dirty="0"/>
              <a:t>06_FOODPRO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식품가공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),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" altLang="ko-KR" sz="1200" dirty="0"/>
              <a:t>01_AGRICULT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농산물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),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" altLang="ko-KR" sz="1200" dirty="0"/>
              <a:t>03_OIL</a:t>
            </a:r>
            <a:r>
              <a:rPr lang="en-US" altLang="ko-KR" sz="1200" dirty="0"/>
              <a:t>(</a:t>
            </a:r>
            <a:r>
              <a:rPr lang="ko-KR" altLang="en-US" sz="1200" dirty="0"/>
              <a:t>석유</a:t>
            </a:r>
            <a:r>
              <a:rPr lang="en-US" altLang="ko-KR" sz="1200" dirty="0"/>
              <a:t>)</a:t>
            </a:r>
            <a:r>
              <a:rPr lang="ko-KR" altLang="en-US" sz="1200" dirty="0"/>
              <a:t>등 </a:t>
            </a:r>
            <a:endParaRPr lang="en-US" altLang="ko-KR" sz="1200" dirty="0"/>
          </a:p>
          <a:p>
            <a:pPr algn="ctr"/>
            <a:r>
              <a:rPr lang="ko-KR" altLang="en-US" sz="1200" b="1" dirty="0" err="1"/>
              <a:t>필수재</a:t>
            </a:r>
            <a:r>
              <a:rPr lang="ko-KR" altLang="en-US" sz="1200" b="1" dirty="0"/>
              <a:t> 낮은 소비비중 유지 </a:t>
            </a:r>
            <a:endParaRPr lang="en-US" altLang="ko-KR" sz="1200" b="1" dirty="0"/>
          </a:p>
          <a:p>
            <a:pPr marL="171450" indent="-171450" algn="ctr">
              <a:buFont typeface="Wingdings" pitchFamily="2" charset="2"/>
              <a:buChar char="ü"/>
            </a:pPr>
            <a:r>
              <a:rPr lang="en" altLang="ko-KR" sz="1200" dirty="0"/>
              <a:t>AIDADS </a:t>
            </a:r>
            <a:r>
              <a:rPr lang="ko-KR" altLang="en-US" sz="1200" dirty="0"/>
              <a:t>기준상 상한선에 근접한 구조</a:t>
            </a:r>
            <a:r>
              <a:rPr lang="en-US" altLang="ko-KR" sz="1200" dirty="0"/>
              <a:t>(</a:t>
            </a:r>
            <a:r>
              <a:rPr lang="ko-KR" altLang="en-US" sz="1200" dirty="0"/>
              <a:t>서비스 소비 비중이 </a:t>
            </a:r>
            <a:r>
              <a:rPr lang="en-US" altLang="ko-KR" sz="1200" dirty="0"/>
              <a:t>70~80% </a:t>
            </a:r>
            <a:r>
              <a:rPr lang="ko-KR" altLang="en-US" sz="1200" dirty="0"/>
              <a:t>이상</a:t>
            </a:r>
            <a:r>
              <a:rPr lang="en-US" altLang="ko-KR" sz="1200" dirty="0"/>
              <a:t>)</a:t>
            </a:r>
          </a:p>
          <a:p>
            <a:pPr algn="ctr"/>
            <a:r>
              <a:rPr lang="ko-KR" altLang="en-US" sz="1200" dirty="0"/>
              <a:t>→</a:t>
            </a:r>
            <a:r>
              <a:rPr lang="ko-KR" altLang="en-US" sz="1200" b="1" dirty="0"/>
              <a:t>내적 정합성 부합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3881916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6AD5F-1410-1FA5-B006-CB2B6E7CD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D62EE6D7-946E-9003-23D5-2CF3961E9BB4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C9573AD-DFB6-E4CA-1244-4CD2F9288835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68180CF-20A1-9EB9-EC66-1284FD7457ED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D2CD3BB-3FA7-54CC-2BB2-44DFEC646FC1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83D8041-3EFB-44D1-C1F7-1A8E188AE77C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D7162BC2-5381-BBC4-170B-35A6AE8EC6F1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00B16474-AE69-5C2A-03D0-C2087325EC14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92A9F4A-CC31-2741-5DD4-9DC04B0258B0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내적 정합성 검증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_(2)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소비구조 변화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096A0E-1326-65BF-560A-C80E8D6B0EC2}"/>
              </a:ext>
            </a:extLst>
          </p:cNvPr>
          <p:cNvSpPr txBox="1"/>
          <p:nvPr/>
        </p:nvSpPr>
        <p:spPr>
          <a:xfrm>
            <a:off x="6523658" y="5350984"/>
            <a:ext cx="5186688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200" dirty="0"/>
              <a:t>2050</a:t>
            </a:r>
            <a:r>
              <a:rPr lang="ko-KR" altLang="en-US" sz="1200" dirty="0"/>
              <a:t>년의 총 최종소비 규모는 </a:t>
            </a:r>
            <a:r>
              <a:rPr lang="en-US" altLang="ko-KR" sz="1200" dirty="0"/>
              <a:t>2019</a:t>
            </a:r>
            <a:r>
              <a:rPr lang="ko-KR" altLang="en-US" sz="1200" dirty="0"/>
              <a:t>년과 유사한 수준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농업</a:t>
            </a:r>
            <a:r>
              <a:rPr lang="en-US" altLang="ko-KR" sz="1200" dirty="0"/>
              <a:t>, </a:t>
            </a:r>
            <a:r>
              <a:rPr lang="ko-KR" altLang="en-US" sz="1200" dirty="0"/>
              <a:t>식품가공</a:t>
            </a:r>
            <a:r>
              <a:rPr lang="en-US" altLang="ko-KR" sz="1200" dirty="0"/>
              <a:t>, </a:t>
            </a:r>
            <a:r>
              <a:rPr lang="ko-KR" altLang="en-US" sz="1200" dirty="0"/>
              <a:t>광업 등 </a:t>
            </a:r>
            <a:r>
              <a:rPr lang="en-US" altLang="ko-KR" sz="1200" b="1" dirty="0"/>
              <a:t>1</a:t>
            </a:r>
            <a:r>
              <a:rPr lang="ko-KR" altLang="en-US" sz="1200" b="1" dirty="0" err="1"/>
              <a:t>차재</a:t>
            </a:r>
            <a:r>
              <a:rPr lang="ko-KR" altLang="en-US" sz="1200" b="1" dirty="0"/>
              <a:t> 중심 구조가 강하게 유지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b="1" dirty="0"/>
              <a:t>서비스 소비 비중의 변화가 전혀 나타나지 않음</a:t>
            </a:r>
            <a:endParaRPr lang="en-US" altLang="ko-KR" sz="1200" b="1" dirty="0"/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전체 구조의 변화도 미미</a:t>
            </a:r>
          </a:p>
          <a:p>
            <a:pPr algn="ctr"/>
            <a:r>
              <a:rPr lang="ko-KR" altLang="en-US" sz="1200" b="1" dirty="0"/>
              <a:t>→</a:t>
            </a:r>
            <a:r>
              <a:rPr lang="en" altLang="ko-KR" sz="1200" dirty="0"/>
              <a:t>AIDADS </a:t>
            </a:r>
            <a:r>
              <a:rPr lang="ko-KR" altLang="en-US" sz="1200" dirty="0"/>
              <a:t>기반 </a:t>
            </a:r>
            <a:r>
              <a:rPr lang="ko-KR" altLang="en-US" sz="1200" b="1" dirty="0"/>
              <a:t>소득탄력적 소비 구조 변화</a:t>
            </a:r>
            <a:r>
              <a:rPr lang="en-US" altLang="ko-KR" sz="1200" b="1" dirty="0"/>
              <a:t>(</a:t>
            </a:r>
            <a:r>
              <a:rPr lang="en" altLang="ko-KR" sz="1200" b="1" dirty="0"/>
              <a:t>Engel curve)</a:t>
            </a:r>
            <a:r>
              <a:rPr lang="ko-KR" altLang="en-US" sz="1200" b="1" dirty="0"/>
              <a:t>와 크게 불일치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19ABE7-865C-55CB-73F8-FF6ECCC2D16D}"/>
              </a:ext>
            </a:extLst>
          </p:cNvPr>
          <p:cNvSpPr txBox="1"/>
          <p:nvPr/>
        </p:nvSpPr>
        <p:spPr>
          <a:xfrm>
            <a:off x="494901" y="5350985"/>
            <a:ext cx="547138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총 최종소비 </a:t>
            </a:r>
            <a:r>
              <a:rPr lang="en-US" altLang="ko-KR" sz="1200" dirty="0"/>
              <a:t>2019</a:t>
            </a:r>
            <a:r>
              <a:rPr lang="ko-KR" altLang="en-US" sz="1200" dirty="0"/>
              <a:t>년 대비 약 </a:t>
            </a:r>
            <a:r>
              <a:rPr lang="en-US" altLang="ko-KR" sz="1200" dirty="0"/>
              <a:t>2.5</a:t>
            </a:r>
            <a:r>
              <a:rPr lang="ko-KR" altLang="en-US" sz="1200" dirty="0"/>
              <a:t>배 이상 증가</a:t>
            </a:r>
            <a:endParaRPr lang="ko-KR" altLang="en-US" sz="1200" b="1" dirty="0"/>
          </a:p>
          <a:p>
            <a:pPr marL="171450" indent="-171450" algn="ctr">
              <a:buFont typeface="Wingdings" pitchFamily="2" charset="2"/>
              <a:buChar char="ü"/>
            </a:pPr>
            <a:r>
              <a:rPr lang="en" altLang="ko-KR" sz="1200" dirty="0"/>
              <a:t>06_FOODPRO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식품가공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),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" altLang="ko-KR" sz="1200" dirty="0"/>
              <a:t>03_OIL</a:t>
            </a:r>
            <a:r>
              <a:rPr lang="en-US" altLang="ko-KR" sz="1200" dirty="0"/>
              <a:t>(</a:t>
            </a:r>
            <a:r>
              <a:rPr lang="ko-KR" altLang="en-US" sz="1200" dirty="0"/>
              <a:t>석유</a:t>
            </a:r>
            <a:r>
              <a:rPr lang="en-US" altLang="ko-KR" sz="1200" dirty="0"/>
              <a:t>)</a:t>
            </a:r>
            <a:r>
              <a:rPr lang="ko-KR" altLang="en-US" sz="1200" dirty="0"/>
              <a:t>의 절대 비중 확대 </a:t>
            </a:r>
            <a:endParaRPr lang="en-US" altLang="ko-KR" sz="1200" dirty="0"/>
          </a:p>
          <a:p>
            <a:pPr algn="ctr"/>
            <a:r>
              <a:rPr lang="ko-KR" altLang="en-US" sz="1200" b="1" dirty="0"/>
              <a:t>→식품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에너지</a:t>
            </a:r>
            <a:r>
              <a:rPr lang="en-US" altLang="ko-KR" sz="1200" b="1" dirty="0"/>
              <a:t>·1</a:t>
            </a:r>
            <a:r>
              <a:rPr lang="ko-KR" altLang="en-US" sz="1200" b="1" dirty="0" err="1"/>
              <a:t>차재</a:t>
            </a:r>
            <a:r>
              <a:rPr lang="ko-KR" altLang="en-US" sz="1200" b="1" dirty="0"/>
              <a:t> 중심의 소비구조를 유지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서비스 소비 비중이 확대되지 않음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pPr algn="ctr"/>
            <a:r>
              <a:rPr lang="ko-KR" altLang="en-US" sz="1200" dirty="0"/>
              <a:t>→</a:t>
            </a:r>
            <a:r>
              <a:rPr lang="ko-KR" altLang="en-US" sz="1200" b="1" dirty="0"/>
              <a:t>소득 증가에 따른 </a:t>
            </a:r>
            <a:r>
              <a:rPr lang="en" altLang="ko-KR" sz="1200" dirty="0"/>
              <a:t>AIDADS </a:t>
            </a:r>
            <a:r>
              <a:rPr lang="ko-KR" altLang="en-US" sz="1200" dirty="0"/>
              <a:t>기반 예측과는 다른 결과</a:t>
            </a:r>
            <a:endParaRPr lang="en-US" altLang="ko-KR" sz="12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FFA5697-BA39-7F8F-CCB3-8C5976E9E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155" y="1711118"/>
            <a:ext cx="4336083" cy="3350123"/>
          </a:xfrm>
          <a:prstGeom prst="rect">
            <a:avLst/>
          </a:prstGeom>
        </p:spPr>
      </p:pic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6C9197DA-5005-8C1E-F21D-4803E4399780}"/>
              </a:ext>
            </a:extLst>
          </p:cNvPr>
          <p:cNvSpPr/>
          <p:nvPr/>
        </p:nvSpPr>
        <p:spPr>
          <a:xfrm>
            <a:off x="2534851" y="1538244"/>
            <a:ext cx="1850382" cy="40011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05_</a:t>
            </a:r>
            <a:r>
              <a:rPr kumimoji="1" lang="ko-KR" altLang="en-US" sz="1400" b="1" dirty="0"/>
              <a:t>몽골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05D567-E40A-F587-A3B0-6C56504F4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960" y="1696150"/>
            <a:ext cx="4336084" cy="3350123"/>
          </a:xfrm>
          <a:prstGeom prst="rect">
            <a:avLst/>
          </a:prstGeom>
        </p:spPr>
      </p:pic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1E34EFD3-FA3D-C01C-BB02-821E7566C421}"/>
              </a:ext>
            </a:extLst>
          </p:cNvPr>
          <p:cNvSpPr/>
          <p:nvPr/>
        </p:nvSpPr>
        <p:spPr>
          <a:xfrm>
            <a:off x="8208294" y="1492741"/>
            <a:ext cx="1850382" cy="40011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06_</a:t>
            </a:r>
            <a:r>
              <a:rPr kumimoji="1" lang="ko-KR" altLang="en-US" sz="1400" b="1" dirty="0"/>
              <a:t>북한</a:t>
            </a:r>
          </a:p>
        </p:txBody>
      </p:sp>
    </p:spTree>
    <p:extLst>
      <p:ext uri="{BB962C8B-B14F-4D97-AF65-F5344CB8AC3E}">
        <p14:creationId xmlns:p14="http://schemas.microsoft.com/office/powerpoint/2010/main" val="290303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52EC5-B053-781A-CA31-84B68B116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B6B5536C-7A81-529E-FE09-85FE3E17263B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86F415-81B4-CF50-773E-B52C9EFC02C8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02F924-3965-22B6-0CE7-C6C179E78BF2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 </a:t>
              </a:r>
              <a:r>
                <a:rPr lang="ko-KR" altLang="en-US" sz="2800" b="1" spc="-150" dirty="0">
                  <a:latin typeface="+mn-ea"/>
                </a:rPr>
                <a:t>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0F62660-E475-5F57-1C3E-7D864445343E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E63FE22-A12E-6246-0509-D634C8E054DF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1813C210-09D3-6D07-9297-6EA3B2796715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70A762-54AD-ECE5-4E69-DC5D954436AB}"/>
              </a:ext>
            </a:extLst>
          </p:cNvPr>
          <p:cNvGrpSpPr/>
          <p:nvPr/>
        </p:nvGrpSpPr>
        <p:grpSpPr>
          <a:xfrm>
            <a:off x="407373" y="1087242"/>
            <a:ext cx="9888962" cy="400110"/>
            <a:chOff x="456760" y="946438"/>
            <a:chExt cx="9888962" cy="40011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B9837A3-1E38-7958-35E4-8CB4BDCA5497}"/>
                </a:ext>
              </a:extLst>
            </p:cNvPr>
            <p:cNvSpPr/>
            <p:nvPr/>
          </p:nvSpPr>
          <p:spPr>
            <a:xfrm>
              <a:off x="611559" y="946438"/>
              <a:ext cx="9734163" cy="400110"/>
            </a:xfrm>
            <a:prstGeom prst="rect">
              <a:avLst/>
            </a:prstGeom>
          </p:spPr>
          <p:txBody>
            <a:bodyPr wrap="square" anchor="ctr" anchorCtr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0" cap="none" spc="-150" normalizeH="0" baseline="0" noProof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6</a:t>
              </a:r>
              <a:r>
                <a:rPr lang="ko-KR" altLang="en-US" sz="2000" b="1" kern="0" spc="-1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월 연구 진행 방안</a:t>
              </a:r>
              <a:endParaRPr kumimoji="0" lang="ko-KR" altLang="en-US" sz="1400" b="1" i="0" u="none" strike="noStrike" kern="0" cap="none" spc="-1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1F497D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27">
              <a:extLst>
                <a:ext uri="{FF2B5EF4-FFF2-40B4-BE49-F238E27FC236}">
                  <a16:creationId xmlns:a16="http://schemas.microsoft.com/office/drawing/2014/main" id="{D996B5A5-108D-2A5E-40F5-22D0E3C57C84}"/>
                </a:ext>
              </a:extLst>
            </p:cNvPr>
            <p:cNvSpPr/>
            <p:nvPr/>
          </p:nvSpPr>
          <p:spPr>
            <a:xfrm>
              <a:off x="456760" y="1024183"/>
              <a:ext cx="80901" cy="313200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192AB8-F72F-E410-30CC-873BF5A24B17}"/>
              </a:ext>
            </a:extLst>
          </p:cNvPr>
          <p:cNvSpPr txBox="1">
            <a:spLocks/>
          </p:cNvSpPr>
          <p:nvPr/>
        </p:nvSpPr>
        <p:spPr bwMode="auto">
          <a:xfrm>
            <a:off x="447823" y="5582229"/>
            <a:ext cx="11555900" cy="790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7200" indent="-4572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1800" b="1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4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57200">
              <a:lnSpc>
                <a:spcPct val="150000"/>
              </a:lnSpc>
              <a:buNone/>
              <a:defRPr/>
            </a:pPr>
            <a:r>
              <a:rPr lang="en-US" altLang="ko-KR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월 연구에서는</a:t>
            </a:r>
            <a:r>
              <a:rPr lang="en-US" altLang="ko-KR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소비 저축 구조 변화여부 점검 및 산업별 부가가치 크기 검증을 거쳐 내적 정합성 검증 추가 진행</a:t>
            </a:r>
            <a:r>
              <a:rPr lang="en-US" altLang="ko-KR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500" i="1" kern="0" spc="-15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 defTabSz="457200">
              <a:lnSpc>
                <a:spcPct val="150000"/>
              </a:lnSpc>
              <a:buNone/>
              <a:defRPr/>
            </a:pPr>
            <a:r>
              <a:rPr lang="ko-KR" altLang="en-US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월례회 내 추가 의견 반영하여 내적 정합성 부문 보완 진행 </a:t>
            </a:r>
            <a:endParaRPr lang="en-US" altLang="ko-KR" sz="1500" i="1" kern="0" spc="-15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B80BA39-BC33-14C6-36B5-5D9CD2B6D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039650"/>
              </p:ext>
            </p:extLst>
          </p:nvPr>
        </p:nvGraphicFramePr>
        <p:xfrm>
          <a:off x="280800" y="1957773"/>
          <a:ext cx="11745118" cy="3309255"/>
        </p:xfrm>
        <a:graphic>
          <a:graphicData uri="http://schemas.openxmlformats.org/drawingml/2006/table">
            <a:tbl>
              <a:tblPr/>
              <a:tblGrid>
                <a:gridCol w="2626083">
                  <a:extLst>
                    <a:ext uri="{9D8B030D-6E8A-4147-A177-3AD203B41FA5}">
                      <a16:colId xmlns:a16="http://schemas.microsoft.com/office/drawing/2014/main" val="1706116315"/>
                    </a:ext>
                  </a:extLst>
                </a:gridCol>
                <a:gridCol w="1475112">
                  <a:extLst>
                    <a:ext uri="{9D8B030D-6E8A-4147-A177-3AD203B41FA5}">
                      <a16:colId xmlns:a16="http://schemas.microsoft.com/office/drawing/2014/main" val="3287463926"/>
                    </a:ext>
                  </a:extLst>
                </a:gridCol>
                <a:gridCol w="2173184">
                  <a:extLst>
                    <a:ext uri="{9D8B030D-6E8A-4147-A177-3AD203B41FA5}">
                      <a16:colId xmlns:a16="http://schemas.microsoft.com/office/drawing/2014/main" val="1069079506"/>
                    </a:ext>
                  </a:extLst>
                </a:gridCol>
                <a:gridCol w="5470739">
                  <a:extLst>
                    <a:ext uri="{9D8B030D-6E8A-4147-A177-3AD203B41FA5}">
                      <a16:colId xmlns:a16="http://schemas.microsoft.com/office/drawing/2014/main" val="1195805325"/>
                    </a:ext>
                  </a:extLst>
                </a:gridCol>
              </a:tblGrid>
              <a:tr h="32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문헌 </a:t>
                      </a:r>
                      <a:r>
                        <a:rPr lang="en-US" altLang="ko-KR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/ </a:t>
                      </a:r>
                      <a:r>
                        <a:rPr lang="ko-KR" altLang="en-US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모델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검증 유형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주요 검증 항목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AQ Linkage validation </a:t>
                      </a:r>
                      <a:r>
                        <a:rPr lang="ko-KR" altLang="en-US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적용 예시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32768"/>
                  </a:ext>
                </a:extLst>
              </a:tr>
              <a:tr h="87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① 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국가 온실가스 인벤토리 보고서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내적 정합성 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</a:t>
                      </a:r>
                      <a:r>
                        <a:rPr lang="en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QA/QC)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활동자료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·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배출계수 검증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단위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·</a:t>
                      </a:r>
                      <a:r>
                        <a:rPr lang="ko-KR" altLang="en-US" sz="1200" b="1" i="0" dirty="0" err="1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산정식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오류 점검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내부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/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외부 전문가 검토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Emissions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변수와 실제 배출통계 비교</a:t>
                      </a:r>
                      <a:endParaRPr lang="en-US" altLang="ko-KR" sz="14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QC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체크리스트 작성</a:t>
                      </a:r>
                      <a:endParaRPr lang="en-US" altLang="ko-KR" sz="14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(EX) </a:t>
                      </a:r>
                      <a:r>
                        <a:rPr lang="en" altLang="ko-KR" sz="1200" dirty="0"/>
                        <a:t>CO2 (</a:t>
                      </a:r>
                      <a:r>
                        <a:rPr lang="ko-KR" altLang="en-US" sz="1200" dirty="0"/>
                        <a:t>전체 및 부문별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와 국가 인벤토리 수치</a:t>
                      </a:r>
                      <a:r>
                        <a:rPr lang="en-US" altLang="ko-KR" sz="1200" dirty="0"/>
                        <a:t>(2019–2020) </a:t>
                      </a:r>
                      <a:r>
                        <a:rPr lang="ko-KR" altLang="en-US" sz="1200" dirty="0"/>
                        <a:t>직접 비교</a:t>
                      </a:r>
                      <a:endParaRPr lang="en-US" altLang="ko-KR" sz="12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dirty="0"/>
                        <a:t>단위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환산 후 오차율 계산</a:t>
                      </a:r>
                      <a:endParaRPr lang="en-US" altLang="ko-KR" sz="12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" altLang="ko-KR" sz="1200" dirty="0"/>
                        <a:t>GDP </a:t>
                      </a:r>
                      <a:r>
                        <a:rPr lang="ko-KR" altLang="en-US" sz="1200" dirty="0"/>
                        <a:t>대비 배출량</a:t>
                      </a:r>
                      <a:r>
                        <a:rPr lang="en-US" altLang="ko-KR" sz="1200" dirty="0"/>
                        <a:t>(</a:t>
                      </a:r>
                      <a:r>
                        <a:rPr lang="en" altLang="ko-KR" sz="1200" dirty="0"/>
                        <a:t>GHG intensity) </a:t>
                      </a:r>
                      <a:r>
                        <a:rPr lang="ko-KR" altLang="en-US" sz="1200" dirty="0"/>
                        <a:t>계산</a:t>
                      </a:r>
                      <a:endParaRPr lang="en-US" altLang="ko-KR" sz="12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dirty="0"/>
                        <a:t>계산식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단위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부호</a:t>
                      </a:r>
                      <a:r>
                        <a:rPr lang="en-US" altLang="ko-KR" sz="1200" dirty="0"/>
                        <a:t>(±) </a:t>
                      </a:r>
                      <a:r>
                        <a:rPr lang="ko-KR" altLang="en-US" sz="1200" dirty="0"/>
                        <a:t>오류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914227"/>
                  </a:ext>
                </a:extLst>
              </a:tr>
              <a:tr h="87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 i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② Britz &amp; Roson (2019, G-RDEM)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내적 정합성 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구조 기반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산업구조 변화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소비패턴 변화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소비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/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저축구조 변화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I-O 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구조 변화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Value added</a:t>
                      </a:r>
                      <a:r>
                        <a:rPr lang="en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비중 시계열 분석</a:t>
                      </a:r>
                      <a:endParaRPr lang="en-US" altLang="ko-KR" sz="14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" altLang="ko-KR" sz="1200" b="1" dirty="0"/>
                        <a:t>(EX) </a:t>
                      </a:r>
                      <a:r>
                        <a:rPr lang="en" altLang="ko-KR" sz="1200" dirty="0"/>
                        <a:t>Agriculture, Industry, Services → GDP </a:t>
                      </a:r>
                      <a:r>
                        <a:rPr lang="ko-KR" altLang="en-US" sz="1200" dirty="0"/>
                        <a:t>대비 비중 시계열화 </a:t>
                      </a:r>
                      <a:r>
                        <a:rPr lang="en-US" altLang="ko-KR" sz="1200" dirty="0"/>
                        <a:t>(2019~2050)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dirty="0"/>
                        <a:t>소비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저축 구조 변화 여부 점검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소득 증가 → 서비스 소비 비중↑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178397"/>
                  </a:ext>
                </a:extLst>
              </a:tr>
              <a:tr h="878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③ Dixon &amp; Rimmer (2009)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외적 정합성 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실측 비교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순수 예측 </a:t>
                      </a:r>
                      <a:r>
                        <a:rPr lang="en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vs. 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통계 비교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AE / M 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지표 계산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변수별 오차 추적 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" altLang="ko-KR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GDP, Population, VA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등 주요 변수에 대해 </a:t>
                      </a:r>
                      <a:r>
                        <a:rPr lang="en-US" altLang="ko-KR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2019–2020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실제 통계와 오차율</a:t>
                      </a:r>
                      <a:r>
                        <a:rPr lang="en-US" altLang="ko-KR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(%)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계산</a:t>
                      </a:r>
                      <a:endParaRPr lang="en-US" altLang="ko-KR" sz="14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(EX) 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과거 추세 </a:t>
                      </a:r>
                      <a:r>
                        <a:rPr lang="ko-KR" altLang="en-US" sz="1200" b="0" i="0" dirty="0" err="1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외삽</a:t>
                      </a: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(2010~2018 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평균</a:t>
                      </a: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)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과 모델 예측치 비교 → </a:t>
                      </a:r>
                      <a:r>
                        <a:rPr lang="en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M 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계산</a:t>
                      </a:r>
                      <a:endParaRPr lang="en-US" altLang="ko-KR" sz="1200" b="0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외생 변수</a:t>
                      </a: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예</a:t>
                      </a: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: 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인구</a:t>
                      </a: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, </a:t>
                      </a:r>
                      <a:r>
                        <a:rPr lang="en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TFP)</a:t>
                      </a:r>
                      <a:r>
                        <a:rPr lang="ko-KR" altLang="en-US" sz="1200" b="0" i="0" dirty="0" err="1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를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altLang="en-US" sz="1200" b="0" i="0" dirty="0" err="1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실제값으로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교체하여 결과 민감도 확인</a:t>
                      </a:r>
                      <a:endParaRPr lang="en-US" altLang="ko-KR" sz="1200" b="0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459511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E0E52E3C-BDC9-7DF9-EC2D-B0F3E6A5F37C}"/>
              </a:ext>
            </a:extLst>
          </p:cNvPr>
          <p:cNvSpPr/>
          <p:nvPr/>
        </p:nvSpPr>
        <p:spPr>
          <a:xfrm flipV="1">
            <a:off x="296782" y="3499941"/>
            <a:ext cx="11777082" cy="935421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FEB666F-90A1-43A1-3EB3-0E4781C07E39}"/>
              </a:ext>
            </a:extLst>
          </p:cNvPr>
          <p:cNvSpPr/>
          <p:nvPr/>
        </p:nvSpPr>
        <p:spPr>
          <a:xfrm>
            <a:off x="4383804" y="3967651"/>
            <a:ext cx="2174982" cy="115614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88E8C3-334A-0F6B-8DF7-77D685842551}"/>
              </a:ext>
            </a:extLst>
          </p:cNvPr>
          <p:cNvSpPr/>
          <p:nvPr/>
        </p:nvSpPr>
        <p:spPr>
          <a:xfrm>
            <a:off x="6558786" y="4170061"/>
            <a:ext cx="5483114" cy="82046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93704652"/>
      </p:ext>
    </p:extLst>
  </p:cSld>
  <p:clrMapOvr>
    <a:masterClrMapping/>
  </p:clrMapOvr>
</p:sld>
</file>

<file path=ppt/theme/theme1.xml><?xml version="1.0" encoding="utf-8"?>
<a:theme xmlns:a="http://schemas.openxmlformats.org/drawingml/2006/main" name="GUIDE_국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UIDE_영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0D053D10722644188575BD2C78AF005" ma:contentTypeVersion="16" ma:contentTypeDescription="새 문서를 만듭니다." ma:contentTypeScope="" ma:versionID="c9529d07e5af284fedacb9d1258482c7">
  <xsd:schema xmlns:xsd="http://www.w3.org/2001/XMLSchema" xmlns:xs="http://www.w3.org/2001/XMLSchema" xmlns:p="http://schemas.microsoft.com/office/2006/metadata/properties" xmlns:ns3="5bcc02bb-509a-425a-b41f-7dc2c5cd7755" xmlns:ns4="252bf9ee-d2f4-4a1e-9c28-929a2dfbc213" targetNamespace="http://schemas.microsoft.com/office/2006/metadata/properties" ma:root="true" ma:fieldsID="bb00bcfd29a48aaaaa3cce92a6d1829a" ns3:_="" ns4:_="">
    <xsd:import namespace="5bcc02bb-509a-425a-b41f-7dc2c5cd7755"/>
    <xsd:import namespace="252bf9ee-d2f4-4a1e-9c28-929a2dfbc21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cc02bb-509a-425a-b41f-7dc2c5cd77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2bf9ee-d2f4-4a1e-9c28-929a2dfbc21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힌트 해시 공유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bcc02bb-509a-425a-b41f-7dc2c5cd7755" xsi:nil="true"/>
  </documentManagement>
</p:properties>
</file>

<file path=customXml/itemProps1.xml><?xml version="1.0" encoding="utf-8"?>
<ds:datastoreItem xmlns:ds="http://schemas.openxmlformats.org/officeDocument/2006/customXml" ds:itemID="{B91D3DFC-3009-466B-9B79-683949CA2BB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56DC51-5717-4C38-B98E-3306631306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cc02bb-509a-425a-b41f-7dc2c5cd7755"/>
    <ds:schemaRef ds:uri="252bf9ee-d2f4-4a1e-9c28-929a2dfbc2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2EBBC4-9355-4057-9D3D-A638392C9843}">
  <ds:schemaRefs>
    <ds:schemaRef ds:uri="http://schemas.microsoft.com/office/2006/metadata/properties"/>
    <ds:schemaRef ds:uri="http://schemas.microsoft.com/office/infopath/2007/PartnerControls"/>
    <ds:schemaRef ds:uri="5bcc02bb-509a-425a-b41f-7dc2c5cd775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6892</TotalTime>
  <Words>1758</Words>
  <Application>Microsoft Macintosh PowerPoint</Application>
  <PresentationFormat>와이드스크린</PresentationFormat>
  <Paragraphs>224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나눔고딕</vt:lpstr>
      <vt:lpstr>Malgun Gothic</vt:lpstr>
      <vt:lpstr>Malgun Gothic</vt:lpstr>
      <vt:lpstr>NanumBarunGothicOTF</vt:lpstr>
      <vt:lpstr>Arial</vt:lpstr>
      <vt:lpstr>Wingdings</vt:lpstr>
      <vt:lpstr>GUIDE_국문</vt:lpstr>
      <vt:lpstr>GUIDE_영문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KSS</dc:creator>
  <cp:lastModifiedBy>이한결</cp:lastModifiedBy>
  <cp:revision>326</cp:revision>
  <dcterms:created xsi:type="dcterms:W3CDTF">2018-07-09T07:43:46Z</dcterms:created>
  <dcterms:modified xsi:type="dcterms:W3CDTF">2025-05-21T07:27:11Z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0x01010050D053D10722644188575BD2C78AF005</vt:lpwstr>
  </property>
</Properties>
</file>